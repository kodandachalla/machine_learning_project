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C6B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884-4523-A4ED-A74900DF8A3C}"/>
              </c:ext>
            </c:extLst>
          </c:dPt>
          <c:dPt>
            <c:idx val="1"/>
            <c:invertIfNegative val="0"/>
            <c:bubble3D val="0"/>
            <c:spPr>
              <a:solidFill>
                <a:srgbClr val="FACC1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84-4523-A4ED-A74900DF8A3C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84-4523-A4ED-A74900DF8A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Classical ML
(SVM)</c:v>
                </c:pt>
                <c:pt idx="1">
                  <c:v>CNN</c:v>
                </c:pt>
                <c:pt idx="2">
                  <c:v>Transfer Learning
(ResNet50)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90.56</c:v>
                </c:pt>
                <c:pt idx="1">
                  <c:v>81.87</c:v>
                </c:pt>
                <c:pt idx="2">
                  <c:v>89.81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84-4523-A4ED-A74900DF8A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75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733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· Title (~1 min)
Open with: 'Brain tumors are life-threatening and early, accurate diagnosis is critical. Today I'll walk you through three machine learning approaches I built and compared for classifying brain tumors from MRI scans — moving from classical methods all the way to deep transfer learning.'
Briefly mention the three parts and that you'll compare their accuracy and explainability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· Agenda (~1 min)
Briefly show the roadmap. Say: 'We have 15 minutes, so here's the plan — problem and data first, then three progressive approaches, followed by a head-to-head comparison and key conclusions.'
Don't read every item — just gesture to the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· Problem (~1.5 min)
Explain the clinical context: radiologists must classify brain tumors into one of four categories — each requiring a very different treatment pathway. Manual reading is slow and variable.
Emphasise this is a 4-class image classification problem — not binary. That makes it harder.
Quickly read off the four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· Dataset &amp; Preprocessing (~1 min)
Mention the dataset is well-balanced — important because imbalanced classes would bias the classifier.
Walk through the pipeline quickly: load → convert → resize → normalize → extract features → reduce with PCA.
Highlight the PCA result: we compressed 8,106 dimensions down to 1,622 while retaining 95% of the variance — a 5× reduction that speeds up training significantly.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· Feature Extraction (~1 min)
Explain the intuition: before deep learning, we had to manually engineer features that tell the model what to look at.
HOG answers: 'What shape is this?' — it detects edges and gradients, useful for finding tumor boundaries.
GLCM answers: 'What texture is this?' — tumor tissue has different intensity patterns from healthy tissue.
Together, HOG + GLCM give us both shape and texture — a strong combined feature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· Classical ML Results (~1.5 min)
Explain GridSearchCV: instead of guessing hyperparameters, we systematically tested 30, 60, and 216 combinations respectively.
SVM wins convincingly at 90.56%. Why? It finds the optimal decision boundary in high-dimensional feature space — exactly what our PCA-reduced HOG+GLCM vector looks like.
Key transition: despite good accuracy, classical ML requires manual feature selection. What if we could let the model learn its own features? That's where CNNs come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· CNN Architecture (~1.5 min)
Contrast with Part 1: no feature engineering needed. The network learns what to look for.
Walk through the layers briefly — the key idea is hierarchical feature learning: early layers detect edges, middle layers detect shapes, late layers detect complex patterns like tumor morphology.
Mention the config: 224×224 images, Adam optimiser, 15 epochs with early stopping to avoid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· CNN Results + Grad-CAM (~1.5 min)
Accuracy dipped to 81.87% vs classical ML's 90.56% — explain why: CNN needs more data and takes longer to train. Our dataset is relatively small.
But the big win is Grad-CAM: we can now visualise what the network is 'looking at'. Show that red hotspots align with actual tumor regions — this is critical for clinician trust.
Transition: 'So CNN gave us interpretability but lower accuracy. Can we get both? Yes — by using a pre-trained network in Part 3.'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· ResNet50 (~1.5 min)
Key intuition: ResNet50 was trained on 1.2 million general images. The features it learned — edges, textures, shapes — transfer remarkably well to medical MRI.
We freeze the base (keep ImageNet weights), add a custom classification head, and train only the head. This is fast and requires far less data.
Mention skip connections (residual connections) — the innovation that lets ResNet train very deep networks without vanishing gradients.
Result: 89.81% — much better than CNN, close to classical ML but with far less feature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· LIME (~1 min)
LIME's key innovation: it is model-agnostic. While Grad-CAM is tied to CNNs, LIME works on any model — our SVM, our ResNet50, any future model.
The approach: locally approximate the black-box model with a simple linear model. By perturbing the input (masking image regions), we see which superpixels the model cares about.
For doctors: LIME can say 'the model focused on this specific region when predicting Glioma' — and that explanation is in human-understandable superpixel terms, not raw gradient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· Comparative Analysis (~1.5 min)
This is the key slide — bring it all together.
The chart tells the story: Classical ML (SVM) wins on raw accuracy at 90.56%, Transfer Learning (ResNet50) is close at 89.81%, and CNN sits at 81.87%.
But accuracy isn't the only dimension — read the table:
• Classical ML needs manual feature engineering but is fast and interpretable
• CNN learns features automatically but needs large data and is a black box (partially opened with Grad-CAM)
• Transfer Learning gets the best of both worlds: accuracy, speed, and LIME explainability
For a real medical deployment, the answer is almost always Transfer Learning + LIME.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· Conclusions (~1 min)
Summarise the three-part journey:
1. Classical ML showed us that handcrafted features + SVM are a strong, interpretable baseline
2. CNN automated feature learning and gave us visual explainability via Grad-CAM
3. Transfer Learning (ResNet50) delivered accuracy + efficiency + LIME explainability — the best all-rounder
For future work: 3D MRI volumes have more spatial information, Vision Transformers are the new frontier, and real-world deployment requires clinical validation.
Close with: 'The core lesson is that explainability and accuracy don't have to be a trade-off — Transfer Learning + LIME gives us both.'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· Thank You (~0.5 min)
Leave the three accuracy numbers on screen during Q&amp;A — they anchor the discussion.
Anticipated questions:
• Why did classical ML beat CNN? → Small dataset; CNN needs more data to shine
• Why not use all three together? → Ensemble is possible future work
• How would you deploy this clinically? → Needs clinical validation, regulatory approval, radiologist-in-the-loop design
• What about 3D MRI? → Mentioned in future work; much more data-hungry but more informative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>
            <a:extLst>
              <a:ext uri="{FF2B5EF4-FFF2-40B4-BE49-F238E27FC236}">
                <a16:creationId xmlns:a16="http://schemas.microsoft.com/office/drawing/2014/main" id="{523D8AC0-6E94-CC90-ADC3-C6D97BAD2A4D}"/>
              </a:ext>
            </a:extLst>
          </p:cNvPr>
          <p:cNvSpPr/>
          <p:nvPr userDrawn="1"/>
        </p:nvSpPr>
        <p:spPr>
          <a:xfrm>
            <a:off x="640080" y="4480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Kodanda Challa  |  Machine Learning</a:t>
            </a:r>
            <a:endParaRPr lang="en-US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F2A50">
              <a:alpha val="70000"/>
            </a:srgbClr>
          </a:solidFill>
          <a:ln w="12700">
            <a:solidFill>
              <a:srgbClr val="0F2A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0F2A50">
              <a:alpha val="50000"/>
            </a:srgbClr>
          </a:solidFill>
          <a:ln w="12700">
            <a:solidFill>
              <a:srgbClr val="0F2A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300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 TUMOR MRI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2311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Machine Learning Study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6517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2743200"/>
            <a:ext cx="26517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Grad-CAM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26517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309360" y="2743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(ResNet50)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— 15-Minute Roadmap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640080" cy="105156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9848" y="996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2893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classification challenge + dataset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4206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640080" cy="105156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0040" y="205740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69848" y="2185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24780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HOG/GLCM features · KNN · SVM · Random Forest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4206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640080" cy="105156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20040" y="32461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69848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Grad-CAM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9848" y="3666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+ visual explainability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868680"/>
            <a:ext cx="4206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00600" y="868680"/>
            <a:ext cx="640080" cy="105156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00600" y="8686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50408" y="996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50408" y="12893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LIME for model-agnostic explanations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057400"/>
            <a:ext cx="4206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800600" y="2057400"/>
            <a:ext cx="640080" cy="105156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800600" y="205740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50408" y="2185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0408" y="24780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speed, interpretability across all parts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246120"/>
            <a:ext cx="4206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800600" y="3246120"/>
            <a:ext cx="640080" cy="105156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800600" y="32461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50408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50408" y="3666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future directions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— 4-Class MRI Classification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148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54864" cy="201168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886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3840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tumors require accurate classification for effective treatment planning. Manual MRI diagnosis is time-consuming and error-prone.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and compares multiple ML pipelines for automated multiclass tumor classification.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841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CLASSIFICATION TASK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52144"/>
            <a:ext cx="41148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09160" y="1152144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64608" y="1188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399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from brain's glial cells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682496"/>
            <a:ext cx="41148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54864" cy="45720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64608" y="1719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19293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in protective brain membranes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212848"/>
            <a:ext cx="41148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09160" y="2212848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64608" y="2249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4597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with no detectable brain tumor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743200"/>
            <a:ext cx="41148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09160" y="2743200"/>
            <a:ext cx="54864" cy="4572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864608" y="27797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29900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in pituitary gland at brain's 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264408"/>
            <a:ext cx="20574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11480" y="3310128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Classical vs Deep Learning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14600" y="3264408"/>
            <a:ext cx="20574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606040" y="3310128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Explainable AI models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264408"/>
            <a:ext cx="20574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800600" y="3310128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multi-architecture accuracy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3264408"/>
            <a:ext cx="20574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995160" y="3310128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tumor-relevant image regions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Preprocessing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886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Dataset_MRI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Well-balanced class distribution across all 4 categories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Variable image sizes → all resized to 128 × 128 for consistency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Mixed colour modes (grayscale &amp; RGB) → converted to RGB then grayscale for feature extraction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14173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0040" y="21671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22128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Images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37360" y="2468880"/>
            <a:ext cx="45720" cy="0"/>
          </a:xfrm>
          <a:prstGeom prst="line">
            <a:avLst/>
          </a:prstGeom>
          <a:noFill/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783080" y="2148840"/>
            <a:ext cx="14173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783080" y="21671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56232" y="22128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→ Grayscale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2468880"/>
            <a:ext cx="45720" cy="0"/>
          </a:xfrm>
          <a:prstGeom prst="line">
            <a:avLst/>
          </a:prstGeom>
          <a:noFill/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46120" y="2148840"/>
            <a:ext cx="14173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46120" y="21671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22128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128×128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45720" cy="0"/>
          </a:xfrm>
          <a:prstGeom prst="line">
            <a:avLst/>
          </a:prstGeom>
          <a:noFill/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09160" y="2148840"/>
            <a:ext cx="14173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709160" y="21671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22128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[0,1]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468880"/>
            <a:ext cx="45720" cy="0"/>
          </a:xfrm>
          <a:prstGeom prst="line">
            <a:avLst/>
          </a:prstGeom>
          <a:noFill/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172200" y="2148840"/>
            <a:ext cx="14173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72200" y="21671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45352" y="22128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GLCM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2468880"/>
            <a:ext cx="45720" cy="0"/>
          </a:xfrm>
          <a:prstGeom prst="line">
            <a:avLst/>
          </a:prstGeom>
          <a:noFill/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635240" y="2148840"/>
            <a:ext cx="14173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635240" y="21671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08392" y="22128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PCA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2944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DIMENSIONALITY REDUCTION (95% variance retained)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218688"/>
            <a:ext cx="2057400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20040" y="32644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8,106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20040" y="3721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Dimensions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14600" y="3218688"/>
            <a:ext cx="2057400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514600" y="32644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1,622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2514600" y="3721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Dimensions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218688"/>
            <a:ext cx="2057400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709160" y="32644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4709160" y="3721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Retained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03720" y="3218688"/>
            <a:ext cx="2057400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903720" y="32644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5×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903720" y="3721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Ratio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 · Feature Extraction — HOG &amp; GLCM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60520" cy="3337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54864" cy="333756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886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— Histogram of Oriented Gradients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edge and shape information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5910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Divides image into 8×8 pixel cells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0208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Computes gradient histograms per cell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 orientation bins per histogram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Excellent for detecting structural patterns in MRI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37490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33101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EDGE DETECTOR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841248"/>
            <a:ext cx="4160520" cy="3337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663440" y="841248"/>
            <a:ext cx="54864" cy="333756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46320" y="886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— Gray Level Co-occurrence Matrix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161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Measures spatial relationships of pixel intensities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15910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fine-grained texture patterns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20208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Features: contrast, dissimilarity, homogeneity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24505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Additional: energy, angular second moment (ASM)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Complements HOG with texture-level information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3310128"/>
            <a:ext cx="37490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846320" y="33101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DETECTOR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 · Classical ML — Model Comparison &amp; Results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— DEFAULT vs TUNED (5-Fold GridSearchCV)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83464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8346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proximity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93.93%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k=3, metric=euclidean, weights=distance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83464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83464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83280" y="10972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★ BEST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/ hyperplanes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737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94.61%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83280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C=10, gamma=scale, kernel=rbf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097280"/>
            <a:ext cx="283464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263640" y="1097280"/>
            <a:ext cx="28346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355080" y="10972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/ decision trees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1737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1920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88.16%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55080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n=150, max_depth=None, min_split=10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07208"/>
            <a:ext cx="85039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20040" y="2807208"/>
            <a:ext cx="73152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21208" y="2898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Accuracy — SVM (tuned):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28712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90.56%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21208" y="31912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tested 30 KNN × 60 SVM × 216 RF parameter combinations across 5 folds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" y="3584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3840480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SVM outperforms KNN and Random Forest in both speed and accuracy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" y="4059936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 curves show all models generalise better with more training 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" y="4279392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engineering quality is the main bottleneck — motivates deep learning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 · Convolutional Neural Networks —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301752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54864" cy="34290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886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CNN?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directly from raw pixels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awareness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image structure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670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98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→ textures → patterns → objects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4198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6484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State-of-art in medical imaging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20440" y="8412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LAYER 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1115568"/>
            <a:ext cx="5303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520440" y="1115568"/>
            <a:ext cx="64008" cy="43891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75888" y="11430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75888" y="13441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× 3 (RGB)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20440" y="1618488"/>
            <a:ext cx="5303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520440" y="1618488"/>
            <a:ext cx="64008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75888" y="1645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BatchNorm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75888" y="18470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edges, shapes, patterns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20440" y="2121408"/>
            <a:ext cx="5303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520440" y="2121408"/>
            <a:ext cx="64008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675888" y="2148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MaxPooling2D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75888" y="23500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spatial size, retain features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20440" y="2624328"/>
            <a:ext cx="5303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520440" y="2624328"/>
            <a:ext cx="64008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675888" y="2651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× 2 + Dropout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675888" y="28529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pattern extraction + regularise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20440" y="3127248"/>
            <a:ext cx="5303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3520440" y="3127248"/>
            <a:ext cx="64008" cy="43891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675888" y="3154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675888" y="33558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feature maps → 1 value each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520440" y="3630168"/>
            <a:ext cx="5303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3520440" y="3630168"/>
            <a:ext cx="64008" cy="43891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3675888" y="3657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675888" y="3858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features for classification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520440" y="4133088"/>
            <a:ext cx="5303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3520440" y="4133088"/>
            <a:ext cx="64008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3675888" y="4160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 (Softmax)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675888" y="43616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 probabilities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 · CNN Results + Grad-CAM Explainability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148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73152" cy="74980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30352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Test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868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81.87%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" y="1709928"/>
            <a:ext cx="411480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1709928"/>
            <a:ext cx="54864" cy="171907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Image: 224×224×3   Batch: 32   Epochs: 15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LR: 0.001   Optimizer: Adam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6883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Loss: Categorical Cross-Entropy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Callbacks: EarlyStopping · ReduceLR · Checkpoint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841248"/>
            <a:ext cx="4160520" cy="2587752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663440" y="841248"/>
            <a:ext cx="54864" cy="258775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46320" y="886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16128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a heatmap over prediction-important regions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152704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gradients of last convolutional layer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189280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model modification or retraining needed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225856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Class-specific: different class → different heatmap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262432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🔴 Red = important  ·  🔵 Blue = unimportant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 regions often align with actual tumor location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3566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PATHS → MOTIVATES PART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822192"/>
            <a:ext cx="20574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20040" y="3822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MRI brain region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14600" y="3822192"/>
            <a:ext cx="20574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514600" y="3822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augmentation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822192"/>
            <a:ext cx="20574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709160" y="3822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conv layers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03720" y="3822192"/>
            <a:ext cx="20574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903720" y="3822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Transfer Learning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 · Transfer Learning — ResNet50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14800" cy="2423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54864" cy="242316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886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learn edges/textures applicable to any image — pre-trained on 1.2M ImageNet images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data needed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knowledge compensates for limited medical images (1K–10K vs 100K+)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70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 the custom head — base stays frozen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63440" y="841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ARCHITECTURE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2011680" cy="79552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63440" y="11612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63440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Layers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115568"/>
            <a:ext cx="2011680" cy="79552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12280" y="11612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12280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984248"/>
            <a:ext cx="2011680" cy="79552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663440" y="20299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663440" y="2487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1984248"/>
            <a:ext cx="2011680" cy="79552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12280" y="20299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12280" y="2487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926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CONFIGURATION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182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Image: 224×224×3 (ResNet required)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63440" y="3474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Batch: 32   Epochs: 20   LR: 0.001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63440" y="3767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Optimizer: Adam   Loss: Cat. Cross-Entropy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63440" y="4059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Callbacks: EarlyStopping · ReduceLR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" y="3401568"/>
            <a:ext cx="41148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20040" y="3401568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21208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Test Accuracy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36393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89.81%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521208" y="4059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over CNN · less training data needed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 · LIME — Model-Agnostic Explainability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1480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54864" cy="32004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886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LIME WORKS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713232" cy="43891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SELECT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12161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prediction to explain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713232" cy="43891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PERTURB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variations by masking image regions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713232" cy="43891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2920" y="2304288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PREDICT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2350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perturbed inputs through the model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871216"/>
            <a:ext cx="713232" cy="43891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20" y="2871216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LEARN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29169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simple interpretable model locally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438144"/>
            <a:ext cx="713232" cy="43891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2920" y="3438144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VISUALISE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34838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superpixels drove the decision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841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vs GRAD-CAM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115568"/>
            <a:ext cx="1335024" cy="2926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663440" y="1115568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1115568"/>
            <a:ext cx="1289304" cy="2926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080760" y="1115568"/>
            <a:ext cx="1289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52360" y="1115568"/>
            <a:ext cx="1289304" cy="2926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452360" y="1115568"/>
            <a:ext cx="1289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435608"/>
            <a:ext cx="133502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709160" y="14356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Support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1435608"/>
            <a:ext cx="128930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126480" y="143560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only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52360" y="1435608"/>
            <a:ext cx="128930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498080" y="143560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1783080"/>
            <a:ext cx="1335024" cy="32918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709160" y="1783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0760" y="1783080"/>
            <a:ext cx="1289304" cy="32918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126480" y="17830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52360" y="1783080"/>
            <a:ext cx="1289304" cy="32918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498080" y="17830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(many perturbations)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2130552"/>
            <a:ext cx="133502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709160" y="2130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80760" y="2130552"/>
            <a:ext cx="128930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126480" y="21305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heatmap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52360" y="2130552"/>
            <a:ext cx="128930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498080" y="21305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Superpixel importance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63440" y="2478024"/>
            <a:ext cx="1335024" cy="32918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709160" y="24780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80760" y="2478024"/>
            <a:ext cx="1289304" cy="32918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126480" y="24780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452360" y="2478024"/>
            <a:ext cx="1289304" cy="32918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7498080" y="24780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Superpixel-level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63440" y="2825496"/>
            <a:ext cx="133502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4709160" y="28254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use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080760" y="2825496"/>
            <a:ext cx="128930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6126480" y="282549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overlay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452360" y="2825496"/>
            <a:ext cx="128930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7498080" y="282549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explanation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663440" y="3264408"/>
            <a:ext cx="4160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4663440" y="3264408"/>
            <a:ext cx="54864" cy="77724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4846320" y="3310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healthcare: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846320" y="3547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is model-agnostic — it can explain ANY classifier, not just CNNs. Critical for regulatory approval and clinician trust in AI-assisted diagnosis.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Analysis — All Three Approaches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04672"/>
          <a:ext cx="47548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931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90.56%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11480" y="4261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993392" y="3931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81.87%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93392" y="4261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75304" y="3931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89.81%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575304" y="4261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804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CHARACTERISTICS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57800" y="1115568"/>
            <a:ext cx="1335024" cy="457200"/>
          </a:xfrm>
          <a:prstGeom prst="rect">
            <a:avLst/>
          </a:prstGeom>
          <a:solidFill>
            <a:srgbClr val="00C6B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294376" y="111556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1115568"/>
            <a:ext cx="740664" cy="457200"/>
          </a:xfrm>
          <a:prstGeom prst="rect">
            <a:avLst/>
          </a:prstGeom>
          <a:solidFill>
            <a:srgbClr val="00C6B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711696" y="1115568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Cl. ML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0" y="1115568"/>
            <a:ext cx="649224" cy="457200"/>
          </a:xfrm>
          <a:prstGeom prst="rect">
            <a:avLst/>
          </a:prstGeom>
          <a:solidFill>
            <a:srgbClr val="00C6B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534656" y="1115568"/>
            <a:ext cx="612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0" y="1115568"/>
            <a:ext cx="740664" cy="457200"/>
          </a:xfrm>
          <a:prstGeom prst="rect">
            <a:avLst/>
          </a:prstGeom>
          <a:solidFill>
            <a:srgbClr val="00C6B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8266176" y="1115568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257800" y="1591056"/>
            <a:ext cx="133502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5294376" y="1591056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75120" y="1591056"/>
            <a:ext cx="74066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6711696" y="1591056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498080" y="1591056"/>
            <a:ext cx="64922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7534656" y="1591056"/>
            <a:ext cx="612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29600" y="1591056"/>
            <a:ext cx="74066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266176" y="1591056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Small-Med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257800" y="2066544"/>
            <a:ext cx="1335024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5294376" y="2066544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675120" y="2066544"/>
            <a:ext cx="740664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6711696" y="2066544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98080" y="2066544"/>
            <a:ext cx="649224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7534656" y="2066544"/>
            <a:ext cx="612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229600" y="2066544"/>
            <a:ext cx="740664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8266176" y="2066544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257800" y="2542032"/>
            <a:ext cx="133502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5294376" y="25420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675120" y="2542032"/>
            <a:ext cx="74066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6711696" y="2542032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498080" y="2542032"/>
            <a:ext cx="64922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7534656" y="2542032"/>
            <a:ext cx="612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229600" y="2542032"/>
            <a:ext cx="74066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8266176" y="2542032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257800" y="3017520"/>
            <a:ext cx="1335024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5294376" y="30175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675120" y="3017520"/>
            <a:ext cx="740664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6711696" y="3017520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498080" y="3017520"/>
            <a:ext cx="649224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7534656" y="3017520"/>
            <a:ext cx="612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8229600" y="3017520"/>
            <a:ext cx="740664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8266176" y="3017520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257800" y="3493008"/>
            <a:ext cx="133502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5294376" y="349300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6675120" y="3493008"/>
            <a:ext cx="74066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2"/>
          <p:cNvSpPr/>
          <p:nvPr/>
        </p:nvSpPr>
        <p:spPr>
          <a:xfrm>
            <a:off x="6711696" y="3493008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7498080" y="3493008"/>
            <a:ext cx="64922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7534656" y="3493008"/>
            <a:ext cx="612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8229600" y="3493008"/>
            <a:ext cx="740664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6"/>
          <p:cNvSpPr/>
          <p:nvPr/>
        </p:nvSpPr>
        <p:spPr>
          <a:xfrm>
            <a:off x="8266176" y="3493008"/>
            <a:ext cx="704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Future Directions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834640" cy="297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834640" cy="34747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Classical 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90.56%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8105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HOG + GLCM = strong feature 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2402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SVM excels in high-dimensional space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6700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interpretable, fast 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09981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Bottleneck: manual feature engineering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841248"/>
            <a:ext cx="2834640" cy="297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46120" y="841248"/>
            <a:ext cx="2834640" cy="3474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37560" y="841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CNN + Grad-CAM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126187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81.87%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55848" y="18105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feature discovery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22402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Grad-CAM reveals decision regions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6700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more data to compete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309981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foundation for transfer learning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841248"/>
            <a:ext cx="2834640" cy="297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217920" y="841248"/>
            <a:ext cx="28346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309360" y="841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ResNet50 + LIME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26187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89.81%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27648" y="18105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overall approach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22402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ImageNet knowledge transfers to MRI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26700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LIME provides model-agnostic explanations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309981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 for clinical deployment pathway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F2A50">
              <a:alpha val="70000"/>
            </a:srgbClr>
          </a:solidFill>
          <a:ln w="12700">
            <a:solidFill>
              <a:srgbClr val="0F2A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9436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90.56%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(Classical ML)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81.87%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3337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89.81%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60720" y="3337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(Transfer)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2409</Words>
  <Application>Microsoft Office PowerPoint</Application>
  <PresentationFormat>On-screen Show (16:9)</PresentationFormat>
  <Paragraphs>300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MRI Classification</dc:title>
  <dc:subject>PptxGenJS Presentation</dc:subject>
  <dc:creator>Kodanda Challa</dc:creator>
  <cp:lastModifiedBy>Kodanda Challa</cp:lastModifiedBy>
  <cp:revision>4</cp:revision>
  <dcterms:created xsi:type="dcterms:W3CDTF">2026-05-31T10:42:12Z</dcterms:created>
  <dcterms:modified xsi:type="dcterms:W3CDTF">2026-05-31T20:12:46Z</dcterms:modified>
</cp:coreProperties>
</file>