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wav" ContentType="audio/x-wav"/>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7"/>
  </p:notesMasterIdLst>
  <p:sldIdLst>
    <p:sldId id="280" r:id="rId3"/>
    <p:sldId id="256" r:id="rId4"/>
    <p:sldId id="257" r:id="rId5"/>
    <p:sldId id="258" r:id="rId6"/>
    <p:sldId id="275" r:id="rId7"/>
    <p:sldId id="261" r:id="rId8"/>
    <p:sldId id="262" r:id="rId9"/>
    <p:sldId id="263" r:id="rId10"/>
    <p:sldId id="264" r:id="rId11"/>
    <p:sldId id="265" r:id="rId12"/>
    <p:sldId id="266" r:id="rId13"/>
    <p:sldId id="268" r:id="rId14"/>
    <p:sldId id="269" r:id="rId15"/>
    <p:sldId id="259" r:id="rId16"/>
    <p:sldId id="272" r:id="rId17"/>
    <p:sldId id="260" r:id="rId18"/>
    <p:sldId id="270" r:id="rId19"/>
    <p:sldId id="271" r:id="rId20"/>
    <p:sldId id="273" r:id="rId21"/>
    <p:sldId id="274" r:id="rId22"/>
    <p:sldId id="277" r:id="rId23"/>
    <p:sldId id="278" r:id="rId24"/>
    <p:sldId id="279" r:id="rId25"/>
    <p:sldId id="267"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78" y="1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Accuracy (%)</c:v>
                </c:pt>
              </c:strCache>
            </c:strRef>
          </c:tx>
          <c:spPr>
            <a:solidFill>
              <a:srgbClr val="00C6BE"/>
            </a:solidFill>
            <a:effectLst/>
          </c:spPr>
          <c:invertIfNegative val="0"/>
          <c:dPt>
            <c:idx val="0"/>
            <c:invertIfNegative val="0"/>
            <c:bubble3D val="0"/>
            <c:extLst>
              <c:ext xmlns:c16="http://schemas.microsoft.com/office/drawing/2014/chart" uri="{C3380CC4-5D6E-409C-BE32-E72D297353CC}">
                <c16:uniqueId val="{00000001-45F0-4F87-83EE-24B5A37C6589}"/>
              </c:ext>
            </c:extLst>
          </c:dPt>
          <c:dPt>
            <c:idx val="1"/>
            <c:invertIfNegative val="0"/>
            <c:bubble3D val="0"/>
            <c:spPr>
              <a:solidFill>
                <a:srgbClr val="FACC15"/>
              </a:solidFill>
              <a:effectLst/>
            </c:spPr>
            <c:extLst>
              <c:ext xmlns:c16="http://schemas.microsoft.com/office/drawing/2014/chart" uri="{C3380CC4-5D6E-409C-BE32-E72D297353CC}">
                <c16:uniqueId val="{00000003-45F0-4F87-83EE-24B5A37C6589}"/>
              </c:ext>
            </c:extLst>
          </c:dPt>
          <c:dPt>
            <c:idx val="2"/>
            <c:invertIfNegative val="0"/>
            <c:bubble3D val="0"/>
            <c:spPr>
              <a:solidFill>
                <a:srgbClr val="22C55E"/>
              </a:solidFill>
              <a:effectLst/>
            </c:spPr>
            <c:extLst>
              <c:ext xmlns:c16="http://schemas.microsoft.com/office/drawing/2014/chart" uri="{C3380CC4-5D6E-409C-BE32-E72D297353CC}">
                <c16:uniqueId val="{00000005-45F0-4F87-83EE-24B5A37C6589}"/>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Classical ML
(SVM)</c:v>
                </c:pt>
                <c:pt idx="1">
                  <c:v>CNN</c:v>
                </c:pt>
                <c:pt idx="2">
                  <c:v>Transfer Learning
(ResNet50)</c:v>
                </c:pt>
              </c:strCache>
            </c:strRef>
          </c:cat>
          <c:val>
            <c:numRef>
              <c:f>Sheet1!$B$2:$B$4</c:f>
              <c:numCache>
                <c:formatCode>General</c:formatCode>
                <c:ptCount val="3"/>
                <c:pt idx="0">
                  <c:v>90.56</c:v>
                </c:pt>
                <c:pt idx="1">
                  <c:v>81.87</c:v>
                </c:pt>
                <c:pt idx="2">
                  <c:v>89.81</c:v>
                </c:pt>
              </c:numCache>
            </c:numRef>
          </c:val>
          <c:extLst>
            <c:ext xmlns:c16="http://schemas.microsoft.com/office/drawing/2014/chart" uri="{C3380CC4-5D6E-409C-BE32-E72D297353CC}">
              <c16:uniqueId val="{00000006-45F0-4F87-83EE-24B5A37C658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lblOffset val="100"/>
        <c:noMultiLvlLbl val="1"/>
      </c:catAx>
      <c:valAx>
        <c:axId val="2094734552"/>
        <c:scaling>
          <c:orientation val="minMax"/>
          <c:max val="95"/>
          <c:min val="75"/>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E3A5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653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 · Title (~1 min)
Open with: 'Brain tumors are life-threatening and early, accurate diagnosis is critical. Today I'll walk you through three machine learning approaches I built and compared for classifying brain tumors from MRI scans — moving from classical methods all the way to deep transfer learning.'
Briefly mention the three parts and that you'll compare their accuracy and explainability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 · Agenda (~1 min)
Briefly show the roadmap. Say: 'We have 15 minutes, so here's the plan — problem and data first, then three progressive approaches, followed by a head-to-head comparison and key conclusions.'
Don't read every item — just gesture to the structure.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3 · Problem (~1.5 min)
Explain the clinical context: radiologists must classify brain tumors into one of four categories — each requiring a very different treatment pathway. Manual reading is slow and variable.
Emphasise this is a 4-class image classification problem — not binary. That makes it harder.
Quickly read off the four classes.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4 · Dataset &amp; Preprocessing (~1 min)
Mention the dataset is well-balanced — important because imbalanced classes would bias the classifier.
Walk through the pipeline quickly: load → convert → resize → normalize → extract features → reduce with PCA.
Highlight the PCA result: we compressed 8,106 dimensions down to 1,622 while retaining 95% of the variance — a 5× reduction that speeds up training significantly.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6 · Classical ML Results (~1.5 min)
Explain GridSearchCV: instead of guessing hyperparameters, we systematically tested 30, 60, and 216 combinations respectively.
SVM wins convincingly at 90.56%. Why? It finds the optimal decision boundary in high-dimensional feature space — exactly what our PCA-reduced HOG+GLCM vector looks like.
Key transition: despite good accuracy, classical ML requires manual feature selection. What if we could let the model learn its own features? That's where CNNs come 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7 · CNN Architecture (~1.5 min)
Contrast with Part 1: no feature engineering needed. The network learns what to look for.
Walk through the layers briefly — the key idea is hierarchical feature learning: early layers detect edges, middle layers detect shapes, late layers detect complex patterns like tumor morphology.
Mention the config: 224×224 images, Adam optimiser, 15 epochs with early stopping to avoid overfitting.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8 · CNN Results + Grad-CAM (~1.5 min)
Accuracy dipped to 81.87% vs classical ML's 90.56% — explain why: CNN needs more data and takes longer to train. Our dataset is relatively small.
But the big win is Grad-CAM: we can now visualise what the network is 'looking at'. Show that red hotspots align with actual tumor regions — this is critical for clinician trust.
Transition: 'So CNN gave us interpretability but lower accuracy. Can we get both? Yes — by using a pre-trained network in Part 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9 · ResNet50 (~1.5 min)
Key intuition: ResNet50 was trained on 1.2 million general images. The features it learned — edges, textures, shapes — transfer remarkably well to medical MRI.
We freeze the base (keep ImageNet weights), add a custom classification head, and train only the head. This is fast and requires far less data.
Mention skip connections (residual connections) — the innovation that lets ResNet train very deep networks without vanishing gradients.
Result: 89.81% — much better than CNN, close to classical ML but with far less feature engineering.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10 · LIME (~1 min)
LIME's key innovation: it is model-agnostic. While Grad-CAM is tied to CNNs, LIME works on any model — our SVM, our ResNet50, any future model.
The approach: locally approximate the black-box model with a simple linear model. By perturbing the input (masking image regions), we see which superpixels the model cares about.
For doctors: LIME can say 'the model focused on this specific region when predicting Glioma' — and that explanation is in human-understandable superpixel terms, not raw gradient values.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11 · Comparative Analysis (~1.5 min)
This is the key slide — bring it all together.
The chart tells the story: Classical ML (SVM) wins on raw accuracy at 90.56%, Transfer Learning (ResNet50) is close at 89.81%, and CNN sits at 81.87%.
But accuracy isn't the only dimension — read the table:
• Classical ML needs manual feature engineering but is fast and interpretable
• CNN learns features automatically but needs large data and is a black box (partially opened with Grad-CAM)
• Transfer Learning gets the best of both worlds: accuracy, speed, and LIME explainability
For a real medical deployment, the answer is almost always Transfer Learning + LIME.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13 · Thank You (~0.5 min)
Leave the three accuracy numbers on screen during Q&amp;A — they anchor the discussion.
Anticipated questions:
• Why did classical ML beat CNN? → Small dataset; CNN needs more data to shine
• Why not use all three together? → Ensemble is possible future work
• How would you deploy this clinically? → Needs clinical validation, regulatory approval, radiologist-in-the-loop design
• What about 3D MRI? → Mentioned in future work; much more data-hungry but more informative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3F935-C70E-7850-76F7-F55B96F86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60339-4C8D-F925-522E-476E17C8AA7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5801F58-7340-F8A1-11D6-F31D88BB3602}"/>
              </a:ext>
            </a:extLst>
          </p:cNvPr>
          <p:cNvSpPr>
            <a:spLocks noGrp="1"/>
          </p:cNvSpPr>
          <p:nvPr>
            <p:ph type="body" idx="1"/>
          </p:nvPr>
        </p:nvSpPr>
        <p:spPr/>
        <p:txBody>
          <a:bodyPr/>
          <a:lstStyle/>
          <a:p>
            <a:r>
              <a:rPr lang="en-US" dirty="0"/>
              <a:t>SLIDE 3 · Problem (~1.5 min)
Explain the clinical context: radiologists must classify brain tumors into one of four categories — each requiring a very different treatment pathway. Manual reading is slow and variable.
Emphasise this is a 4-class image classification problem — not binary. That makes it harder.
Quickly read off the four classes.</a:t>
            </a:r>
          </a:p>
        </p:txBody>
      </p:sp>
      <p:sp>
        <p:nvSpPr>
          <p:cNvPr id="4" name="Slide Number Placeholder 3">
            <a:extLst>
              <a:ext uri="{FF2B5EF4-FFF2-40B4-BE49-F238E27FC236}">
                <a16:creationId xmlns:a16="http://schemas.microsoft.com/office/drawing/2014/main" id="{5C02B9F3-05C9-4D16-AC89-A1B3E50EBBD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7165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4 · Dataset &amp; Preprocessing (~1 min)
Mention the dataset is well-balanced — important because imbalanced classes would bias the classifier.
Walk through the pipeline quickly: load → convert → resize → normalize → extract features → reduce with PCA.
Highlight the PCA result: we compressed 8,106 dimensions down to 1,622 while retaining 95% of the variance — a 5× reduction that speeds up training significantly.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1F84A-84C9-50A5-D1B6-BDE9DBD7A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181BF-01AB-EF2B-C698-A1EECBCDB6A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B34A2DB-0872-92A6-2518-58E3F7012EE7}"/>
              </a:ext>
            </a:extLst>
          </p:cNvPr>
          <p:cNvSpPr>
            <a:spLocks noGrp="1"/>
          </p:cNvSpPr>
          <p:nvPr>
            <p:ph type="body" idx="1"/>
          </p:nvPr>
        </p:nvSpPr>
        <p:spPr/>
        <p:txBody>
          <a:bodyPr/>
          <a:lstStyle/>
          <a:p>
            <a:r>
              <a:rPr lang="en-US" dirty="0"/>
              <a:t>SLIDE 4 · Dataset &amp; Preprocessing (~1 min)
Mention the dataset is well-balanced — important because imbalanced classes would bias the classifier.
Walk through the pipeline quickly: load → convert → resize → normalize → extract features → reduce with PCA.
Highlight the PCA result: we compressed 8,106 dimensions down to 1,622 while retaining 95% of the variance — a 5× reduction that speeds up training significantly.</a:t>
            </a:r>
          </a:p>
        </p:txBody>
      </p:sp>
      <p:sp>
        <p:nvSpPr>
          <p:cNvPr id="4" name="Slide Number Placeholder 3">
            <a:extLst>
              <a:ext uri="{FF2B5EF4-FFF2-40B4-BE49-F238E27FC236}">
                <a16:creationId xmlns:a16="http://schemas.microsoft.com/office/drawing/2014/main" id="{35F38386-73C2-65FD-8A4E-75AC30EC26F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0004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0CC7C-A83D-B0CB-9748-2D6BD005A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016F7-5241-010C-77A7-587A215BA51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2C4AA44-A4F2-2961-7FF0-59253BEE4675}"/>
              </a:ext>
            </a:extLst>
          </p:cNvPr>
          <p:cNvSpPr>
            <a:spLocks noGrp="1"/>
          </p:cNvSpPr>
          <p:nvPr>
            <p:ph type="body" idx="1"/>
          </p:nvPr>
        </p:nvSpPr>
        <p:spPr/>
        <p:txBody>
          <a:bodyPr/>
          <a:lstStyle/>
          <a:p>
            <a:r>
              <a:rPr lang="en-US" dirty="0"/>
              <a:t>SLIDE 4 · Dataset &amp; Preprocessing (~1 min)
Mention the dataset is well-balanced — important because imbalanced classes would bias the classifier.
Walk through the pipeline quickly: load → convert → resize → normalize → extract features → reduce with PCA.
Highlight the PCA result: we compressed 8,106 dimensions down to 1,622 while retaining 95% of the variance — a 5× reduction that speeds up training significantly.</a:t>
            </a:r>
          </a:p>
        </p:txBody>
      </p:sp>
      <p:sp>
        <p:nvSpPr>
          <p:cNvPr id="4" name="Slide Number Placeholder 3">
            <a:extLst>
              <a:ext uri="{FF2B5EF4-FFF2-40B4-BE49-F238E27FC236}">
                <a16:creationId xmlns:a16="http://schemas.microsoft.com/office/drawing/2014/main" id="{9C08DE83-1EB1-0725-5F27-EB5F311F9EC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8683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C1C78-85DD-E7FF-9AFF-566A60986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34DFF-6658-6B18-5C3B-34B0E860D21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0421D9C-A5DC-0DDF-034C-8A3040D1141D}"/>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5AF8E10A-B64B-A91C-7B87-7D93B7287E6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8230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235F8-D3A6-11D9-D610-88205CF0D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32189-AB8F-4768-0E1F-2462BB730DA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F428A64-8BF8-CB8A-B62A-84118224B1F4}"/>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E61B7F4B-8F28-E9D3-2C20-71130812F8D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2263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90D14-4A76-9FBD-8EB8-C61CAC0B7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82811-7CD1-90AB-0B6F-1F7FC1ADB4A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D585192-D967-F20B-4529-72669786A21A}"/>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614E67F9-EF9B-2656-74FD-9E1737EDB8C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74500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809E3-BA31-B20D-5C6A-875E0ACD75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CCA6C-A99B-43E3-2114-E146120220B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82348FB-A3F3-E772-6924-11943D4979D0}"/>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E29C0024-A4BB-D93B-E6C5-084A2F86581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14621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3664C-43FD-127A-F53E-1D52962BB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258A1-5FCF-87E0-E948-7FB6745AC3F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C746B8F-F1AE-3EAC-EF5B-6EE59941609C}"/>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7D7DEDF0-4A63-2D85-B715-62DB9E491D7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635758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0CAC6-C974-686C-4435-52BABCA37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0257D-5822-1F9B-C007-94071795A78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FD2A51B-AAAA-40E2-8FF9-C0387FEA993C}"/>
              </a:ext>
            </a:extLst>
          </p:cNvPr>
          <p:cNvSpPr>
            <a:spLocks noGrp="1"/>
          </p:cNvSpPr>
          <p:nvPr>
            <p:ph type="body" idx="1"/>
          </p:nvPr>
        </p:nvSpPr>
        <p:spPr/>
        <p:txBody>
          <a:bodyPr/>
          <a:lstStyle/>
          <a:p>
            <a:r>
              <a:rPr lang="en-US" dirty="0"/>
              <a:t>SLIDE 5 · Feature Extraction (~1 min)
Explain the intuition: before deep learning, we had to manually engineer features that tell the model what to look at.
HOG answers: 'What shape is this?' — it detects edges and gradients, useful for finding tumor boundaries.
GLCM answers: 'What texture is this?' — tumor tissue has different intensity patterns from healthy tissue.
Together, HOG + GLCM give us both shape and texture — a strong combined feature vector.</a:t>
            </a:r>
          </a:p>
        </p:txBody>
      </p:sp>
      <p:sp>
        <p:nvSpPr>
          <p:cNvPr id="4" name="Slide Number Placeholder 3">
            <a:extLst>
              <a:ext uri="{FF2B5EF4-FFF2-40B4-BE49-F238E27FC236}">
                <a16:creationId xmlns:a16="http://schemas.microsoft.com/office/drawing/2014/main" id="{02F88989-623F-64D0-A438-8AB824ABBF8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87542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12 · Conclusions (~1 min)
Summarise the three-part journey:
1. Classical ML showed us that handcrafted features + SVM are a strong, interpretable baseline
2. CNN automated feature learning and gave us visual explainability via Grad-CAM
3. Transfer Learning (ResNet50) delivered accuracy + efficiency + LIME explainability — the best all-rounder
For future work: 3D MRI volumes have more spatial information, Vision Transformers are the new frontier, and real-world deployment requires clinical validation.
Close with: 'The core lesson is that explainability and accuracy don't have to be a trade-off — Transfer Learning + LIME gives us both.'</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Text 14">
            <a:extLst>
              <a:ext uri="{FF2B5EF4-FFF2-40B4-BE49-F238E27FC236}">
                <a16:creationId xmlns:a16="http://schemas.microsoft.com/office/drawing/2014/main" id="{C368455A-5369-8B46-AA76-A2F3BA0D979C}"/>
              </a:ext>
            </a:extLst>
          </p:cNvPr>
          <p:cNvSpPr/>
          <p:nvPr userDrawn="1"/>
        </p:nvSpPr>
        <p:spPr>
          <a:xfrm>
            <a:off x="713038" y="4786983"/>
            <a:ext cx="5486400" cy="292608"/>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Kodanda Challa  |  Machine Learning</a:t>
            </a:r>
            <a:endParaRPr lang="en-US" sz="13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92942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 14">
            <a:extLst>
              <a:ext uri="{FF2B5EF4-FFF2-40B4-BE49-F238E27FC236}">
                <a16:creationId xmlns:a16="http://schemas.microsoft.com/office/drawing/2014/main" id="{749AB603-084C-A7A5-51DB-5B41CB491691}"/>
              </a:ext>
            </a:extLst>
          </p:cNvPr>
          <p:cNvSpPr/>
          <p:nvPr userDrawn="1"/>
        </p:nvSpPr>
        <p:spPr>
          <a:xfrm>
            <a:off x="713038" y="4786983"/>
            <a:ext cx="5486400" cy="292608"/>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Kodanda Challa  |  Machine Learning</a:t>
            </a:r>
            <a:endParaRPr lang="en-US" sz="1300" dirty="0"/>
          </a:p>
        </p:txBody>
      </p:sp>
      <p:sp>
        <p:nvSpPr>
          <p:cNvPr id="7" name="TextBox 6">
            <a:extLst>
              <a:ext uri="{FF2B5EF4-FFF2-40B4-BE49-F238E27FC236}">
                <a16:creationId xmlns:a16="http://schemas.microsoft.com/office/drawing/2014/main" id="{FD61299F-CD09-D2C1-8BC0-A26E49C72E23}"/>
              </a:ext>
            </a:extLst>
          </p:cNvPr>
          <p:cNvSpPr txBox="1"/>
          <p:nvPr userDrawn="1"/>
        </p:nvSpPr>
        <p:spPr>
          <a:xfrm>
            <a:off x="7451970" y="4786983"/>
            <a:ext cx="1555262" cy="292388"/>
          </a:xfrm>
          <a:prstGeom prst="rect">
            <a:avLst/>
          </a:prstGeom>
          <a:noFill/>
        </p:spPr>
        <p:txBody>
          <a:bodyPr wrap="square">
            <a:spAutoFit/>
          </a:bodyPr>
          <a:lstStyle/>
          <a:p>
            <a:r>
              <a:rPr lang="en-GB" sz="1300" kern="1200" dirty="0">
                <a:solidFill>
                  <a:srgbClr val="94A3B8"/>
                </a:solidFill>
                <a:latin typeface="Calibri" pitchFamily="34" charset="0"/>
                <a:ea typeface="Calibri" pitchFamily="34" charset="-122"/>
                <a:cs typeface="Calibri" pitchFamily="34" charset="-120"/>
              </a:rPr>
              <a:t>Prof: Rosani Andrea</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6541280"/>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datasets/masoudnickparvar/brain-tumor-mri-datase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slide" Target="slide16.xml"/><Relationship Id="rId4" Type="http://schemas.openxmlformats.org/officeDocument/2006/relationships/audio" Target="../media/audio1.wav"/></Relationships>
</file>

<file path=ppt/slides/_rels/slide6.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slide" Target="slide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audio" Target="../media/audio1.wav"/><Relationship Id="rId5" Type="http://schemas.openxmlformats.org/officeDocument/2006/relationships/slide" Target="slide5.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slide" Target="slide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slide" Target="slide6.xml"/><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slide" Target="slide8.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audio" Target="../media/audio1.wav"/></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0B3B"/>
          </a:solidFill>
          <a:ln w="12700">
            <a:solidFill>
              <a:srgbClr val="1B0B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8016" cy="822960"/>
          </a:xfrm>
          <a:prstGeom prst="rect">
            <a:avLst/>
          </a:prstGeom>
          <a:solidFill>
            <a:srgbClr val="9B5DE5"/>
          </a:solidFill>
          <a:ln w="12700">
            <a:solidFill>
              <a:srgbClr val="9B5D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256032" y="73152"/>
            <a:ext cx="6400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Brain Tumor MRI Classification (Images)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56032" y="475488"/>
            <a:ext cx="64008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9B8F0"/>
                </a:solidFill>
                <a:effectLst/>
                <a:uLnTx/>
                <a:uFillTx/>
                <a:latin typeface="Calibri" pitchFamily="34" charset="0"/>
                <a:ea typeface="Calibri" pitchFamily="34" charset="-122"/>
                <a:cs typeface="Calibri" pitchFamily="34" charset="-120"/>
              </a:rPr>
              <a:t>4-Class  (Multiclass classification problem) · Format 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943600" y="256032"/>
            <a:ext cx="30175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Kodanda Challa  ·  25727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256032" y="1363789"/>
            <a:ext cx="4133088" cy="347472"/>
          </a:xfrm>
          <a:prstGeom prst="rect">
            <a:avLst/>
          </a:prstGeom>
          <a:solidFill>
            <a:srgbClr val="1B6B1E"/>
          </a:solidFill>
          <a:ln w="12700">
            <a:solidFill>
              <a:srgbClr val="1B6B1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256032" y="1363789"/>
            <a:ext cx="4133088"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SKimage  +  OpenCV  →  Feature Extraction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256032" y="1802701"/>
            <a:ext cx="4133088" cy="868680"/>
          </a:xfrm>
          <a:prstGeom prst="rect">
            <a:avLst/>
          </a:prstGeom>
          <a:solidFill>
            <a:srgbClr val="FFFFFF"/>
          </a:solidFill>
          <a:ln w="12700">
            <a:solidFill>
              <a:srgbClr val="A5D6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256032" y="1802701"/>
            <a:ext cx="475488" cy="868680"/>
          </a:xfrm>
          <a:prstGeom prst="rect">
            <a:avLst/>
          </a:prstGeom>
          <a:solidFill>
            <a:srgbClr val="E8F5E9"/>
          </a:solidFill>
          <a:ln w="12700">
            <a:solidFill>
              <a:srgbClr val="A5D6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566928" y="1811845"/>
            <a:ext cx="182880" cy="850392"/>
          </a:xfrm>
          <a:prstGeom prst="rect">
            <a:avLst/>
          </a:prstGeom>
          <a:solidFill>
            <a:srgbClr val="E8F5E9"/>
          </a:solidFill>
          <a:ln w="12700">
            <a:solidFill>
              <a:srgbClr val="E8F5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56032" y="1802701"/>
            <a:ext cx="475488" cy="8686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B6B1E"/>
                </a:solidFill>
                <a:effectLst/>
                <a:uLnTx/>
                <a:uFillTx/>
                <a:latin typeface="Georgia" pitchFamily="34" charset="0"/>
                <a:ea typeface="Georgia" pitchFamily="34" charset="-122"/>
                <a:cs typeface="Georgia" pitchFamily="34" charset="-120"/>
              </a:rPr>
              <a:t>01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841248" y="2126414"/>
            <a:ext cx="34747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B0B3B"/>
                </a:solidFill>
                <a:effectLst/>
                <a:uLnTx/>
                <a:uFillTx/>
                <a:latin typeface="Calibri" pitchFamily="34" charset="0"/>
                <a:ea typeface="Calibri" pitchFamily="34" charset="-122"/>
                <a:cs typeface="Calibri" pitchFamily="34" charset="-120"/>
              </a:rPr>
              <a:t>K-Nearest Neighbors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822960" y="2278189"/>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256032" y="2790253"/>
            <a:ext cx="4133088" cy="868680"/>
          </a:xfrm>
          <a:prstGeom prst="rect">
            <a:avLst/>
          </a:prstGeom>
          <a:solidFill>
            <a:srgbClr val="FFFFFF"/>
          </a:solidFill>
          <a:ln w="12700">
            <a:solidFill>
              <a:srgbClr val="A5D6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256032" y="2790253"/>
            <a:ext cx="475488" cy="868680"/>
          </a:xfrm>
          <a:prstGeom prst="rect">
            <a:avLst/>
          </a:prstGeom>
          <a:solidFill>
            <a:srgbClr val="E8F5E9"/>
          </a:solidFill>
          <a:ln w="12700">
            <a:solidFill>
              <a:srgbClr val="A5D6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66928" y="2799397"/>
            <a:ext cx="182880" cy="850392"/>
          </a:xfrm>
          <a:prstGeom prst="rect">
            <a:avLst/>
          </a:prstGeom>
          <a:solidFill>
            <a:srgbClr val="E8F5E9"/>
          </a:solidFill>
          <a:ln w="12700">
            <a:solidFill>
              <a:srgbClr val="E8F5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256032" y="2790253"/>
            <a:ext cx="475488" cy="8686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B6B1E"/>
                </a:solidFill>
                <a:effectLst/>
                <a:uLnTx/>
                <a:uFillTx/>
                <a:latin typeface="Georgia" pitchFamily="34" charset="0"/>
                <a:ea typeface="Georgia" pitchFamily="34" charset="-122"/>
                <a:cs typeface="Georgia" pitchFamily="34" charset="-120"/>
              </a:rPr>
              <a:t>02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22960" y="3073717"/>
            <a:ext cx="34747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B0B3B"/>
                </a:solidFill>
                <a:effectLst/>
                <a:uLnTx/>
                <a:uFillTx/>
                <a:latin typeface="Calibri" pitchFamily="34" charset="0"/>
                <a:ea typeface="Calibri" pitchFamily="34" charset="-122"/>
                <a:cs typeface="Calibri" pitchFamily="34" charset="-120"/>
              </a:rPr>
              <a:t>Support Vector Machine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256032" y="3777805"/>
            <a:ext cx="4133088" cy="868680"/>
          </a:xfrm>
          <a:prstGeom prst="rect">
            <a:avLst/>
          </a:prstGeom>
          <a:solidFill>
            <a:srgbClr val="FFFFFF"/>
          </a:solidFill>
          <a:ln w="12700">
            <a:solidFill>
              <a:srgbClr val="A5D6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256032" y="3777805"/>
            <a:ext cx="475488" cy="868680"/>
          </a:xfrm>
          <a:prstGeom prst="rect">
            <a:avLst/>
          </a:prstGeom>
          <a:solidFill>
            <a:srgbClr val="E8F5E9"/>
          </a:solidFill>
          <a:ln w="12700">
            <a:solidFill>
              <a:srgbClr val="A5D6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66928" y="3786949"/>
            <a:ext cx="182880" cy="850392"/>
          </a:xfrm>
          <a:prstGeom prst="rect">
            <a:avLst/>
          </a:prstGeom>
          <a:solidFill>
            <a:srgbClr val="E8F5E9"/>
          </a:solidFill>
          <a:ln w="12700">
            <a:solidFill>
              <a:srgbClr val="E8F5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256032" y="3777805"/>
            <a:ext cx="475488" cy="8686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B6B1E"/>
                </a:solidFill>
                <a:effectLst/>
                <a:uLnTx/>
                <a:uFillTx/>
                <a:latin typeface="Georgia" pitchFamily="34" charset="0"/>
                <a:ea typeface="Georgia" pitchFamily="34" charset="-122"/>
                <a:cs typeface="Georgia" pitchFamily="34" charset="-120"/>
              </a:rPr>
              <a:t>03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832104" y="4084129"/>
            <a:ext cx="34747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B0B3B"/>
                </a:solidFill>
                <a:effectLst/>
                <a:uLnTx/>
                <a:uFillTx/>
                <a:latin typeface="Calibri" pitchFamily="34" charset="0"/>
                <a:ea typeface="Calibri" pitchFamily="34" charset="-122"/>
                <a:cs typeface="Calibri" pitchFamily="34" charset="-120"/>
              </a:rPr>
              <a:t>Random Forest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4754880" y="1363789"/>
            <a:ext cx="4133088" cy="347472"/>
          </a:xfrm>
          <a:prstGeom prst="rect">
            <a:avLst/>
          </a:prstGeom>
          <a:solidFill>
            <a:srgbClr val="4A1580"/>
          </a:solidFill>
          <a:ln w="12700">
            <a:solidFill>
              <a:srgbClr val="4A15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4754880" y="1363789"/>
            <a:ext cx="4133088"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Raw Pixels  →  Learns Features Automatically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4754880" y="1802701"/>
            <a:ext cx="4133088" cy="1353312"/>
          </a:xfrm>
          <a:prstGeom prst="rect">
            <a:avLst/>
          </a:prstGeom>
          <a:solidFill>
            <a:srgbClr val="FFFFFF"/>
          </a:solidFill>
          <a:ln w="12700">
            <a:solidFill>
              <a:srgbClr val="CE93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4754880" y="1802701"/>
            <a:ext cx="475488" cy="1353312"/>
          </a:xfrm>
          <a:prstGeom prst="rect">
            <a:avLst/>
          </a:prstGeom>
          <a:solidFill>
            <a:srgbClr val="F3E5FF"/>
          </a:solidFill>
          <a:ln w="12700">
            <a:solidFill>
              <a:srgbClr val="CE93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5065776" y="1811845"/>
            <a:ext cx="182880" cy="1335024"/>
          </a:xfrm>
          <a:prstGeom prst="rect">
            <a:avLst/>
          </a:prstGeom>
          <a:solidFill>
            <a:srgbClr val="F3E5FF"/>
          </a:solidFill>
          <a:ln w="12700">
            <a:solidFill>
              <a:srgbClr val="F3E5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4754880" y="1802701"/>
            <a:ext cx="475488" cy="13533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A1580"/>
                </a:solidFill>
                <a:effectLst/>
                <a:uLnTx/>
                <a:uFillTx/>
                <a:latin typeface="Georgia" pitchFamily="34" charset="0"/>
                <a:ea typeface="Georgia" pitchFamily="34" charset="-122"/>
                <a:cs typeface="Georgia" pitchFamily="34" charset="-120"/>
              </a:rPr>
              <a:t>04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5321808" y="2040445"/>
            <a:ext cx="34747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B0B3B"/>
                </a:solidFill>
                <a:effectLst/>
                <a:uLnTx/>
                <a:uFillTx/>
                <a:latin typeface="Calibri" pitchFamily="34" charset="0"/>
                <a:ea typeface="Calibri" pitchFamily="34" charset="-122"/>
                <a:cs typeface="Calibri" pitchFamily="34" charset="-120"/>
              </a:rPr>
              <a:t>Custom CNN  +  Grad-CAM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5321808" y="2397061"/>
            <a:ext cx="347472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5A2A8A"/>
                </a:solidFill>
                <a:effectLst/>
                <a:uLnTx/>
                <a:uFillTx/>
                <a:latin typeface="Calibri" pitchFamily="34" charset="0"/>
                <a:ea typeface="Calibri" pitchFamily="34" charset="-122"/>
                <a:cs typeface="Calibri" pitchFamily="34" charset="-120"/>
              </a:rPr>
              <a:t>Conv layers auto-extract spatial features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5A2A8A"/>
                </a:solidFill>
                <a:effectLst/>
                <a:uLnTx/>
                <a:uFillTx/>
                <a:latin typeface="Calibri" pitchFamily="34" charset="0"/>
                <a:ea typeface="Calibri" pitchFamily="34" charset="-122"/>
                <a:cs typeface="Calibri" pitchFamily="34" charset="-120"/>
              </a:rPr>
              <a:t>Grad-CAM heatmap shows model attention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4754880" y="3284029"/>
            <a:ext cx="4133088" cy="1353312"/>
          </a:xfrm>
          <a:prstGeom prst="rect">
            <a:avLst/>
          </a:prstGeom>
          <a:solidFill>
            <a:srgbClr val="FFFFFF"/>
          </a:solidFill>
          <a:ln w="12700">
            <a:solidFill>
              <a:srgbClr val="CE93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4754880" y="3284029"/>
            <a:ext cx="475488" cy="1353312"/>
          </a:xfrm>
          <a:prstGeom prst="rect">
            <a:avLst/>
          </a:prstGeom>
          <a:solidFill>
            <a:srgbClr val="F3E5FF"/>
          </a:solidFill>
          <a:ln w="12700">
            <a:solidFill>
              <a:srgbClr val="CE93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5065776" y="3293173"/>
            <a:ext cx="182880" cy="1335024"/>
          </a:xfrm>
          <a:prstGeom prst="rect">
            <a:avLst/>
          </a:prstGeom>
          <a:solidFill>
            <a:srgbClr val="F3E5FF"/>
          </a:solidFill>
          <a:ln w="12700">
            <a:solidFill>
              <a:srgbClr val="F3E5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4754880" y="3284029"/>
            <a:ext cx="475488" cy="13533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A1580"/>
                </a:solidFill>
                <a:effectLst/>
                <a:uLnTx/>
                <a:uFillTx/>
                <a:latin typeface="Georgia" pitchFamily="34" charset="0"/>
                <a:ea typeface="Georgia" pitchFamily="34" charset="-122"/>
                <a:cs typeface="Georgia" pitchFamily="34" charset="-120"/>
              </a:rPr>
              <a:t>05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5321808" y="3521773"/>
            <a:ext cx="34747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B0B3B"/>
                </a:solidFill>
                <a:effectLst/>
                <a:uLnTx/>
                <a:uFillTx/>
                <a:latin typeface="Calibri" pitchFamily="34" charset="0"/>
                <a:ea typeface="Calibri" pitchFamily="34" charset="-122"/>
                <a:cs typeface="Calibri" pitchFamily="34" charset="-120"/>
              </a:rPr>
              <a:t>ResNet-50 Transfer  +  LIME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5321808" y="3878389"/>
            <a:ext cx="347472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5A2A8A"/>
                </a:solidFill>
                <a:effectLst/>
                <a:uLnTx/>
                <a:uFillTx/>
                <a:latin typeface="Calibri" pitchFamily="34" charset="0"/>
                <a:ea typeface="Calibri" pitchFamily="34" charset="-122"/>
                <a:cs typeface="Calibri" pitchFamily="34" charset="-120"/>
              </a:rPr>
              <a:t>Pretrained ImageNet weights transferred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5A2A8A"/>
                </a:solidFill>
                <a:effectLst/>
                <a:uLnTx/>
                <a:uFillTx/>
                <a:latin typeface="Calibri" pitchFamily="34" charset="0"/>
                <a:ea typeface="Calibri" pitchFamily="34" charset="-122"/>
                <a:cs typeface="Calibri" pitchFamily="34" charset="-120"/>
              </a:rPr>
              <a:t>LIME explains patch-level predictions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9"/>
          <p:cNvSpPr/>
          <p:nvPr/>
        </p:nvSpPr>
        <p:spPr>
          <a:xfrm>
            <a:off x="0" y="4754880"/>
            <a:ext cx="9144000" cy="388620"/>
          </a:xfrm>
          <a:prstGeom prst="rect">
            <a:avLst/>
          </a:prstGeom>
          <a:solidFill>
            <a:srgbClr val="1B0B3B"/>
          </a:solidFill>
          <a:ln w="12700">
            <a:solidFill>
              <a:srgbClr val="1B0B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a:hlinkClick r:id="rId3"/>
          </p:cNvPr>
          <p:cNvSpPr/>
          <p:nvPr/>
        </p:nvSpPr>
        <p:spPr>
          <a:xfrm>
            <a:off x="256032" y="4791456"/>
            <a:ext cx="8686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C9B8F0"/>
                </a:solidFill>
                <a:effectLst/>
                <a:uLnTx/>
                <a:uFillTx/>
                <a:latin typeface="Calibri" pitchFamily="34" charset="0"/>
                <a:ea typeface="Calibri" pitchFamily="34" charset="-122"/>
                <a:cs typeface="Calibri" pitchFamily="34" charset="-120"/>
              </a:rPr>
              <a:t> </a:t>
            </a:r>
            <a:r>
              <a:rPr kumimoji="0" lang="en-US" sz="1000" b="0" i="0" u="none" strike="noStrike" kern="1200" cap="none" spc="0" normalizeH="0" baseline="0" noProof="0" dirty="0">
                <a:ln>
                  <a:noFill/>
                </a:ln>
                <a:solidFill>
                  <a:srgbClr val="C9B8F0"/>
                </a:solidFill>
                <a:effectLst/>
                <a:uLnTx/>
                <a:uFillTx/>
                <a:latin typeface="Calibri" pitchFamily="34" charset="0"/>
                <a:ea typeface="Calibri" pitchFamily="34" charset="-122"/>
                <a:cs typeface="Calibri" pitchFamily="34" charset="-120"/>
              </a:rPr>
              <a:t>Kaggle Dataset (7200 Images): </a:t>
            </a:r>
            <a:r>
              <a:rPr kumimoji="0" lang="en-US" sz="1000" b="0" i="0" u="sng" strike="noStrike" kern="1200" cap="none" spc="0" normalizeH="0" baseline="0" noProof="0" dirty="0">
                <a:ln>
                  <a:noFill/>
                </a:ln>
                <a:solidFill>
                  <a:srgbClr val="9999DD"/>
                </a:solidFill>
                <a:effectLst/>
                <a:uLnTx/>
                <a:uFillTx/>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kaggle.com/datasets/masoudnickparvar/brain-tumor-</a:t>
            </a:r>
            <a:r>
              <a:rPr kumimoji="0" lang="en-US" sz="1000" b="0" i="0" u="sng" strike="noStrike" kern="1200" cap="none" spc="0" normalizeH="0" baseline="0" noProof="0" dirty="0" err="1">
                <a:ln>
                  <a:noFill/>
                </a:ln>
                <a:solidFill>
                  <a:srgbClr val="9999DD"/>
                </a:solidFill>
                <a:effectLst/>
                <a:uLnTx/>
                <a:uFillTx/>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mri</a:t>
            </a:r>
            <a:r>
              <a:rPr kumimoji="0" lang="en-US" sz="1000" b="0" i="0" u="sng" strike="noStrike" kern="1200" cap="none" spc="0" normalizeH="0" baseline="0" noProof="0" dirty="0">
                <a:ln>
                  <a:noFill/>
                </a:ln>
                <a:solidFill>
                  <a:srgbClr val="9999DD"/>
                </a:solidFill>
                <a:effectLst/>
                <a:uLnTx/>
                <a:uFillTx/>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-dataset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Box 43">
            <a:extLst>
              <a:ext uri="{FF2B5EF4-FFF2-40B4-BE49-F238E27FC236}">
                <a16:creationId xmlns:a16="http://schemas.microsoft.com/office/drawing/2014/main" id="{23EF3458-E949-7FDD-C373-3CCE49603BDF}"/>
              </a:ext>
            </a:extLst>
          </p:cNvPr>
          <p:cNvSpPr txBox="1"/>
          <p:nvPr/>
        </p:nvSpPr>
        <p:spPr>
          <a:xfrm>
            <a:off x="280534" y="896112"/>
            <a:ext cx="457786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Train and compare classification models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B1D35"/>
        </a:solidFill>
        <a:effectLst/>
      </p:bgPr>
    </p:bg>
    <p:spTree>
      <p:nvGrpSpPr>
        <p:cNvPr id="1" name=""/>
        <p:cNvGrpSpPr/>
        <p:nvPr/>
      </p:nvGrpSpPr>
      <p:grpSpPr>
        <a:xfrm>
          <a:off x="0" y="0"/>
          <a:ext cx="0" cy="0"/>
          <a:chOff x="0" y="0"/>
          <a:chExt cx="0" cy="0"/>
        </a:xfrm>
      </p:grpSpPr>
      <p:sp>
        <p:nvSpPr>
          <p:cNvPr id="18" name="Shape 2">
            <a:extLst>
              <a:ext uri="{FF2B5EF4-FFF2-40B4-BE49-F238E27FC236}">
                <a16:creationId xmlns:a16="http://schemas.microsoft.com/office/drawing/2014/main" id="{6E595D5A-D754-4CC1-7927-AD09E359C9F7}"/>
              </a:ext>
            </a:extLst>
          </p:cNvPr>
          <p:cNvSpPr/>
          <p:nvPr/>
        </p:nvSpPr>
        <p:spPr>
          <a:xfrm>
            <a:off x="4800600" y="2342935"/>
            <a:ext cx="2743200" cy="2743200"/>
          </a:xfrm>
          <a:prstGeom prst="ellipse">
            <a:avLst/>
          </a:prstGeom>
          <a:solidFill>
            <a:srgbClr val="0F2A50">
              <a:alpha val="50000"/>
            </a:srgbClr>
          </a:solidFill>
          <a:ln w="12700">
            <a:solidFill>
              <a:srgbClr val="0F2A50"/>
            </a:solidFill>
            <a:prstDash val="solid"/>
          </a:ln>
        </p:spPr>
        <p:txBody>
          <a:bodyPr/>
          <a:lstStyle/>
          <a:p>
            <a:endParaRPr lang="en-GB" dirty="0"/>
          </a:p>
        </p:txBody>
      </p:sp>
      <p:sp>
        <p:nvSpPr>
          <p:cNvPr id="2" name="Shape 0"/>
          <p:cNvSpPr/>
          <p:nvPr/>
        </p:nvSpPr>
        <p:spPr>
          <a:xfrm>
            <a:off x="0" y="0"/>
            <a:ext cx="320040" cy="5143500"/>
          </a:xfrm>
          <a:prstGeom prst="rect">
            <a:avLst/>
          </a:prstGeom>
          <a:solidFill>
            <a:srgbClr val="00C6BE"/>
          </a:solidFill>
          <a:ln w="12700">
            <a:solidFill>
              <a:srgbClr val="00C6BE"/>
            </a:solidFill>
            <a:prstDash val="solid"/>
          </a:ln>
        </p:spPr>
        <p:txBody>
          <a:bodyPr/>
          <a:lstStyle/>
          <a:p>
            <a:endParaRPr lang="en-GB"/>
          </a:p>
        </p:txBody>
      </p:sp>
      <p:sp>
        <p:nvSpPr>
          <p:cNvPr id="3" name="Shape 1"/>
          <p:cNvSpPr/>
          <p:nvPr/>
        </p:nvSpPr>
        <p:spPr>
          <a:xfrm>
            <a:off x="6583680" y="-731520"/>
            <a:ext cx="4114800" cy="4114800"/>
          </a:xfrm>
          <a:prstGeom prst="ellipse">
            <a:avLst/>
          </a:prstGeom>
          <a:solidFill>
            <a:srgbClr val="0F2A50">
              <a:alpha val="70000"/>
            </a:srgbClr>
          </a:solidFill>
          <a:ln w="12700">
            <a:solidFill>
              <a:srgbClr val="0F2A50"/>
            </a:solidFill>
            <a:prstDash val="solid"/>
          </a:ln>
        </p:spPr>
        <p:txBody>
          <a:bodyPr/>
          <a:lstStyle/>
          <a:p>
            <a:endParaRPr lang="en-GB"/>
          </a:p>
        </p:txBody>
      </p:sp>
      <p:sp>
        <p:nvSpPr>
          <p:cNvPr id="5" name="Text 3"/>
          <p:cNvSpPr/>
          <p:nvPr/>
        </p:nvSpPr>
        <p:spPr>
          <a:xfrm>
            <a:off x="640080" y="594360"/>
            <a:ext cx="7772400" cy="777240"/>
          </a:xfrm>
          <a:prstGeom prst="rect">
            <a:avLst/>
          </a:prstGeom>
          <a:noFill/>
          <a:ln/>
        </p:spPr>
        <p:txBody>
          <a:bodyPr wrap="square" lIns="0" tIns="0" rIns="0" bIns="0" rtlCol="0" anchor="ctr"/>
          <a:lstStyle/>
          <a:p>
            <a:pPr marL="0" indent="0" algn="l">
              <a:buNone/>
            </a:pPr>
            <a:r>
              <a:rPr lang="en-US" sz="4400" b="1" kern="0" spc="300" dirty="0">
                <a:solidFill>
                  <a:srgbClr val="00C6BE"/>
                </a:solidFill>
                <a:latin typeface="Trebuchet MS" pitchFamily="34" charset="0"/>
                <a:ea typeface="Trebuchet MS" pitchFamily="34" charset="-122"/>
                <a:cs typeface="Trebuchet MS" pitchFamily="34" charset="-120"/>
              </a:rPr>
              <a:t>BRAIN TUMOR MRI</a:t>
            </a:r>
            <a:endParaRPr lang="en-US" sz="4400" dirty="0"/>
          </a:p>
        </p:txBody>
      </p:sp>
      <p:sp>
        <p:nvSpPr>
          <p:cNvPr id="6" name="Text 4"/>
          <p:cNvSpPr/>
          <p:nvPr/>
        </p:nvSpPr>
        <p:spPr>
          <a:xfrm>
            <a:off x="640080" y="1353312"/>
            <a:ext cx="7772400" cy="777240"/>
          </a:xfrm>
          <a:prstGeom prst="rect">
            <a:avLst/>
          </a:prstGeom>
          <a:noFill/>
          <a:ln/>
        </p:spPr>
        <p:txBody>
          <a:bodyPr wrap="square" lIns="0" tIns="0" rIns="0" bIns="0" rtlCol="0" anchor="ctr"/>
          <a:lstStyle/>
          <a:p>
            <a:pPr marL="0" indent="0" algn="l">
              <a:buNone/>
            </a:pPr>
            <a:r>
              <a:rPr lang="en-US" sz="4400" b="1" kern="0" spc="300" dirty="0">
                <a:solidFill>
                  <a:srgbClr val="FFFFFF"/>
                </a:solidFill>
                <a:latin typeface="Trebuchet MS" pitchFamily="34" charset="0"/>
                <a:ea typeface="Trebuchet MS" pitchFamily="34" charset="-122"/>
                <a:cs typeface="Trebuchet MS" pitchFamily="34" charset="-120"/>
              </a:rPr>
              <a:t>CLASSIFICATION</a:t>
            </a:r>
            <a:endParaRPr lang="en-US" sz="4400" dirty="0"/>
          </a:p>
        </p:txBody>
      </p:sp>
      <p:sp>
        <p:nvSpPr>
          <p:cNvPr id="7" name="Text 5"/>
          <p:cNvSpPr/>
          <p:nvPr/>
        </p:nvSpPr>
        <p:spPr>
          <a:xfrm>
            <a:off x="640080" y="2231136"/>
            <a:ext cx="7772400" cy="347472"/>
          </a:xfrm>
          <a:prstGeom prst="rect">
            <a:avLst/>
          </a:prstGeom>
          <a:noFill/>
          <a:ln/>
        </p:spPr>
        <p:txBody>
          <a:bodyPr wrap="square" lIns="0" tIns="0" rIns="0" bIns="0" rtlCol="0" anchor="ctr"/>
          <a:lstStyle/>
          <a:p>
            <a:pPr marL="0" indent="0" algn="l">
              <a:buNone/>
            </a:pPr>
            <a:r>
              <a:rPr lang="en-US" sz="1700" dirty="0">
                <a:solidFill>
                  <a:srgbClr val="CBD5E1"/>
                </a:solidFill>
                <a:latin typeface="Calibri" pitchFamily="34" charset="0"/>
                <a:ea typeface="Calibri" pitchFamily="34" charset="-122"/>
                <a:cs typeface="Calibri" pitchFamily="34" charset="-120"/>
              </a:rPr>
              <a:t>A Comprehensive Machine Learning Study</a:t>
            </a:r>
            <a:endParaRPr lang="en-US" sz="1700" dirty="0"/>
          </a:p>
        </p:txBody>
      </p:sp>
      <p:sp>
        <p:nvSpPr>
          <p:cNvPr id="8" name="Shape 6"/>
          <p:cNvSpPr/>
          <p:nvPr/>
        </p:nvSpPr>
        <p:spPr>
          <a:xfrm>
            <a:off x="640080" y="2743200"/>
            <a:ext cx="2651760" cy="402336"/>
          </a:xfrm>
          <a:prstGeom prst="rect">
            <a:avLst/>
          </a:prstGeom>
          <a:solidFill>
            <a:srgbClr val="1E3A5F"/>
          </a:solidFill>
          <a:ln w="12700">
            <a:solidFill>
              <a:srgbClr val="00C6BE"/>
            </a:solidFill>
            <a:prstDash val="solid"/>
          </a:ln>
        </p:spPr>
        <p:txBody>
          <a:bodyPr/>
          <a:lstStyle/>
          <a:p>
            <a:endParaRPr lang="en-GB"/>
          </a:p>
        </p:txBody>
      </p:sp>
      <p:sp>
        <p:nvSpPr>
          <p:cNvPr id="9" name="Text 7"/>
          <p:cNvSpPr/>
          <p:nvPr/>
        </p:nvSpPr>
        <p:spPr>
          <a:xfrm>
            <a:off x="640080" y="2743200"/>
            <a:ext cx="2651760" cy="402336"/>
          </a:xfrm>
          <a:prstGeom prst="rect">
            <a:avLst/>
          </a:prstGeom>
          <a:noFill/>
          <a:ln/>
        </p:spPr>
        <p:txBody>
          <a:bodyPr wrap="square" lIns="0" tIns="0" rIns="0" bIns="0" rtlCol="0" anchor="ctr"/>
          <a:lstStyle/>
          <a:p>
            <a:pPr marL="0" indent="0" algn="ctr">
              <a:buNone/>
            </a:pPr>
            <a:r>
              <a:rPr lang="en-US" sz="1300" b="1" dirty="0">
                <a:solidFill>
                  <a:srgbClr val="00C6BE"/>
                </a:solidFill>
                <a:latin typeface="Calibri" pitchFamily="34" charset="0"/>
                <a:ea typeface="Calibri" pitchFamily="34" charset="-122"/>
                <a:cs typeface="Calibri" pitchFamily="34" charset="-120"/>
              </a:rPr>
              <a:t>Classical ML</a:t>
            </a:r>
            <a:endParaRPr lang="en-US" sz="1300" dirty="0"/>
          </a:p>
        </p:txBody>
      </p:sp>
      <p:sp>
        <p:nvSpPr>
          <p:cNvPr id="10" name="Shape 8"/>
          <p:cNvSpPr/>
          <p:nvPr/>
        </p:nvSpPr>
        <p:spPr>
          <a:xfrm>
            <a:off x="3474720" y="2743200"/>
            <a:ext cx="2651760" cy="402336"/>
          </a:xfrm>
          <a:prstGeom prst="rect">
            <a:avLst/>
          </a:prstGeom>
          <a:solidFill>
            <a:srgbClr val="1E3A5F"/>
          </a:solidFill>
          <a:ln w="12700">
            <a:solidFill>
              <a:srgbClr val="00C6BE"/>
            </a:solidFill>
            <a:prstDash val="solid"/>
          </a:ln>
        </p:spPr>
        <p:txBody>
          <a:bodyPr/>
          <a:lstStyle/>
          <a:p>
            <a:endParaRPr lang="en-GB"/>
          </a:p>
        </p:txBody>
      </p:sp>
      <p:sp>
        <p:nvSpPr>
          <p:cNvPr id="11" name="Text 9"/>
          <p:cNvSpPr/>
          <p:nvPr/>
        </p:nvSpPr>
        <p:spPr>
          <a:xfrm>
            <a:off x="3474720" y="2743200"/>
            <a:ext cx="2651760" cy="402336"/>
          </a:xfrm>
          <a:prstGeom prst="rect">
            <a:avLst/>
          </a:prstGeom>
          <a:noFill/>
          <a:ln/>
        </p:spPr>
        <p:txBody>
          <a:bodyPr wrap="square" lIns="0" tIns="0" rIns="0" bIns="0" rtlCol="0" anchor="ctr"/>
          <a:lstStyle/>
          <a:p>
            <a:pPr marL="0" indent="0" algn="ctr">
              <a:buNone/>
            </a:pPr>
            <a:r>
              <a:rPr lang="en-US" sz="1300" b="1" dirty="0">
                <a:solidFill>
                  <a:srgbClr val="00C6BE"/>
                </a:solidFill>
                <a:latin typeface="Calibri" pitchFamily="34" charset="0"/>
                <a:ea typeface="Calibri" pitchFamily="34" charset="-122"/>
                <a:cs typeface="Calibri" pitchFamily="34" charset="-120"/>
              </a:rPr>
              <a:t>CNN + Grad-CAM</a:t>
            </a:r>
            <a:endParaRPr lang="en-US" sz="1300" dirty="0"/>
          </a:p>
        </p:txBody>
      </p:sp>
      <p:sp>
        <p:nvSpPr>
          <p:cNvPr id="12" name="Shape 10"/>
          <p:cNvSpPr/>
          <p:nvPr/>
        </p:nvSpPr>
        <p:spPr>
          <a:xfrm>
            <a:off x="6309360" y="2743200"/>
            <a:ext cx="2651760" cy="402336"/>
          </a:xfrm>
          <a:prstGeom prst="rect">
            <a:avLst/>
          </a:prstGeom>
          <a:solidFill>
            <a:srgbClr val="1E3A5F"/>
          </a:solidFill>
          <a:ln w="12700">
            <a:solidFill>
              <a:srgbClr val="00C6BE"/>
            </a:solidFill>
            <a:prstDash val="solid"/>
          </a:ln>
        </p:spPr>
        <p:txBody>
          <a:bodyPr/>
          <a:lstStyle/>
          <a:p>
            <a:endParaRPr lang="en-GB"/>
          </a:p>
        </p:txBody>
      </p:sp>
      <p:sp>
        <p:nvSpPr>
          <p:cNvPr id="13" name="Text 11"/>
          <p:cNvSpPr/>
          <p:nvPr/>
        </p:nvSpPr>
        <p:spPr>
          <a:xfrm>
            <a:off x="6309360" y="2743200"/>
            <a:ext cx="2651760" cy="402336"/>
          </a:xfrm>
          <a:prstGeom prst="rect">
            <a:avLst/>
          </a:prstGeom>
          <a:noFill/>
          <a:ln/>
        </p:spPr>
        <p:txBody>
          <a:bodyPr wrap="square" lIns="0" tIns="0" rIns="0" bIns="0" rtlCol="0" anchor="ctr"/>
          <a:lstStyle/>
          <a:p>
            <a:pPr marL="0" indent="0" algn="ctr">
              <a:buNone/>
            </a:pPr>
            <a:r>
              <a:rPr lang="en-US" sz="1300" b="1" dirty="0">
                <a:solidFill>
                  <a:srgbClr val="00C6BE"/>
                </a:solidFill>
                <a:latin typeface="Calibri" pitchFamily="34" charset="0"/>
                <a:ea typeface="Calibri" pitchFamily="34" charset="-122"/>
                <a:cs typeface="Calibri" pitchFamily="34" charset="-120"/>
              </a:rPr>
              <a:t>Transfer Learning (ResNet50) + LIME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Agenda</a:t>
            </a:r>
            <a:endParaRPr lang="en-US" sz="2700" dirty="0"/>
          </a:p>
        </p:txBody>
      </p:sp>
      <p:sp>
        <p:nvSpPr>
          <p:cNvPr id="4" name="Shape 2"/>
          <p:cNvSpPr/>
          <p:nvPr/>
        </p:nvSpPr>
        <p:spPr>
          <a:xfrm>
            <a:off x="232491" y="950575"/>
            <a:ext cx="4206240" cy="105156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232491" y="950575"/>
            <a:ext cx="640080" cy="1051560"/>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232491" y="950575"/>
            <a:ext cx="640080" cy="1051560"/>
          </a:xfrm>
          <a:prstGeom prst="rect">
            <a:avLst/>
          </a:prstGeom>
          <a:noFill/>
          <a:ln/>
        </p:spPr>
        <p:txBody>
          <a:bodyPr wrap="square" rtlCol="0" anchor="ctr"/>
          <a:lstStyle/>
          <a:p>
            <a:pPr marL="0" indent="0" algn="ctr">
              <a:buNone/>
            </a:pPr>
            <a:r>
              <a:rPr lang="en-US" sz="2000" b="1" dirty="0">
                <a:solidFill>
                  <a:srgbClr val="0B1D35"/>
                </a:solidFill>
                <a:latin typeface="Trebuchet MS" pitchFamily="34" charset="0"/>
                <a:ea typeface="Trebuchet MS" pitchFamily="34" charset="-122"/>
                <a:cs typeface="Trebuchet MS" pitchFamily="34" charset="-120"/>
              </a:rPr>
              <a:t>00</a:t>
            </a:r>
            <a:endParaRPr lang="en-US" sz="2000" dirty="0"/>
          </a:p>
        </p:txBody>
      </p:sp>
      <p:sp>
        <p:nvSpPr>
          <p:cNvPr id="7" name="Text 5"/>
          <p:cNvSpPr/>
          <p:nvPr/>
        </p:nvSpPr>
        <p:spPr>
          <a:xfrm>
            <a:off x="982299" y="1078591"/>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Problem &amp; Data</a:t>
            </a:r>
            <a:endParaRPr lang="en-US" sz="1400" dirty="0"/>
          </a:p>
        </p:txBody>
      </p:sp>
      <p:sp>
        <p:nvSpPr>
          <p:cNvPr id="8" name="Text 6"/>
          <p:cNvSpPr/>
          <p:nvPr/>
        </p:nvSpPr>
        <p:spPr>
          <a:xfrm>
            <a:off x="982299" y="1371199"/>
            <a:ext cx="32918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MRI classification challenge + dataset overview</a:t>
            </a:r>
            <a:endParaRPr lang="en-US" sz="1100" dirty="0"/>
          </a:p>
        </p:txBody>
      </p:sp>
      <p:sp>
        <p:nvSpPr>
          <p:cNvPr id="10" name="Shape 8"/>
          <p:cNvSpPr/>
          <p:nvPr/>
        </p:nvSpPr>
        <p:spPr>
          <a:xfrm>
            <a:off x="232491" y="2139295"/>
            <a:ext cx="4206240" cy="1051560"/>
          </a:xfrm>
          <a:prstGeom prst="rect">
            <a:avLst/>
          </a:prstGeom>
          <a:solidFill>
            <a:srgbClr val="1E3A5F"/>
          </a:solidFill>
          <a:ln w="12700">
            <a:solidFill>
              <a:srgbClr val="00C6BE"/>
            </a:solidFill>
            <a:prstDash val="solid"/>
          </a:ln>
        </p:spPr>
        <p:txBody>
          <a:bodyPr/>
          <a:lstStyle/>
          <a:p>
            <a:endParaRPr lang="en-GB"/>
          </a:p>
        </p:txBody>
      </p:sp>
      <p:sp>
        <p:nvSpPr>
          <p:cNvPr id="11" name="Shape 9"/>
          <p:cNvSpPr/>
          <p:nvPr/>
        </p:nvSpPr>
        <p:spPr>
          <a:xfrm>
            <a:off x="232491" y="2139295"/>
            <a:ext cx="640080" cy="1051560"/>
          </a:xfrm>
          <a:prstGeom prst="rect">
            <a:avLst/>
          </a:prstGeom>
          <a:solidFill>
            <a:srgbClr val="00C6BE"/>
          </a:solidFill>
          <a:ln w="12700">
            <a:solidFill>
              <a:srgbClr val="00C6BE"/>
            </a:solidFill>
            <a:prstDash val="solid"/>
          </a:ln>
        </p:spPr>
        <p:txBody>
          <a:bodyPr/>
          <a:lstStyle/>
          <a:p>
            <a:endParaRPr lang="en-GB"/>
          </a:p>
        </p:txBody>
      </p:sp>
      <p:sp>
        <p:nvSpPr>
          <p:cNvPr id="12" name="Text 10"/>
          <p:cNvSpPr/>
          <p:nvPr/>
        </p:nvSpPr>
        <p:spPr>
          <a:xfrm>
            <a:off x="232491" y="2139295"/>
            <a:ext cx="640080" cy="1051560"/>
          </a:xfrm>
          <a:prstGeom prst="rect">
            <a:avLst/>
          </a:prstGeom>
          <a:noFill/>
          <a:ln/>
        </p:spPr>
        <p:txBody>
          <a:bodyPr wrap="square" rtlCol="0" anchor="ctr"/>
          <a:lstStyle/>
          <a:p>
            <a:pPr marL="0" indent="0" algn="ctr">
              <a:buNone/>
            </a:pPr>
            <a:r>
              <a:rPr lang="en-US" sz="2000" b="1" dirty="0">
                <a:solidFill>
                  <a:srgbClr val="0B1D35"/>
                </a:solidFill>
                <a:latin typeface="Trebuchet MS" pitchFamily="34" charset="0"/>
                <a:ea typeface="Trebuchet MS" pitchFamily="34" charset="-122"/>
                <a:cs typeface="Trebuchet MS" pitchFamily="34" charset="-120"/>
              </a:rPr>
              <a:t>01</a:t>
            </a:r>
            <a:endParaRPr lang="en-US" sz="2000" dirty="0"/>
          </a:p>
        </p:txBody>
      </p:sp>
      <p:sp>
        <p:nvSpPr>
          <p:cNvPr id="13" name="Text 11"/>
          <p:cNvSpPr/>
          <p:nvPr/>
        </p:nvSpPr>
        <p:spPr>
          <a:xfrm>
            <a:off x="982299" y="2267311"/>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Classical ML</a:t>
            </a:r>
            <a:endParaRPr lang="en-US" sz="1400" dirty="0"/>
          </a:p>
        </p:txBody>
      </p:sp>
      <p:sp>
        <p:nvSpPr>
          <p:cNvPr id="14" name="Text 12"/>
          <p:cNvSpPr/>
          <p:nvPr/>
        </p:nvSpPr>
        <p:spPr>
          <a:xfrm>
            <a:off x="982299" y="2559919"/>
            <a:ext cx="32918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HOG/GLCM features · KNN · SVM · Random Forest</a:t>
            </a:r>
            <a:endParaRPr lang="en-US" sz="1100" dirty="0"/>
          </a:p>
        </p:txBody>
      </p:sp>
      <p:sp>
        <p:nvSpPr>
          <p:cNvPr id="16" name="Shape 14"/>
          <p:cNvSpPr/>
          <p:nvPr/>
        </p:nvSpPr>
        <p:spPr>
          <a:xfrm>
            <a:off x="232491" y="3328015"/>
            <a:ext cx="4206240" cy="1051560"/>
          </a:xfrm>
          <a:prstGeom prst="rect">
            <a:avLst/>
          </a:prstGeom>
          <a:solidFill>
            <a:srgbClr val="1E3A5F"/>
          </a:solidFill>
          <a:ln w="12700">
            <a:solidFill>
              <a:srgbClr val="00C6BE"/>
            </a:solidFill>
            <a:prstDash val="solid"/>
          </a:ln>
        </p:spPr>
        <p:txBody>
          <a:bodyPr/>
          <a:lstStyle/>
          <a:p>
            <a:endParaRPr lang="en-GB"/>
          </a:p>
        </p:txBody>
      </p:sp>
      <p:sp>
        <p:nvSpPr>
          <p:cNvPr id="17" name="Shape 15"/>
          <p:cNvSpPr/>
          <p:nvPr/>
        </p:nvSpPr>
        <p:spPr>
          <a:xfrm>
            <a:off x="232491" y="3328015"/>
            <a:ext cx="640080" cy="1051560"/>
          </a:xfrm>
          <a:prstGeom prst="rect">
            <a:avLst/>
          </a:prstGeom>
          <a:solidFill>
            <a:srgbClr val="00C6BE"/>
          </a:solidFill>
          <a:ln w="12700">
            <a:solidFill>
              <a:srgbClr val="00C6BE"/>
            </a:solidFill>
            <a:prstDash val="solid"/>
          </a:ln>
        </p:spPr>
        <p:txBody>
          <a:bodyPr/>
          <a:lstStyle/>
          <a:p>
            <a:endParaRPr lang="en-GB"/>
          </a:p>
        </p:txBody>
      </p:sp>
      <p:sp>
        <p:nvSpPr>
          <p:cNvPr id="18" name="Text 16"/>
          <p:cNvSpPr/>
          <p:nvPr/>
        </p:nvSpPr>
        <p:spPr>
          <a:xfrm>
            <a:off x="232491" y="3328015"/>
            <a:ext cx="640080" cy="1051560"/>
          </a:xfrm>
          <a:prstGeom prst="rect">
            <a:avLst/>
          </a:prstGeom>
          <a:noFill/>
          <a:ln/>
        </p:spPr>
        <p:txBody>
          <a:bodyPr wrap="square" rtlCol="0" anchor="ctr"/>
          <a:lstStyle/>
          <a:p>
            <a:pPr marL="0" indent="0" algn="ctr">
              <a:buNone/>
            </a:pPr>
            <a:r>
              <a:rPr lang="en-US" sz="2000" b="1" dirty="0">
                <a:solidFill>
                  <a:srgbClr val="0B1D35"/>
                </a:solidFill>
                <a:latin typeface="Trebuchet MS" pitchFamily="34" charset="0"/>
                <a:ea typeface="Trebuchet MS" pitchFamily="34" charset="-122"/>
                <a:cs typeface="Trebuchet MS" pitchFamily="34" charset="-120"/>
              </a:rPr>
              <a:t>02</a:t>
            </a:r>
            <a:endParaRPr lang="en-US" sz="2000" dirty="0"/>
          </a:p>
        </p:txBody>
      </p:sp>
      <p:sp>
        <p:nvSpPr>
          <p:cNvPr id="19" name="Text 17"/>
          <p:cNvSpPr/>
          <p:nvPr/>
        </p:nvSpPr>
        <p:spPr>
          <a:xfrm>
            <a:off x="982299" y="3456031"/>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CNN + Grad-CAM</a:t>
            </a:r>
            <a:endParaRPr lang="en-US" sz="1400" dirty="0"/>
          </a:p>
        </p:txBody>
      </p:sp>
      <p:sp>
        <p:nvSpPr>
          <p:cNvPr id="20" name="Text 18"/>
          <p:cNvSpPr/>
          <p:nvPr/>
        </p:nvSpPr>
        <p:spPr>
          <a:xfrm>
            <a:off x="982299" y="3748639"/>
            <a:ext cx="32918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Deep learning + visual explainability</a:t>
            </a:r>
            <a:endParaRPr lang="en-US" sz="1100" dirty="0"/>
          </a:p>
        </p:txBody>
      </p:sp>
      <p:sp>
        <p:nvSpPr>
          <p:cNvPr id="22" name="Shape 20"/>
          <p:cNvSpPr/>
          <p:nvPr/>
        </p:nvSpPr>
        <p:spPr>
          <a:xfrm>
            <a:off x="4713051" y="950575"/>
            <a:ext cx="4206240" cy="1051560"/>
          </a:xfrm>
          <a:prstGeom prst="rect">
            <a:avLst/>
          </a:prstGeom>
          <a:solidFill>
            <a:srgbClr val="1E3A5F"/>
          </a:solidFill>
          <a:ln w="12700">
            <a:solidFill>
              <a:srgbClr val="00C6BE"/>
            </a:solidFill>
            <a:prstDash val="solid"/>
          </a:ln>
        </p:spPr>
        <p:txBody>
          <a:bodyPr/>
          <a:lstStyle/>
          <a:p>
            <a:endParaRPr lang="en-GB"/>
          </a:p>
        </p:txBody>
      </p:sp>
      <p:sp>
        <p:nvSpPr>
          <p:cNvPr id="23" name="Shape 21"/>
          <p:cNvSpPr/>
          <p:nvPr/>
        </p:nvSpPr>
        <p:spPr>
          <a:xfrm>
            <a:off x="4713051" y="950575"/>
            <a:ext cx="640080" cy="1051560"/>
          </a:xfrm>
          <a:prstGeom prst="rect">
            <a:avLst/>
          </a:prstGeom>
          <a:solidFill>
            <a:srgbClr val="00C6BE"/>
          </a:solidFill>
          <a:ln w="12700">
            <a:solidFill>
              <a:srgbClr val="00C6BE"/>
            </a:solidFill>
            <a:prstDash val="solid"/>
          </a:ln>
        </p:spPr>
        <p:txBody>
          <a:bodyPr/>
          <a:lstStyle/>
          <a:p>
            <a:endParaRPr lang="en-GB"/>
          </a:p>
        </p:txBody>
      </p:sp>
      <p:sp>
        <p:nvSpPr>
          <p:cNvPr id="24" name="Text 22"/>
          <p:cNvSpPr/>
          <p:nvPr/>
        </p:nvSpPr>
        <p:spPr>
          <a:xfrm>
            <a:off x="4713051" y="950575"/>
            <a:ext cx="640080" cy="1051560"/>
          </a:xfrm>
          <a:prstGeom prst="rect">
            <a:avLst/>
          </a:prstGeom>
          <a:noFill/>
          <a:ln/>
        </p:spPr>
        <p:txBody>
          <a:bodyPr wrap="square" rtlCol="0" anchor="ctr"/>
          <a:lstStyle/>
          <a:p>
            <a:pPr marL="0" indent="0" algn="ctr">
              <a:buNone/>
            </a:pPr>
            <a:r>
              <a:rPr lang="en-US" sz="2000" b="1" dirty="0">
                <a:solidFill>
                  <a:srgbClr val="0B1D35"/>
                </a:solidFill>
                <a:latin typeface="Trebuchet MS" pitchFamily="34" charset="0"/>
                <a:ea typeface="Trebuchet MS" pitchFamily="34" charset="-122"/>
                <a:cs typeface="Trebuchet MS" pitchFamily="34" charset="-120"/>
              </a:rPr>
              <a:t>03</a:t>
            </a:r>
            <a:endParaRPr lang="en-US" sz="2000" dirty="0"/>
          </a:p>
        </p:txBody>
      </p:sp>
      <p:sp>
        <p:nvSpPr>
          <p:cNvPr id="25" name="Text 23"/>
          <p:cNvSpPr/>
          <p:nvPr/>
        </p:nvSpPr>
        <p:spPr>
          <a:xfrm>
            <a:off x="5462859" y="1078591"/>
            <a:ext cx="329184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Transfer Learning + LIME</a:t>
            </a:r>
            <a:endParaRPr lang="en-US" sz="1400" dirty="0"/>
          </a:p>
        </p:txBody>
      </p:sp>
      <p:sp>
        <p:nvSpPr>
          <p:cNvPr id="26" name="Text 24"/>
          <p:cNvSpPr/>
          <p:nvPr/>
        </p:nvSpPr>
        <p:spPr>
          <a:xfrm>
            <a:off x="5462859" y="1371199"/>
            <a:ext cx="32918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ResNet50 + LIME for model-agnostic explanations</a:t>
            </a:r>
            <a:endParaRPr lang="en-US" sz="1100" dirty="0"/>
          </a:p>
        </p:txBody>
      </p:sp>
      <p:sp>
        <p:nvSpPr>
          <p:cNvPr id="28" name="Shape 26"/>
          <p:cNvSpPr/>
          <p:nvPr/>
        </p:nvSpPr>
        <p:spPr>
          <a:xfrm>
            <a:off x="4713051" y="2139295"/>
            <a:ext cx="4206240" cy="1051560"/>
          </a:xfrm>
          <a:prstGeom prst="rect">
            <a:avLst/>
          </a:prstGeom>
          <a:solidFill>
            <a:srgbClr val="1E3A5F"/>
          </a:solidFill>
          <a:ln w="12700">
            <a:solidFill>
              <a:srgbClr val="00C6BE"/>
            </a:solidFill>
            <a:prstDash val="solid"/>
          </a:ln>
        </p:spPr>
        <p:txBody>
          <a:bodyPr/>
          <a:lstStyle/>
          <a:p>
            <a:endParaRPr lang="en-GB"/>
          </a:p>
        </p:txBody>
      </p:sp>
      <p:sp>
        <p:nvSpPr>
          <p:cNvPr id="29" name="Shape 27"/>
          <p:cNvSpPr/>
          <p:nvPr/>
        </p:nvSpPr>
        <p:spPr>
          <a:xfrm>
            <a:off x="4713051" y="2139295"/>
            <a:ext cx="640080" cy="1051560"/>
          </a:xfrm>
          <a:prstGeom prst="rect">
            <a:avLst/>
          </a:prstGeom>
          <a:solidFill>
            <a:srgbClr val="00C6BE"/>
          </a:solidFill>
          <a:ln w="12700">
            <a:solidFill>
              <a:srgbClr val="00C6BE"/>
            </a:solidFill>
            <a:prstDash val="solid"/>
          </a:ln>
        </p:spPr>
        <p:txBody>
          <a:bodyPr/>
          <a:lstStyle/>
          <a:p>
            <a:endParaRPr lang="en-GB"/>
          </a:p>
        </p:txBody>
      </p:sp>
      <p:sp>
        <p:nvSpPr>
          <p:cNvPr id="30" name="Text 28"/>
          <p:cNvSpPr/>
          <p:nvPr/>
        </p:nvSpPr>
        <p:spPr>
          <a:xfrm>
            <a:off x="4713051" y="2139295"/>
            <a:ext cx="640080" cy="1051560"/>
          </a:xfrm>
          <a:prstGeom prst="rect">
            <a:avLst/>
          </a:prstGeom>
          <a:noFill/>
          <a:ln/>
        </p:spPr>
        <p:txBody>
          <a:bodyPr wrap="square" rtlCol="0" anchor="ctr"/>
          <a:lstStyle/>
          <a:p>
            <a:pPr marL="0" indent="0" algn="ctr">
              <a:buNone/>
            </a:pPr>
            <a:r>
              <a:rPr lang="en-US" sz="2000" b="1" dirty="0">
                <a:solidFill>
                  <a:srgbClr val="0B1D35"/>
                </a:solidFill>
                <a:latin typeface="Trebuchet MS" pitchFamily="34" charset="0"/>
                <a:ea typeface="Trebuchet MS" pitchFamily="34" charset="-122"/>
                <a:cs typeface="Trebuchet MS" pitchFamily="34" charset="-120"/>
              </a:rPr>
              <a:t>04</a:t>
            </a:r>
            <a:endParaRPr lang="en-US" sz="2000" dirty="0"/>
          </a:p>
        </p:txBody>
      </p:sp>
      <p:sp>
        <p:nvSpPr>
          <p:cNvPr id="31" name="Text 29"/>
          <p:cNvSpPr/>
          <p:nvPr/>
        </p:nvSpPr>
        <p:spPr>
          <a:xfrm>
            <a:off x="5462859" y="2267311"/>
            <a:ext cx="3291840" cy="274320"/>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Comparison and Conclusions</a:t>
            </a:r>
            <a:endParaRPr lang="en-US" sz="1400" dirty="0"/>
          </a:p>
        </p:txBody>
      </p:sp>
      <p:sp>
        <p:nvSpPr>
          <p:cNvPr id="32" name="Text 30"/>
          <p:cNvSpPr/>
          <p:nvPr/>
        </p:nvSpPr>
        <p:spPr>
          <a:xfrm>
            <a:off x="5462859" y="2559919"/>
            <a:ext cx="32918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Accuracy, speed, interpretability across all parts</a:t>
            </a:r>
            <a:endParaRPr lang="en-US" sz="1100" dirty="0"/>
          </a:p>
        </p:txBody>
      </p:sp>
      <p:sp>
        <p:nvSpPr>
          <p:cNvPr id="37" name="Text 35"/>
          <p:cNvSpPr/>
          <p:nvPr/>
        </p:nvSpPr>
        <p:spPr>
          <a:xfrm>
            <a:off x="5462859" y="3456031"/>
            <a:ext cx="3291840" cy="274320"/>
          </a:xfrm>
          <a:prstGeom prst="rect">
            <a:avLst/>
          </a:prstGeom>
          <a:noFill/>
          <a:ln/>
        </p:spPr>
        <p:txBody>
          <a:bodyPr wrap="square" lIns="0" tIns="0" rIns="0" bIns="0" rtlCol="0" anchor="ctr"/>
          <a:lstStyle/>
          <a:p>
            <a:pPr marL="0" indent="0">
              <a:buNone/>
            </a:pP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Problem Statement — 4-Class MRI Classification</a:t>
            </a:r>
            <a:endParaRPr lang="en-US" sz="2700" dirty="0"/>
          </a:p>
        </p:txBody>
      </p:sp>
      <p:sp>
        <p:nvSpPr>
          <p:cNvPr id="4" name="Shape 2"/>
          <p:cNvSpPr/>
          <p:nvPr/>
        </p:nvSpPr>
        <p:spPr>
          <a:xfrm>
            <a:off x="320040" y="1173401"/>
            <a:ext cx="4114800" cy="201168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20040" y="1173401"/>
            <a:ext cx="54864" cy="2011680"/>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502920" y="1219121"/>
            <a:ext cx="3657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THE CHALLENGE</a:t>
            </a:r>
            <a:endParaRPr lang="en-US" sz="1000" dirty="0"/>
          </a:p>
        </p:txBody>
      </p:sp>
      <p:sp>
        <p:nvSpPr>
          <p:cNvPr id="7" name="Text 5"/>
          <p:cNvSpPr/>
          <p:nvPr/>
        </p:nvSpPr>
        <p:spPr>
          <a:xfrm>
            <a:off x="502920" y="1493441"/>
            <a:ext cx="3840480" cy="1572768"/>
          </a:xfrm>
          <a:prstGeom prst="rect">
            <a:avLst/>
          </a:prstGeom>
          <a:noFill/>
          <a:ln/>
        </p:spPr>
        <p:txBody>
          <a:bodyPr wrap="square" rtlCol="0" anchor="t"/>
          <a:lstStyle/>
          <a:p>
            <a:pPr marL="0" indent="0">
              <a:buNone/>
            </a:pPr>
            <a:r>
              <a:rPr lang="en-US" sz="1200" dirty="0">
                <a:solidFill>
                  <a:srgbClr val="CBD5E1"/>
                </a:solidFill>
                <a:latin typeface="Calibri" pitchFamily="34" charset="0"/>
                <a:ea typeface="Calibri" pitchFamily="34" charset="-122"/>
                <a:cs typeface="Calibri" pitchFamily="34" charset="-120"/>
              </a:rPr>
              <a:t>Brain tumors require accurate classification for effective treatment planning. Manual MRI diagnosis is time-consuming and error-prone.</a:t>
            </a:r>
            <a:endParaRPr lang="en-US" sz="1200" dirty="0"/>
          </a:p>
          <a:p>
            <a:pPr marL="0" indent="0">
              <a:buNone/>
            </a:pPr>
            <a:endParaRPr lang="en-US" sz="1200" dirty="0"/>
          </a:p>
          <a:p>
            <a:pPr marL="0" indent="0">
              <a:buNone/>
            </a:pPr>
            <a:r>
              <a:rPr lang="en-US" sz="1200" dirty="0">
                <a:solidFill>
                  <a:srgbClr val="CBD5E1"/>
                </a:solidFill>
                <a:latin typeface="Calibri" pitchFamily="34" charset="0"/>
                <a:ea typeface="Calibri" pitchFamily="34" charset="-122"/>
                <a:cs typeface="Calibri" pitchFamily="34" charset="-120"/>
              </a:rPr>
              <a:t>This project builds and compares multiple ML pipelines for automated multiclass tumor classification.</a:t>
            </a:r>
            <a:endParaRPr lang="en-US" sz="1200" dirty="0"/>
          </a:p>
        </p:txBody>
      </p:sp>
      <p:sp>
        <p:nvSpPr>
          <p:cNvPr id="8" name="Text 6"/>
          <p:cNvSpPr/>
          <p:nvPr/>
        </p:nvSpPr>
        <p:spPr>
          <a:xfrm>
            <a:off x="4709160" y="1173401"/>
            <a:ext cx="420624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4-CLASS CLASSIFICATION TASK</a:t>
            </a:r>
            <a:endParaRPr lang="en-US" sz="1000" dirty="0"/>
          </a:p>
        </p:txBody>
      </p:sp>
      <p:sp>
        <p:nvSpPr>
          <p:cNvPr id="9" name="Shape 7"/>
          <p:cNvSpPr/>
          <p:nvPr/>
        </p:nvSpPr>
        <p:spPr>
          <a:xfrm>
            <a:off x="4709160" y="1484297"/>
            <a:ext cx="4114800" cy="457200"/>
          </a:xfrm>
          <a:prstGeom prst="rect">
            <a:avLst/>
          </a:prstGeom>
          <a:solidFill>
            <a:srgbClr val="1E3A5F"/>
          </a:solidFill>
          <a:ln w="12700">
            <a:solidFill>
              <a:srgbClr val="00C6BE"/>
            </a:solidFill>
            <a:prstDash val="solid"/>
          </a:ln>
        </p:spPr>
        <p:txBody>
          <a:bodyPr/>
          <a:lstStyle/>
          <a:p>
            <a:endParaRPr lang="en-GB"/>
          </a:p>
        </p:txBody>
      </p:sp>
      <p:sp>
        <p:nvSpPr>
          <p:cNvPr id="10" name="Shape 8"/>
          <p:cNvSpPr/>
          <p:nvPr/>
        </p:nvSpPr>
        <p:spPr>
          <a:xfrm>
            <a:off x="4709160" y="1484297"/>
            <a:ext cx="54864" cy="457200"/>
          </a:xfrm>
          <a:prstGeom prst="rect">
            <a:avLst/>
          </a:prstGeom>
          <a:solidFill>
            <a:srgbClr val="EF4444"/>
          </a:solidFill>
          <a:ln w="12700">
            <a:solidFill>
              <a:srgbClr val="EF4444"/>
            </a:solidFill>
            <a:prstDash val="solid"/>
          </a:ln>
        </p:spPr>
        <p:txBody>
          <a:bodyPr/>
          <a:lstStyle/>
          <a:p>
            <a:endParaRPr lang="en-GB"/>
          </a:p>
        </p:txBody>
      </p:sp>
      <p:sp>
        <p:nvSpPr>
          <p:cNvPr id="11" name="Text 9"/>
          <p:cNvSpPr/>
          <p:nvPr/>
        </p:nvSpPr>
        <p:spPr>
          <a:xfrm>
            <a:off x="4864608" y="1520873"/>
            <a:ext cx="2011680" cy="2011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Glioma</a:t>
            </a:r>
            <a:endParaRPr lang="en-US" sz="1300" dirty="0"/>
          </a:p>
        </p:txBody>
      </p:sp>
      <p:sp>
        <p:nvSpPr>
          <p:cNvPr id="12" name="Text 10"/>
          <p:cNvSpPr/>
          <p:nvPr/>
        </p:nvSpPr>
        <p:spPr>
          <a:xfrm>
            <a:off x="4864608" y="1731185"/>
            <a:ext cx="3840480" cy="18288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Tumor from brain's glial cells</a:t>
            </a:r>
            <a:endParaRPr lang="en-US" sz="1100" dirty="0"/>
          </a:p>
        </p:txBody>
      </p:sp>
      <p:sp>
        <p:nvSpPr>
          <p:cNvPr id="13" name="Shape 11"/>
          <p:cNvSpPr/>
          <p:nvPr/>
        </p:nvSpPr>
        <p:spPr>
          <a:xfrm>
            <a:off x="4709160" y="2014649"/>
            <a:ext cx="4114800" cy="457200"/>
          </a:xfrm>
          <a:prstGeom prst="rect">
            <a:avLst/>
          </a:prstGeom>
          <a:solidFill>
            <a:srgbClr val="1E3A5F"/>
          </a:solidFill>
          <a:ln w="12700">
            <a:solidFill>
              <a:srgbClr val="00C6BE"/>
            </a:solidFill>
            <a:prstDash val="solid"/>
          </a:ln>
        </p:spPr>
        <p:txBody>
          <a:bodyPr/>
          <a:lstStyle/>
          <a:p>
            <a:endParaRPr lang="en-GB"/>
          </a:p>
        </p:txBody>
      </p:sp>
      <p:sp>
        <p:nvSpPr>
          <p:cNvPr id="14" name="Shape 12"/>
          <p:cNvSpPr/>
          <p:nvPr/>
        </p:nvSpPr>
        <p:spPr>
          <a:xfrm>
            <a:off x="4709160" y="2014649"/>
            <a:ext cx="54864" cy="457200"/>
          </a:xfrm>
          <a:prstGeom prst="rect">
            <a:avLst/>
          </a:prstGeom>
          <a:solidFill>
            <a:srgbClr val="FACC15"/>
          </a:solidFill>
          <a:ln w="12700">
            <a:solidFill>
              <a:srgbClr val="FACC15"/>
            </a:solidFill>
            <a:prstDash val="solid"/>
          </a:ln>
        </p:spPr>
        <p:txBody>
          <a:bodyPr/>
          <a:lstStyle/>
          <a:p>
            <a:endParaRPr lang="en-GB"/>
          </a:p>
        </p:txBody>
      </p:sp>
      <p:sp>
        <p:nvSpPr>
          <p:cNvPr id="15" name="Text 13"/>
          <p:cNvSpPr/>
          <p:nvPr/>
        </p:nvSpPr>
        <p:spPr>
          <a:xfrm>
            <a:off x="4864608" y="2051225"/>
            <a:ext cx="2011680" cy="2011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Meningioma</a:t>
            </a:r>
            <a:endParaRPr lang="en-US" sz="1300" dirty="0"/>
          </a:p>
        </p:txBody>
      </p:sp>
      <p:sp>
        <p:nvSpPr>
          <p:cNvPr id="16" name="Text 14"/>
          <p:cNvSpPr/>
          <p:nvPr/>
        </p:nvSpPr>
        <p:spPr>
          <a:xfrm>
            <a:off x="4864608" y="2261537"/>
            <a:ext cx="3840480" cy="18288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Tumor in protective brain membranes</a:t>
            </a:r>
            <a:endParaRPr lang="en-US" sz="1100" dirty="0"/>
          </a:p>
        </p:txBody>
      </p:sp>
      <p:sp>
        <p:nvSpPr>
          <p:cNvPr id="17" name="Shape 15"/>
          <p:cNvSpPr/>
          <p:nvPr/>
        </p:nvSpPr>
        <p:spPr>
          <a:xfrm>
            <a:off x="4709160" y="2545001"/>
            <a:ext cx="4114800" cy="457200"/>
          </a:xfrm>
          <a:prstGeom prst="rect">
            <a:avLst/>
          </a:prstGeom>
          <a:solidFill>
            <a:srgbClr val="1E3A5F"/>
          </a:solidFill>
          <a:ln w="12700">
            <a:solidFill>
              <a:srgbClr val="00C6BE"/>
            </a:solidFill>
            <a:prstDash val="solid"/>
          </a:ln>
        </p:spPr>
        <p:txBody>
          <a:bodyPr/>
          <a:lstStyle/>
          <a:p>
            <a:endParaRPr lang="en-GB"/>
          </a:p>
        </p:txBody>
      </p:sp>
      <p:sp>
        <p:nvSpPr>
          <p:cNvPr id="18" name="Shape 16"/>
          <p:cNvSpPr/>
          <p:nvPr/>
        </p:nvSpPr>
        <p:spPr>
          <a:xfrm>
            <a:off x="4709160" y="2545001"/>
            <a:ext cx="54864" cy="457200"/>
          </a:xfrm>
          <a:prstGeom prst="rect">
            <a:avLst/>
          </a:prstGeom>
          <a:solidFill>
            <a:srgbClr val="22C55E"/>
          </a:solidFill>
          <a:ln w="12700">
            <a:solidFill>
              <a:srgbClr val="22C55E"/>
            </a:solidFill>
            <a:prstDash val="solid"/>
          </a:ln>
        </p:spPr>
        <p:txBody>
          <a:bodyPr/>
          <a:lstStyle/>
          <a:p>
            <a:endParaRPr lang="en-GB"/>
          </a:p>
        </p:txBody>
      </p:sp>
      <p:sp>
        <p:nvSpPr>
          <p:cNvPr id="19" name="Text 17"/>
          <p:cNvSpPr/>
          <p:nvPr/>
        </p:nvSpPr>
        <p:spPr>
          <a:xfrm>
            <a:off x="4864608" y="2581577"/>
            <a:ext cx="2011680" cy="2011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 Tumor</a:t>
            </a:r>
            <a:endParaRPr lang="en-US" sz="1300" dirty="0"/>
          </a:p>
        </p:txBody>
      </p:sp>
      <p:sp>
        <p:nvSpPr>
          <p:cNvPr id="20" name="Text 18"/>
          <p:cNvSpPr/>
          <p:nvPr/>
        </p:nvSpPr>
        <p:spPr>
          <a:xfrm>
            <a:off x="4864608" y="2791889"/>
            <a:ext cx="3840480" cy="18288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MRI with no detectable brain tumor</a:t>
            </a:r>
            <a:endParaRPr lang="en-US" sz="1100" dirty="0"/>
          </a:p>
        </p:txBody>
      </p:sp>
      <p:sp>
        <p:nvSpPr>
          <p:cNvPr id="21" name="Shape 19"/>
          <p:cNvSpPr/>
          <p:nvPr/>
        </p:nvSpPr>
        <p:spPr>
          <a:xfrm>
            <a:off x="4709160" y="3075353"/>
            <a:ext cx="4114800" cy="457200"/>
          </a:xfrm>
          <a:prstGeom prst="rect">
            <a:avLst/>
          </a:prstGeom>
          <a:solidFill>
            <a:srgbClr val="1E3A5F"/>
          </a:solidFill>
          <a:ln w="12700">
            <a:solidFill>
              <a:srgbClr val="00C6BE"/>
            </a:solidFill>
            <a:prstDash val="solid"/>
          </a:ln>
        </p:spPr>
        <p:txBody>
          <a:bodyPr/>
          <a:lstStyle/>
          <a:p>
            <a:endParaRPr lang="en-GB"/>
          </a:p>
        </p:txBody>
      </p:sp>
      <p:sp>
        <p:nvSpPr>
          <p:cNvPr id="22" name="Shape 20"/>
          <p:cNvSpPr/>
          <p:nvPr/>
        </p:nvSpPr>
        <p:spPr>
          <a:xfrm>
            <a:off x="4709160" y="3075353"/>
            <a:ext cx="54864" cy="457200"/>
          </a:xfrm>
          <a:prstGeom prst="rect">
            <a:avLst/>
          </a:prstGeom>
          <a:solidFill>
            <a:srgbClr val="00C6BE"/>
          </a:solidFill>
          <a:ln w="12700">
            <a:solidFill>
              <a:srgbClr val="00C6BE"/>
            </a:solidFill>
            <a:prstDash val="solid"/>
          </a:ln>
        </p:spPr>
        <p:txBody>
          <a:bodyPr/>
          <a:lstStyle/>
          <a:p>
            <a:endParaRPr lang="en-GB"/>
          </a:p>
        </p:txBody>
      </p:sp>
      <p:sp>
        <p:nvSpPr>
          <p:cNvPr id="23" name="Text 21"/>
          <p:cNvSpPr/>
          <p:nvPr/>
        </p:nvSpPr>
        <p:spPr>
          <a:xfrm>
            <a:off x="4864608" y="3111929"/>
            <a:ext cx="2011680" cy="2011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Pituitary</a:t>
            </a:r>
            <a:endParaRPr lang="en-US" sz="1300" dirty="0"/>
          </a:p>
        </p:txBody>
      </p:sp>
      <p:sp>
        <p:nvSpPr>
          <p:cNvPr id="24" name="Text 22"/>
          <p:cNvSpPr/>
          <p:nvPr/>
        </p:nvSpPr>
        <p:spPr>
          <a:xfrm>
            <a:off x="4864608" y="3322241"/>
            <a:ext cx="3840480" cy="18288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Tumor in pituitary gland at brain's base</a:t>
            </a:r>
            <a:endParaRPr lang="en-US" sz="1100" dirty="0"/>
          </a:p>
        </p:txBody>
      </p:sp>
      <p:sp>
        <p:nvSpPr>
          <p:cNvPr id="25" name="Text 23"/>
          <p:cNvSpPr/>
          <p:nvPr/>
        </p:nvSpPr>
        <p:spPr>
          <a:xfrm>
            <a:off x="320040" y="3331385"/>
            <a:ext cx="8229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KEY OBJECTIVES</a:t>
            </a:r>
            <a:endParaRPr lang="en-US" sz="1000" dirty="0"/>
          </a:p>
        </p:txBody>
      </p:sp>
      <p:sp>
        <p:nvSpPr>
          <p:cNvPr id="26" name="Shape 24"/>
          <p:cNvSpPr/>
          <p:nvPr/>
        </p:nvSpPr>
        <p:spPr>
          <a:xfrm>
            <a:off x="320040" y="3596561"/>
            <a:ext cx="2057400" cy="594360"/>
          </a:xfrm>
          <a:prstGeom prst="rect">
            <a:avLst/>
          </a:prstGeom>
          <a:solidFill>
            <a:srgbClr val="1E3A5F"/>
          </a:solidFill>
          <a:ln w="12700">
            <a:solidFill>
              <a:srgbClr val="00C6BE"/>
            </a:solidFill>
            <a:prstDash val="solid"/>
          </a:ln>
        </p:spPr>
        <p:txBody>
          <a:bodyPr/>
          <a:lstStyle/>
          <a:p>
            <a:endParaRPr lang="en-GB"/>
          </a:p>
        </p:txBody>
      </p:sp>
      <p:sp>
        <p:nvSpPr>
          <p:cNvPr id="27" name="Text 25"/>
          <p:cNvSpPr/>
          <p:nvPr/>
        </p:nvSpPr>
        <p:spPr>
          <a:xfrm>
            <a:off x="411480" y="3642281"/>
            <a:ext cx="1874520" cy="512064"/>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Compare Classical vs Deep Learning</a:t>
            </a:r>
            <a:endParaRPr lang="en-US" sz="1100" dirty="0"/>
          </a:p>
        </p:txBody>
      </p:sp>
      <p:sp>
        <p:nvSpPr>
          <p:cNvPr id="28" name="Shape 26"/>
          <p:cNvSpPr/>
          <p:nvPr/>
        </p:nvSpPr>
        <p:spPr>
          <a:xfrm>
            <a:off x="2514600" y="3596561"/>
            <a:ext cx="2057400" cy="594360"/>
          </a:xfrm>
          <a:prstGeom prst="rect">
            <a:avLst/>
          </a:prstGeom>
          <a:solidFill>
            <a:srgbClr val="1E3A5F"/>
          </a:solidFill>
          <a:ln w="12700">
            <a:solidFill>
              <a:srgbClr val="00C6BE"/>
            </a:solidFill>
            <a:prstDash val="solid"/>
          </a:ln>
        </p:spPr>
        <p:txBody>
          <a:bodyPr/>
          <a:lstStyle/>
          <a:p>
            <a:endParaRPr lang="en-GB"/>
          </a:p>
        </p:txBody>
      </p:sp>
      <p:sp>
        <p:nvSpPr>
          <p:cNvPr id="29" name="Text 27"/>
          <p:cNvSpPr/>
          <p:nvPr/>
        </p:nvSpPr>
        <p:spPr>
          <a:xfrm>
            <a:off x="2606040" y="3642281"/>
            <a:ext cx="1874520" cy="512064"/>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Develop Explainable AI models</a:t>
            </a:r>
            <a:endParaRPr lang="en-US" sz="1100" dirty="0"/>
          </a:p>
        </p:txBody>
      </p:sp>
      <p:sp>
        <p:nvSpPr>
          <p:cNvPr id="30" name="Shape 28"/>
          <p:cNvSpPr/>
          <p:nvPr/>
        </p:nvSpPr>
        <p:spPr>
          <a:xfrm>
            <a:off x="4709160" y="3596561"/>
            <a:ext cx="2057400" cy="594360"/>
          </a:xfrm>
          <a:prstGeom prst="rect">
            <a:avLst/>
          </a:prstGeom>
          <a:solidFill>
            <a:srgbClr val="1E3A5F"/>
          </a:solidFill>
          <a:ln w="12700">
            <a:solidFill>
              <a:srgbClr val="00C6BE"/>
            </a:solidFill>
            <a:prstDash val="solid"/>
          </a:ln>
        </p:spPr>
        <p:txBody>
          <a:bodyPr/>
          <a:lstStyle/>
          <a:p>
            <a:endParaRPr lang="en-GB"/>
          </a:p>
        </p:txBody>
      </p:sp>
      <p:sp>
        <p:nvSpPr>
          <p:cNvPr id="31" name="Text 29"/>
          <p:cNvSpPr/>
          <p:nvPr/>
        </p:nvSpPr>
        <p:spPr>
          <a:xfrm>
            <a:off x="4800600" y="3642281"/>
            <a:ext cx="1874520" cy="512064"/>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Evaluate multi-architecture accuracy</a:t>
            </a:r>
            <a:endParaRPr lang="en-US" sz="1100" dirty="0"/>
          </a:p>
        </p:txBody>
      </p:sp>
      <p:sp>
        <p:nvSpPr>
          <p:cNvPr id="32" name="Shape 30"/>
          <p:cNvSpPr/>
          <p:nvPr/>
        </p:nvSpPr>
        <p:spPr>
          <a:xfrm>
            <a:off x="6903720" y="3596561"/>
            <a:ext cx="2057400" cy="594360"/>
          </a:xfrm>
          <a:prstGeom prst="rect">
            <a:avLst/>
          </a:prstGeom>
          <a:solidFill>
            <a:srgbClr val="1E3A5F"/>
          </a:solidFill>
          <a:ln w="12700">
            <a:solidFill>
              <a:srgbClr val="00C6BE"/>
            </a:solidFill>
            <a:prstDash val="solid"/>
          </a:ln>
        </p:spPr>
        <p:txBody>
          <a:bodyPr/>
          <a:lstStyle/>
          <a:p>
            <a:endParaRPr lang="en-GB"/>
          </a:p>
        </p:txBody>
      </p:sp>
      <p:sp>
        <p:nvSpPr>
          <p:cNvPr id="33" name="Text 31"/>
          <p:cNvSpPr/>
          <p:nvPr/>
        </p:nvSpPr>
        <p:spPr>
          <a:xfrm>
            <a:off x="6995160" y="3642281"/>
            <a:ext cx="1874520" cy="512064"/>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Identify tumor-relevant image regions</a:t>
            </a:r>
            <a:endParaRPr lang="en-US" sz="1100" dirty="0"/>
          </a:p>
        </p:txBody>
      </p:sp>
      <p:sp>
        <p:nvSpPr>
          <p:cNvPr id="38" name="Action Button: Go Forward or Next 37">
            <a:hlinkClick r:id="rId3" action="ppaction://hlinksldjump" highlightClick="1">
              <a:snd r:embed="rId4" name="whoosh.wav"/>
            </a:hlinkClick>
            <a:extLst>
              <a:ext uri="{FF2B5EF4-FFF2-40B4-BE49-F238E27FC236}">
                <a16:creationId xmlns:a16="http://schemas.microsoft.com/office/drawing/2014/main" id="{727B9CCD-4284-84D4-EFD8-1940F7EDE435}"/>
              </a:ext>
            </a:extLst>
          </p:cNvPr>
          <p:cNvSpPr/>
          <p:nvPr/>
        </p:nvSpPr>
        <p:spPr>
          <a:xfrm>
            <a:off x="6357034" y="1152925"/>
            <a:ext cx="296984" cy="29698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164592"/>
            <a:ext cx="8229600" cy="530352"/>
          </a:xfrm>
          <a:prstGeom prst="rect">
            <a:avLst/>
          </a:prstGeom>
          <a:noFill/>
          <a:ln/>
        </p:spPr>
        <p:txBody>
          <a:bodyPr wrap="square" lIns="0" tIns="0" rIns="0" bIns="0" rtlCol="0" anchor="ctr"/>
          <a:lstStyle/>
          <a:p>
            <a:pPr lvl="0"/>
            <a:r>
              <a:rPr lang="en-US" sz="2700" b="1" dirty="0">
                <a:solidFill>
                  <a:srgbClr val="FFFFFF"/>
                </a:solidFill>
                <a:latin typeface="Trebuchet MS" pitchFamily="34" charset="0"/>
                <a:ea typeface="Trebuchet MS" pitchFamily="34" charset="-122"/>
                <a:cs typeface="Trebuchet MS" pitchFamily="34" charset="-120"/>
              </a:rPr>
              <a:t>Part 1 · </a:t>
            </a: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Dataset &amp; Preprocessing Pipeline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320040" y="841248"/>
            <a:ext cx="8503920" cy="8686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502920" y="886968"/>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DATASET: Dataset_MRI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14300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Well-balanced class distribution across all 4 categories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2920" y="132588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Variable image sizes → all resized to 128 × 128 for consistency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150876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Mixed colour modes (grayscale &amp; RGB) → converted to RGB then grayscale for feature extraction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320040" y="1874520"/>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PREPROCESSING PIPELINE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32004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32004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9319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Load Images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1737360" y="2468880"/>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178308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178308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85623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RGB → Grayscale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3200400" y="2468880"/>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324612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324612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31927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Resize 128×128</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4663440" y="2468880"/>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470916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470916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78231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Normalize [0,1]</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6126480" y="2468880"/>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617220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617220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24535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HOG + GLCM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Features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7589520" y="2468880"/>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7635240" y="2148840"/>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7635240" y="2167128"/>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7708392" y="2212848"/>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StandardScaler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PCA</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320040" y="2944368"/>
            <a:ext cx="8229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PCA DIMENSIONALITY REDUCTION (95% variance retained)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320040" y="3218688"/>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320040" y="3264408"/>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8,106</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320040" y="3721608"/>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Original Dimensions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2514600" y="3218688"/>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2514600" y="3264408"/>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1,622</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2514600" y="3721608"/>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Reduced Dimensions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4709160" y="3218688"/>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4709160" y="3264408"/>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95%</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p:nvPr/>
        </p:nvSpPr>
        <p:spPr>
          <a:xfrm>
            <a:off x="4709160" y="3721608"/>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Variance Retained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p:cNvSpPr/>
          <p:nvPr/>
        </p:nvSpPr>
        <p:spPr>
          <a:xfrm>
            <a:off x="6903720" y="3218688"/>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6903720" y="3264408"/>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5×</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6903720" y="3721608"/>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Reduction Ratio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Action Button: Go Forward or Next 45">
            <a:hlinkClick r:id="rId3" action="ppaction://hlinksldjump" highlightClick="1">
              <a:snd r:embed="rId4" name="whoosh.wav"/>
            </a:hlinkClick>
            <a:extLst>
              <a:ext uri="{FF2B5EF4-FFF2-40B4-BE49-F238E27FC236}">
                <a16:creationId xmlns:a16="http://schemas.microsoft.com/office/drawing/2014/main" id="{214D2636-FBE6-00DB-CB02-B37B0BE484E8}"/>
              </a:ext>
            </a:extLst>
          </p:cNvPr>
          <p:cNvSpPr/>
          <p:nvPr/>
        </p:nvSpPr>
        <p:spPr>
          <a:xfrm>
            <a:off x="1783080" y="901974"/>
            <a:ext cx="211171" cy="22164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Action Button: Go Forward or Next 46">
            <a:hlinkClick r:id="rId5" action="ppaction://hlinksldjump" highlightClick="1">
              <a:snd r:embed="rId4" name="whoosh.wav"/>
            </a:hlinkClick>
            <a:extLst>
              <a:ext uri="{FF2B5EF4-FFF2-40B4-BE49-F238E27FC236}">
                <a16:creationId xmlns:a16="http://schemas.microsoft.com/office/drawing/2014/main" id="{F83A6902-E4BB-E491-3566-9F968F779808}"/>
              </a:ext>
            </a:extLst>
          </p:cNvPr>
          <p:cNvSpPr/>
          <p:nvPr/>
        </p:nvSpPr>
        <p:spPr>
          <a:xfrm>
            <a:off x="6217061" y="2530700"/>
            <a:ext cx="211171" cy="22164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1 · Classical ML — Model Comparison &amp; Results</a:t>
            </a:r>
            <a:endParaRPr lang="en-US" sz="2700" dirty="0"/>
          </a:p>
        </p:txBody>
      </p:sp>
      <p:sp>
        <p:nvSpPr>
          <p:cNvPr id="4" name="Text 2"/>
          <p:cNvSpPr/>
          <p:nvPr/>
        </p:nvSpPr>
        <p:spPr>
          <a:xfrm>
            <a:off x="320040" y="850392"/>
            <a:ext cx="8229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THREE CLASSIFIERS — DEFAULT vs TUNED (5-Fold GridSearchCV)</a:t>
            </a:r>
            <a:endParaRPr lang="en-US" sz="1000" dirty="0"/>
          </a:p>
        </p:txBody>
      </p:sp>
      <p:sp>
        <p:nvSpPr>
          <p:cNvPr id="5" name="Shape 3"/>
          <p:cNvSpPr/>
          <p:nvPr/>
        </p:nvSpPr>
        <p:spPr>
          <a:xfrm>
            <a:off x="320040" y="1097280"/>
            <a:ext cx="2834640" cy="1554480"/>
          </a:xfrm>
          <a:prstGeom prst="rect">
            <a:avLst/>
          </a:prstGeom>
          <a:solidFill>
            <a:srgbClr val="1E3A5F"/>
          </a:solidFill>
          <a:ln w="12700">
            <a:solidFill>
              <a:srgbClr val="00C6BE"/>
            </a:solidFill>
            <a:prstDash val="solid"/>
          </a:ln>
        </p:spPr>
        <p:txBody>
          <a:bodyPr/>
          <a:lstStyle/>
          <a:p>
            <a:endParaRPr lang="en-GB"/>
          </a:p>
        </p:txBody>
      </p:sp>
      <p:sp>
        <p:nvSpPr>
          <p:cNvPr id="6" name="Shape 4"/>
          <p:cNvSpPr/>
          <p:nvPr/>
        </p:nvSpPr>
        <p:spPr>
          <a:xfrm>
            <a:off x="320040" y="1097280"/>
            <a:ext cx="2834640" cy="329184"/>
          </a:xfrm>
          <a:prstGeom prst="rect">
            <a:avLst/>
          </a:prstGeom>
          <a:solidFill>
            <a:srgbClr val="1E3A5F"/>
          </a:solidFill>
          <a:ln w="12700">
            <a:solidFill>
              <a:srgbClr val="1E3A5F"/>
            </a:solidFill>
            <a:prstDash val="solid"/>
          </a:ln>
        </p:spPr>
        <p:txBody>
          <a:bodyPr/>
          <a:lstStyle/>
          <a:p>
            <a:endParaRPr lang="en-GB"/>
          </a:p>
        </p:txBody>
      </p:sp>
      <p:sp>
        <p:nvSpPr>
          <p:cNvPr id="7" name="Text 5"/>
          <p:cNvSpPr/>
          <p:nvPr/>
        </p:nvSpPr>
        <p:spPr>
          <a:xfrm>
            <a:off x="411480" y="1097280"/>
            <a:ext cx="2651760" cy="32918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KNN</a:t>
            </a:r>
            <a:endParaRPr lang="en-US" sz="1400" dirty="0"/>
          </a:p>
        </p:txBody>
      </p:sp>
      <p:sp>
        <p:nvSpPr>
          <p:cNvPr id="8" name="Text 6"/>
          <p:cNvSpPr/>
          <p:nvPr/>
        </p:nvSpPr>
        <p:spPr>
          <a:xfrm>
            <a:off x="411480" y="1463040"/>
            <a:ext cx="265176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Distance-based proximity</a:t>
            </a:r>
            <a:endParaRPr lang="en-US" sz="1100" dirty="0"/>
          </a:p>
        </p:txBody>
      </p:sp>
      <p:sp>
        <p:nvSpPr>
          <p:cNvPr id="9" name="Text 7"/>
          <p:cNvSpPr/>
          <p:nvPr/>
        </p:nvSpPr>
        <p:spPr>
          <a:xfrm>
            <a:off x="411480" y="1737360"/>
            <a:ext cx="2651760" cy="182880"/>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Best CV Score</a:t>
            </a:r>
            <a:endParaRPr lang="en-US" sz="1000" dirty="0"/>
          </a:p>
        </p:txBody>
      </p:sp>
      <p:sp>
        <p:nvSpPr>
          <p:cNvPr id="10" name="Text 8"/>
          <p:cNvSpPr/>
          <p:nvPr/>
        </p:nvSpPr>
        <p:spPr>
          <a:xfrm>
            <a:off x="411480" y="1920240"/>
            <a:ext cx="2651760" cy="329184"/>
          </a:xfrm>
          <a:prstGeom prst="rect">
            <a:avLst/>
          </a:prstGeom>
          <a:noFill/>
          <a:ln/>
        </p:spPr>
        <p:txBody>
          <a:bodyPr wrap="square" lIns="0" tIns="0" rIns="0" bIns="0" rtlCol="0" anchor="ctr"/>
          <a:lstStyle/>
          <a:p>
            <a:pPr marL="0" indent="0">
              <a:buNone/>
            </a:pPr>
            <a:r>
              <a:rPr lang="en-US" sz="2200" b="1" dirty="0">
                <a:solidFill>
                  <a:srgbClr val="CBD5E1"/>
                </a:solidFill>
                <a:latin typeface="Trebuchet MS" pitchFamily="34" charset="0"/>
                <a:ea typeface="Trebuchet MS" pitchFamily="34" charset="-122"/>
                <a:cs typeface="Trebuchet MS" pitchFamily="34" charset="-120"/>
              </a:rPr>
              <a:t>93.93%</a:t>
            </a:r>
            <a:endParaRPr lang="en-US" sz="2200" dirty="0"/>
          </a:p>
        </p:txBody>
      </p:sp>
      <p:sp>
        <p:nvSpPr>
          <p:cNvPr id="11" name="Text 9"/>
          <p:cNvSpPr/>
          <p:nvPr/>
        </p:nvSpPr>
        <p:spPr>
          <a:xfrm>
            <a:off x="411480" y="2286000"/>
            <a:ext cx="2651760" cy="292608"/>
          </a:xfrm>
          <a:prstGeom prst="rect">
            <a:avLst/>
          </a:prstGeom>
          <a:noFill/>
          <a:ln/>
        </p:spPr>
        <p:txBody>
          <a:bodyPr wrap="square" lIns="0" tIns="0" rIns="0" bIns="0" rtlCol="0" anchor="ctr"/>
          <a:lstStyle/>
          <a:p>
            <a:pPr marL="0" indent="0">
              <a:buNone/>
            </a:pPr>
            <a:r>
              <a:rPr lang="en-US" sz="950" dirty="0">
                <a:solidFill>
                  <a:srgbClr val="94A3B8"/>
                </a:solidFill>
                <a:latin typeface="Consolas" pitchFamily="34" charset="0"/>
                <a:ea typeface="Consolas" pitchFamily="34" charset="-122"/>
                <a:cs typeface="Consolas" pitchFamily="34" charset="-120"/>
              </a:rPr>
              <a:t>k=3, metric=euclidean, weights=distance</a:t>
            </a:r>
            <a:endParaRPr lang="en-US" sz="950" dirty="0"/>
          </a:p>
        </p:txBody>
      </p:sp>
      <p:sp>
        <p:nvSpPr>
          <p:cNvPr id="12" name="Shape 10"/>
          <p:cNvSpPr/>
          <p:nvPr/>
        </p:nvSpPr>
        <p:spPr>
          <a:xfrm>
            <a:off x="3291840" y="1097280"/>
            <a:ext cx="2834640" cy="1554480"/>
          </a:xfrm>
          <a:prstGeom prst="rect">
            <a:avLst/>
          </a:prstGeom>
          <a:solidFill>
            <a:srgbClr val="1E3A5F"/>
          </a:solidFill>
          <a:ln w="12700">
            <a:solidFill>
              <a:srgbClr val="00C6BE"/>
            </a:solidFill>
            <a:prstDash val="solid"/>
          </a:ln>
        </p:spPr>
        <p:txBody>
          <a:bodyPr/>
          <a:lstStyle/>
          <a:p>
            <a:endParaRPr lang="en-GB"/>
          </a:p>
        </p:txBody>
      </p:sp>
      <p:sp>
        <p:nvSpPr>
          <p:cNvPr id="13" name="Shape 11"/>
          <p:cNvSpPr/>
          <p:nvPr/>
        </p:nvSpPr>
        <p:spPr>
          <a:xfrm>
            <a:off x="3291840" y="1097280"/>
            <a:ext cx="2834640" cy="329184"/>
          </a:xfrm>
          <a:prstGeom prst="rect">
            <a:avLst/>
          </a:prstGeom>
          <a:solidFill>
            <a:srgbClr val="22C55E"/>
          </a:solidFill>
          <a:ln w="12700">
            <a:solidFill>
              <a:srgbClr val="22C55E"/>
            </a:solidFill>
            <a:prstDash val="solid"/>
          </a:ln>
        </p:spPr>
        <p:txBody>
          <a:bodyPr/>
          <a:lstStyle/>
          <a:p>
            <a:endParaRPr lang="en-GB"/>
          </a:p>
        </p:txBody>
      </p:sp>
      <p:sp>
        <p:nvSpPr>
          <p:cNvPr id="14" name="Text 12"/>
          <p:cNvSpPr/>
          <p:nvPr/>
        </p:nvSpPr>
        <p:spPr>
          <a:xfrm>
            <a:off x="3383280" y="1097280"/>
            <a:ext cx="2651760" cy="329184"/>
          </a:xfrm>
          <a:prstGeom prst="rect">
            <a:avLst/>
          </a:prstGeom>
          <a:noFill/>
          <a:ln/>
        </p:spPr>
        <p:txBody>
          <a:bodyPr wrap="square" rtlCol="0" anchor="ctr"/>
          <a:lstStyle/>
          <a:p>
            <a:pPr marL="0" indent="0">
              <a:buNone/>
            </a:pPr>
            <a:r>
              <a:rPr lang="en-US" sz="1400" b="1" dirty="0">
                <a:solidFill>
                  <a:srgbClr val="0B1D35"/>
                </a:solidFill>
                <a:latin typeface="Calibri" pitchFamily="34" charset="0"/>
                <a:ea typeface="Calibri" pitchFamily="34" charset="-122"/>
                <a:cs typeface="Calibri" pitchFamily="34" charset="-120"/>
              </a:rPr>
              <a:t>SVM ★ BEST</a:t>
            </a:r>
            <a:endParaRPr lang="en-US" sz="1400" dirty="0"/>
          </a:p>
        </p:txBody>
      </p:sp>
      <p:sp>
        <p:nvSpPr>
          <p:cNvPr id="15" name="Text 13"/>
          <p:cNvSpPr/>
          <p:nvPr/>
        </p:nvSpPr>
        <p:spPr>
          <a:xfrm>
            <a:off x="3383280" y="1463040"/>
            <a:ext cx="265176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Boundary / hyperplanes</a:t>
            </a:r>
            <a:endParaRPr lang="en-US" sz="1100" dirty="0"/>
          </a:p>
        </p:txBody>
      </p:sp>
      <p:sp>
        <p:nvSpPr>
          <p:cNvPr id="16" name="Text 14"/>
          <p:cNvSpPr/>
          <p:nvPr/>
        </p:nvSpPr>
        <p:spPr>
          <a:xfrm>
            <a:off x="3383280" y="1737360"/>
            <a:ext cx="2651760" cy="182880"/>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Best CV Score</a:t>
            </a:r>
            <a:endParaRPr lang="en-US" sz="1000" dirty="0"/>
          </a:p>
        </p:txBody>
      </p:sp>
      <p:sp>
        <p:nvSpPr>
          <p:cNvPr id="17" name="Text 15"/>
          <p:cNvSpPr/>
          <p:nvPr/>
        </p:nvSpPr>
        <p:spPr>
          <a:xfrm>
            <a:off x="3383280" y="1920240"/>
            <a:ext cx="2651760" cy="329184"/>
          </a:xfrm>
          <a:prstGeom prst="rect">
            <a:avLst/>
          </a:prstGeom>
          <a:noFill/>
          <a:ln/>
        </p:spPr>
        <p:txBody>
          <a:bodyPr wrap="square" lIns="0" tIns="0" rIns="0" bIns="0" rtlCol="0" anchor="ctr"/>
          <a:lstStyle/>
          <a:p>
            <a:pPr marL="0" indent="0">
              <a:buNone/>
            </a:pPr>
            <a:r>
              <a:rPr lang="en-US" sz="2200" b="1" dirty="0">
                <a:solidFill>
                  <a:srgbClr val="22C55E"/>
                </a:solidFill>
                <a:latin typeface="Trebuchet MS" pitchFamily="34" charset="0"/>
                <a:ea typeface="Trebuchet MS" pitchFamily="34" charset="-122"/>
                <a:cs typeface="Trebuchet MS" pitchFamily="34" charset="-120"/>
              </a:rPr>
              <a:t>94.61%</a:t>
            </a:r>
            <a:endParaRPr lang="en-US" sz="2200" dirty="0"/>
          </a:p>
        </p:txBody>
      </p:sp>
      <p:sp>
        <p:nvSpPr>
          <p:cNvPr id="18" name="Text 16"/>
          <p:cNvSpPr/>
          <p:nvPr/>
        </p:nvSpPr>
        <p:spPr>
          <a:xfrm>
            <a:off x="3383280" y="2286000"/>
            <a:ext cx="2651760" cy="292608"/>
          </a:xfrm>
          <a:prstGeom prst="rect">
            <a:avLst/>
          </a:prstGeom>
          <a:noFill/>
          <a:ln/>
        </p:spPr>
        <p:txBody>
          <a:bodyPr wrap="square" lIns="0" tIns="0" rIns="0" bIns="0" rtlCol="0" anchor="ctr"/>
          <a:lstStyle/>
          <a:p>
            <a:pPr marL="0" indent="0">
              <a:buNone/>
            </a:pPr>
            <a:r>
              <a:rPr lang="en-US" sz="950" dirty="0">
                <a:solidFill>
                  <a:srgbClr val="94A3B8"/>
                </a:solidFill>
                <a:latin typeface="Consolas" pitchFamily="34" charset="0"/>
                <a:ea typeface="Consolas" pitchFamily="34" charset="-122"/>
                <a:cs typeface="Consolas" pitchFamily="34" charset="-120"/>
              </a:rPr>
              <a:t>C=10, gamma=scale, kernel=rbf</a:t>
            </a:r>
            <a:endParaRPr lang="en-US" sz="950" dirty="0"/>
          </a:p>
        </p:txBody>
      </p:sp>
      <p:sp>
        <p:nvSpPr>
          <p:cNvPr id="19" name="Shape 17"/>
          <p:cNvSpPr/>
          <p:nvPr/>
        </p:nvSpPr>
        <p:spPr>
          <a:xfrm>
            <a:off x="6263640" y="1097280"/>
            <a:ext cx="2834640" cy="1554480"/>
          </a:xfrm>
          <a:prstGeom prst="rect">
            <a:avLst/>
          </a:prstGeom>
          <a:solidFill>
            <a:srgbClr val="1E3A5F"/>
          </a:solidFill>
          <a:ln w="12700">
            <a:solidFill>
              <a:srgbClr val="00C6BE"/>
            </a:solidFill>
            <a:prstDash val="solid"/>
          </a:ln>
        </p:spPr>
        <p:txBody>
          <a:bodyPr/>
          <a:lstStyle/>
          <a:p>
            <a:endParaRPr lang="en-GB"/>
          </a:p>
        </p:txBody>
      </p:sp>
      <p:sp>
        <p:nvSpPr>
          <p:cNvPr id="20" name="Shape 18"/>
          <p:cNvSpPr/>
          <p:nvPr/>
        </p:nvSpPr>
        <p:spPr>
          <a:xfrm>
            <a:off x="6263640" y="1097280"/>
            <a:ext cx="2834640" cy="329184"/>
          </a:xfrm>
          <a:prstGeom prst="rect">
            <a:avLst/>
          </a:prstGeom>
          <a:solidFill>
            <a:srgbClr val="1E3A5F"/>
          </a:solidFill>
          <a:ln w="12700">
            <a:solidFill>
              <a:srgbClr val="1E3A5F"/>
            </a:solidFill>
            <a:prstDash val="solid"/>
          </a:ln>
        </p:spPr>
        <p:txBody>
          <a:bodyPr/>
          <a:lstStyle/>
          <a:p>
            <a:endParaRPr lang="en-GB"/>
          </a:p>
        </p:txBody>
      </p:sp>
      <p:sp>
        <p:nvSpPr>
          <p:cNvPr id="21" name="Text 19"/>
          <p:cNvSpPr/>
          <p:nvPr/>
        </p:nvSpPr>
        <p:spPr>
          <a:xfrm>
            <a:off x="6355080" y="1097280"/>
            <a:ext cx="2651760" cy="32918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Random Forest</a:t>
            </a:r>
            <a:endParaRPr lang="en-US" sz="1400" dirty="0"/>
          </a:p>
        </p:txBody>
      </p:sp>
      <p:sp>
        <p:nvSpPr>
          <p:cNvPr id="22" name="Text 20"/>
          <p:cNvSpPr/>
          <p:nvPr/>
        </p:nvSpPr>
        <p:spPr>
          <a:xfrm>
            <a:off x="6355080" y="1463040"/>
            <a:ext cx="2651760" cy="2286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Ensemble / decision trees</a:t>
            </a:r>
            <a:endParaRPr lang="en-US" sz="1100" dirty="0"/>
          </a:p>
        </p:txBody>
      </p:sp>
      <p:sp>
        <p:nvSpPr>
          <p:cNvPr id="23" name="Text 21"/>
          <p:cNvSpPr/>
          <p:nvPr/>
        </p:nvSpPr>
        <p:spPr>
          <a:xfrm>
            <a:off x="6355080" y="1737360"/>
            <a:ext cx="2651760" cy="182880"/>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Best CV Score</a:t>
            </a:r>
            <a:endParaRPr lang="en-US" sz="1000" dirty="0"/>
          </a:p>
        </p:txBody>
      </p:sp>
      <p:sp>
        <p:nvSpPr>
          <p:cNvPr id="24" name="Text 22"/>
          <p:cNvSpPr/>
          <p:nvPr/>
        </p:nvSpPr>
        <p:spPr>
          <a:xfrm>
            <a:off x="6355080" y="1920240"/>
            <a:ext cx="2651760" cy="329184"/>
          </a:xfrm>
          <a:prstGeom prst="rect">
            <a:avLst/>
          </a:prstGeom>
          <a:noFill/>
          <a:ln/>
        </p:spPr>
        <p:txBody>
          <a:bodyPr wrap="square" lIns="0" tIns="0" rIns="0" bIns="0" rtlCol="0" anchor="ctr"/>
          <a:lstStyle/>
          <a:p>
            <a:pPr marL="0" indent="0">
              <a:buNone/>
            </a:pPr>
            <a:r>
              <a:rPr lang="en-US" sz="2200" b="1" dirty="0">
                <a:solidFill>
                  <a:srgbClr val="CBD5E1"/>
                </a:solidFill>
                <a:latin typeface="Trebuchet MS" pitchFamily="34" charset="0"/>
                <a:ea typeface="Trebuchet MS" pitchFamily="34" charset="-122"/>
                <a:cs typeface="Trebuchet MS" pitchFamily="34" charset="-120"/>
              </a:rPr>
              <a:t>88.16%</a:t>
            </a:r>
            <a:endParaRPr lang="en-US" sz="2200" dirty="0"/>
          </a:p>
        </p:txBody>
      </p:sp>
      <p:sp>
        <p:nvSpPr>
          <p:cNvPr id="25" name="Text 23"/>
          <p:cNvSpPr/>
          <p:nvPr/>
        </p:nvSpPr>
        <p:spPr>
          <a:xfrm>
            <a:off x="6355080" y="2286000"/>
            <a:ext cx="2651760" cy="292608"/>
          </a:xfrm>
          <a:prstGeom prst="rect">
            <a:avLst/>
          </a:prstGeom>
          <a:noFill/>
          <a:ln/>
        </p:spPr>
        <p:txBody>
          <a:bodyPr wrap="square" lIns="0" tIns="0" rIns="0" bIns="0" rtlCol="0" anchor="ctr"/>
          <a:lstStyle/>
          <a:p>
            <a:pPr marL="0" indent="0">
              <a:buNone/>
            </a:pPr>
            <a:r>
              <a:rPr lang="en-US" sz="950" dirty="0">
                <a:solidFill>
                  <a:srgbClr val="94A3B8"/>
                </a:solidFill>
                <a:latin typeface="Consolas" pitchFamily="34" charset="0"/>
                <a:ea typeface="Consolas" pitchFamily="34" charset="-122"/>
                <a:cs typeface="Consolas" pitchFamily="34" charset="-120"/>
              </a:rPr>
              <a:t>n=150, max_depth=None, min_split=10</a:t>
            </a:r>
            <a:endParaRPr lang="en-US" sz="950" dirty="0"/>
          </a:p>
        </p:txBody>
      </p:sp>
      <p:sp>
        <p:nvSpPr>
          <p:cNvPr id="26" name="Shape 24"/>
          <p:cNvSpPr/>
          <p:nvPr/>
        </p:nvSpPr>
        <p:spPr>
          <a:xfrm>
            <a:off x="320040" y="2807208"/>
            <a:ext cx="8503920" cy="640080"/>
          </a:xfrm>
          <a:prstGeom prst="rect">
            <a:avLst/>
          </a:prstGeom>
          <a:solidFill>
            <a:srgbClr val="1E3A5F"/>
          </a:solidFill>
          <a:ln w="12700">
            <a:solidFill>
              <a:srgbClr val="00C6BE"/>
            </a:solidFill>
            <a:prstDash val="solid"/>
          </a:ln>
        </p:spPr>
        <p:txBody>
          <a:bodyPr/>
          <a:lstStyle/>
          <a:p>
            <a:endParaRPr lang="en-GB"/>
          </a:p>
        </p:txBody>
      </p:sp>
      <p:sp>
        <p:nvSpPr>
          <p:cNvPr id="27" name="Shape 25"/>
          <p:cNvSpPr/>
          <p:nvPr/>
        </p:nvSpPr>
        <p:spPr>
          <a:xfrm>
            <a:off x="320040" y="2807208"/>
            <a:ext cx="73152" cy="640080"/>
          </a:xfrm>
          <a:prstGeom prst="rect">
            <a:avLst/>
          </a:prstGeom>
          <a:solidFill>
            <a:srgbClr val="22C55E"/>
          </a:solidFill>
          <a:ln w="12700">
            <a:solidFill>
              <a:srgbClr val="22C55E"/>
            </a:solidFill>
            <a:prstDash val="solid"/>
          </a:ln>
        </p:spPr>
        <p:txBody>
          <a:bodyPr/>
          <a:lstStyle/>
          <a:p>
            <a:endParaRPr lang="en-GB"/>
          </a:p>
        </p:txBody>
      </p:sp>
      <p:sp>
        <p:nvSpPr>
          <p:cNvPr id="28" name="Text 26"/>
          <p:cNvSpPr/>
          <p:nvPr/>
        </p:nvSpPr>
        <p:spPr>
          <a:xfrm>
            <a:off x="521208" y="2898648"/>
            <a:ext cx="4572000" cy="27432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Final Test Accuracy — SVM (tuned):</a:t>
            </a:r>
            <a:endParaRPr lang="en-US" sz="1300" dirty="0"/>
          </a:p>
        </p:txBody>
      </p:sp>
      <p:sp>
        <p:nvSpPr>
          <p:cNvPr id="29" name="Text 27"/>
          <p:cNvSpPr/>
          <p:nvPr/>
        </p:nvSpPr>
        <p:spPr>
          <a:xfrm>
            <a:off x="5760720" y="2871216"/>
            <a:ext cx="2834640" cy="384048"/>
          </a:xfrm>
          <a:prstGeom prst="rect">
            <a:avLst/>
          </a:prstGeom>
          <a:noFill/>
          <a:ln/>
        </p:spPr>
        <p:txBody>
          <a:bodyPr wrap="square" lIns="0" tIns="0" rIns="0" bIns="0" rtlCol="0" anchor="ctr"/>
          <a:lstStyle/>
          <a:p>
            <a:pPr marL="0" indent="0" algn="r">
              <a:buNone/>
            </a:pPr>
            <a:r>
              <a:rPr lang="en-US" sz="2600" b="1" dirty="0">
                <a:solidFill>
                  <a:srgbClr val="22C55E"/>
                </a:solidFill>
                <a:latin typeface="Trebuchet MS" pitchFamily="34" charset="0"/>
                <a:ea typeface="Trebuchet MS" pitchFamily="34" charset="-122"/>
                <a:cs typeface="Trebuchet MS" pitchFamily="34" charset="-120"/>
              </a:rPr>
              <a:t>90.56%</a:t>
            </a:r>
            <a:endParaRPr lang="en-US" sz="2600" dirty="0"/>
          </a:p>
        </p:txBody>
      </p:sp>
      <p:sp>
        <p:nvSpPr>
          <p:cNvPr id="30" name="Text 28"/>
          <p:cNvSpPr/>
          <p:nvPr/>
        </p:nvSpPr>
        <p:spPr>
          <a:xfrm>
            <a:off x="521208" y="3191256"/>
            <a:ext cx="82296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GridSearchCV tested 30 KNN × 60 SVM × 216 RF parameter combinations across 5 folds</a:t>
            </a:r>
            <a:endParaRPr lang="en-US" sz="1050" dirty="0"/>
          </a:p>
        </p:txBody>
      </p:sp>
      <p:sp>
        <p:nvSpPr>
          <p:cNvPr id="31" name="Text 29"/>
          <p:cNvSpPr/>
          <p:nvPr/>
        </p:nvSpPr>
        <p:spPr>
          <a:xfrm>
            <a:off x="320040" y="3584448"/>
            <a:ext cx="8229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KEY FINDINGS</a:t>
            </a:r>
            <a:endParaRPr lang="en-US" sz="1000" dirty="0"/>
          </a:p>
        </p:txBody>
      </p:sp>
      <p:sp>
        <p:nvSpPr>
          <p:cNvPr id="32" name="Text 30"/>
          <p:cNvSpPr/>
          <p:nvPr/>
        </p:nvSpPr>
        <p:spPr>
          <a:xfrm>
            <a:off x="320040" y="3840480"/>
            <a:ext cx="8503920" cy="21031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SVM outperforms KNN and Random Forest in both speed and accuracy</a:t>
            </a:r>
            <a:endParaRPr lang="en-US" sz="1200" dirty="0"/>
          </a:p>
        </p:txBody>
      </p:sp>
      <p:sp>
        <p:nvSpPr>
          <p:cNvPr id="33" name="Text 31"/>
          <p:cNvSpPr/>
          <p:nvPr/>
        </p:nvSpPr>
        <p:spPr>
          <a:xfrm>
            <a:off x="320040" y="4059936"/>
            <a:ext cx="8503920" cy="21031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Learning curves show all models generalise better with more training data</a:t>
            </a:r>
            <a:endParaRPr lang="en-US" sz="1200" dirty="0"/>
          </a:p>
        </p:txBody>
      </p:sp>
      <p:sp>
        <p:nvSpPr>
          <p:cNvPr id="34" name="Text 32"/>
          <p:cNvSpPr/>
          <p:nvPr/>
        </p:nvSpPr>
        <p:spPr>
          <a:xfrm>
            <a:off x="320040" y="4279392"/>
            <a:ext cx="8503920" cy="21031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Feature engineering quality is the main bottleneck — motivates deep learning</a:t>
            </a:r>
            <a:endParaRPr lang="en-US" sz="1200" dirty="0"/>
          </a:p>
        </p:txBody>
      </p:sp>
      <p:sp>
        <p:nvSpPr>
          <p:cNvPr id="35" name="Action Button: Go Forward or Next 34">
            <a:hlinkClick r:id="rId3" action="ppaction://hlinksldjump" highlightClick="1">
              <a:snd r:embed="rId4" name="whoosh.wav"/>
            </a:hlinkClick>
            <a:extLst>
              <a:ext uri="{FF2B5EF4-FFF2-40B4-BE49-F238E27FC236}">
                <a16:creationId xmlns:a16="http://schemas.microsoft.com/office/drawing/2014/main" id="{65E10670-765B-8AFA-EBCB-B118215669CF}"/>
              </a:ext>
            </a:extLst>
          </p:cNvPr>
          <p:cNvSpPr/>
          <p:nvPr/>
        </p:nvSpPr>
        <p:spPr>
          <a:xfrm>
            <a:off x="3813831" y="850392"/>
            <a:ext cx="211171" cy="22164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5852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2 · Convolutional Neural Networks Architecture</a:t>
            </a:r>
            <a:endParaRPr lang="en-US" sz="2700" dirty="0"/>
          </a:p>
        </p:txBody>
      </p:sp>
      <p:sp>
        <p:nvSpPr>
          <p:cNvPr id="4" name="Shape 2"/>
          <p:cNvSpPr/>
          <p:nvPr/>
        </p:nvSpPr>
        <p:spPr>
          <a:xfrm>
            <a:off x="320040" y="841248"/>
            <a:ext cx="3017520" cy="342900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20040" y="841248"/>
            <a:ext cx="54864" cy="3429000"/>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502920" y="886968"/>
            <a:ext cx="27432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WHY CNN?</a:t>
            </a:r>
            <a:endParaRPr lang="en-US" sz="1000" dirty="0"/>
          </a:p>
        </p:txBody>
      </p:sp>
      <p:sp>
        <p:nvSpPr>
          <p:cNvPr id="7" name="Text 5"/>
          <p:cNvSpPr/>
          <p:nvPr/>
        </p:nvSpPr>
        <p:spPr>
          <a:xfrm>
            <a:off x="502920" y="1170432"/>
            <a:ext cx="27432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 manual features</a:t>
            </a:r>
            <a:endParaRPr lang="en-US" sz="1300" dirty="0"/>
          </a:p>
        </p:txBody>
      </p:sp>
      <p:sp>
        <p:nvSpPr>
          <p:cNvPr id="8" name="Text 6"/>
          <p:cNvSpPr/>
          <p:nvPr/>
        </p:nvSpPr>
        <p:spPr>
          <a:xfrm>
            <a:off x="502920" y="1399032"/>
            <a:ext cx="2743200" cy="384048"/>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Learns directly from raw pixels</a:t>
            </a:r>
            <a:endParaRPr lang="en-US" sz="1150" dirty="0"/>
          </a:p>
        </p:txBody>
      </p:sp>
      <p:sp>
        <p:nvSpPr>
          <p:cNvPr id="9" name="Text 7"/>
          <p:cNvSpPr/>
          <p:nvPr/>
        </p:nvSpPr>
        <p:spPr>
          <a:xfrm>
            <a:off x="502920" y="1920240"/>
            <a:ext cx="27432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Spatial awareness</a:t>
            </a:r>
            <a:endParaRPr lang="en-US" sz="1300" dirty="0"/>
          </a:p>
        </p:txBody>
      </p:sp>
      <p:sp>
        <p:nvSpPr>
          <p:cNvPr id="10" name="Text 8"/>
          <p:cNvSpPr/>
          <p:nvPr/>
        </p:nvSpPr>
        <p:spPr>
          <a:xfrm>
            <a:off x="502920" y="2148840"/>
            <a:ext cx="2743200" cy="384048"/>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Preserves image structure</a:t>
            </a:r>
            <a:endParaRPr lang="en-US" sz="1150" dirty="0"/>
          </a:p>
        </p:txBody>
      </p:sp>
      <p:sp>
        <p:nvSpPr>
          <p:cNvPr id="11" name="Text 9"/>
          <p:cNvSpPr/>
          <p:nvPr/>
        </p:nvSpPr>
        <p:spPr>
          <a:xfrm>
            <a:off x="502920" y="2670048"/>
            <a:ext cx="27432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Hierarchical</a:t>
            </a:r>
            <a:endParaRPr lang="en-US" sz="1300" dirty="0"/>
          </a:p>
        </p:txBody>
      </p:sp>
      <p:sp>
        <p:nvSpPr>
          <p:cNvPr id="12" name="Text 10"/>
          <p:cNvSpPr/>
          <p:nvPr/>
        </p:nvSpPr>
        <p:spPr>
          <a:xfrm>
            <a:off x="502920" y="2898648"/>
            <a:ext cx="2743200" cy="384048"/>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Edges → textures → patterns → objects</a:t>
            </a:r>
            <a:endParaRPr lang="en-US" sz="1150" dirty="0"/>
          </a:p>
        </p:txBody>
      </p:sp>
      <p:sp>
        <p:nvSpPr>
          <p:cNvPr id="13" name="Text 11"/>
          <p:cNvSpPr/>
          <p:nvPr/>
        </p:nvSpPr>
        <p:spPr>
          <a:xfrm>
            <a:off x="502920" y="3419856"/>
            <a:ext cx="27432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Proven</a:t>
            </a:r>
            <a:endParaRPr lang="en-US" sz="1300" dirty="0"/>
          </a:p>
        </p:txBody>
      </p:sp>
      <p:sp>
        <p:nvSpPr>
          <p:cNvPr id="14" name="Text 12"/>
          <p:cNvSpPr/>
          <p:nvPr/>
        </p:nvSpPr>
        <p:spPr>
          <a:xfrm>
            <a:off x="502920" y="3648456"/>
            <a:ext cx="2743200" cy="384048"/>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State-of-art in medical imaging</a:t>
            </a:r>
            <a:endParaRPr lang="en-US" sz="1150" dirty="0"/>
          </a:p>
        </p:txBody>
      </p:sp>
      <p:sp>
        <p:nvSpPr>
          <p:cNvPr id="15" name="Text 13"/>
          <p:cNvSpPr/>
          <p:nvPr/>
        </p:nvSpPr>
        <p:spPr>
          <a:xfrm>
            <a:off x="3520440" y="841248"/>
            <a:ext cx="530352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CNN LAYER ARCHITECTURE</a:t>
            </a:r>
            <a:endParaRPr lang="en-US" sz="1000" dirty="0"/>
          </a:p>
        </p:txBody>
      </p:sp>
      <p:sp>
        <p:nvSpPr>
          <p:cNvPr id="16" name="Shape 14"/>
          <p:cNvSpPr/>
          <p:nvPr/>
        </p:nvSpPr>
        <p:spPr>
          <a:xfrm>
            <a:off x="3520440" y="1115568"/>
            <a:ext cx="5303520" cy="438912"/>
          </a:xfrm>
          <a:prstGeom prst="rect">
            <a:avLst/>
          </a:prstGeom>
          <a:solidFill>
            <a:srgbClr val="1E3A5F"/>
          </a:solidFill>
          <a:ln w="12700">
            <a:solidFill>
              <a:srgbClr val="00C6BE"/>
            </a:solidFill>
            <a:prstDash val="solid"/>
          </a:ln>
        </p:spPr>
        <p:txBody>
          <a:bodyPr/>
          <a:lstStyle/>
          <a:p>
            <a:endParaRPr lang="en-GB"/>
          </a:p>
        </p:txBody>
      </p:sp>
      <p:sp>
        <p:nvSpPr>
          <p:cNvPr id="17" name="Shape 15"/>
          <p:cNvSpPr/>
          <p:nvPr/>
        </p:nvSpPr>
        <p:spPr>
          <a:xfrm>
            <a:off x="3520440" y="1115568"/>
            <a:ext cx="64008" cy="438912"/>
          </a:xfrm>
          <a:prstGeom prst="rect">
            <a:avLst/>
          </a:prstGeom>
          <a:solidFill>
            <a:srgbClr val="00C6BE"/>
          </a:solidFill>
          <a:ln w="12700">
            <a:solidFill>
              <a:srgbClr val="00C6BE"/>
            </a:solidFill>
            <a:prstDash val="solid"/>
          </a:ln>
        </p:spPr>
        <p:txBody>
          <a:bodyPr/>
          <a:lstStyle/>
          <a:p>
            <a:endParaRPr lang="en-GB"/>
          </a:p>
        </p:txBody>
      </p:sp>
      <p:sp>
        <p:nvSpPr>
          <p:cNvPr id="18" name="Text 16"/>
          <p:cNvSpPr/>
          <p:nvPr/>
        </p:nvSpPr>
        <p:spPr>
          <a:xfrm>
            <a:off x="3675888" y="1143000"/>
            <a:ext cx="3200400" cy="20116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Input Layer</a:t>
            </a:r>
            <a:endParaRPr lang="en-US" sz="1250" dirty="0"/>
          </a:p>
        </p:txBody>
      </p:sp>
      <p:sp>
        <p:nvSpPr>
          <p:cNvPr id="19" name="Text 17"/>
          <p:cNvSpPr/>
          <p:nvPr/>
        </p:nvSpPr>
        <p:spPr>
          <a:xfrm>
            <a:off x="3675888" y="134416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224 × 224 × 3 (RGB)</a:t>
            </a:r>
            <a:endParaRPr lang="en-US" sz="1050" dirty="0"/>
          </a:p>
        </p:txBody>
      </p:sp>
      <p:sp>
        <p:nvSpPr>
          <p:cNvPr id="20" name="Shape 18"/>
          <p:cNvSpPr/>
          <p:nvPr/>
        </p:nvSpPr>
        <p:spPr>
          <a:xfrm>
            <a:off x="3520440" y="1618488"/>
            <a:ext cx="5303520" cy="438912"/>
          </a:xfrm>
          <a:prstGeom prst="rect">
            <a:avLst/>
          </a:prstGeom>
          <a:solidFill>
            <a:srgbClr val="1E3A5F"/>
          </a:solidFill>
          <a:ln w="12700">
            <a:solidFill>
              <a:srgbClr val="4A90D9"/>
            </a:solidFill>
            <a:prstDash val="solid"/>
          </a:ln>
        </p:spPr>
        <p:txBody>
          <a:bodyPr/>
          <a:lstStyle/>
          <a:p>
            <a:endParaRPr lang="en-GB"/>
          </a:p>
        </p:txBody>
      </p:sp>
      <p:sp>
        <p:nvSpPr>
          <p:cNvPr id="21" name="Shape 19"/>
          <p:cNvSpPr/>
          <p:nvPr/>
        </p:nvSpPr>
        <p:spPr>
          <a:xfrm>
            <a:off x="3520440" y="1618488"/>
            <a:ext cx="64008" cy="438912"/>
          </a:xfrm>
          <a:prstGeom prst="rect">
            <a:avLst/>
          </a:prstGeom>
          <a:solidFill>
            <a:srgbClr val="4A90D9"/>
          </a:solidFill>
          <a:ln w="12700">
            <a:solidFill>
              <a:srgbClr val="4A90D9"/>
            </a:solidFill>
            <a:prstDash val="solid"/>
          </a:ln>
        </p:spPr>
        <p:txBody>
          <a:bodyPr/>
          <a:lstStyle/>
          <a:p>
            <a:endParaRPr lang="en-GB"/>
          </a:p>
        </p:txBody>
      </p:sp>
      <p:sp>
        <p:nvSpPr>
          <p:cNvPr id="22" name="Text 20"/>
          <p:cNvSpPr/>
          <p:nvPr/>
        </p:nvSpPr>
        <p:spPr>
          <a:xfrm>
            <a:off x="3675888" y="1645920"/>
            <a:ext cx="3200400" cy="201168"/>
          </a:xfrm>
          <a:prstGeom prst="rect">
            <a:avLst/>
          </a:prstGeom>
          <a:noFill/>
          <a:ln/>
        </p:spPr>
        <p:txBody>
          <a:bodyPr wrap="square" lIns="0" tIns="0" rIns="0" bIns="0" rtlCol="0" anchor="ctr"/>
          <a:lstStyle/>
          <a:p>
            <a:r>
              <a:rPr lang="en-US" sz="1250" b="1" dirty="0">
                <a:solidFill>
                  <a:srgbClr val="FFFFFF"/>
                </a:solidFill>
                <a:latin typeface="Calibri" pitchFamily="34" charset="0"/>
                <a:ea typeface="Calibri" pitchFamily="34" charset="-122"/>
                <a:cs typeface="Calibri" pitchFamily="34" charset="-120"/>
              </a:rPr>
              <a:t>(Conv2D + </a:t>
            </a:r>
            <a:r>
              <a:rPr lang="en-US" sz="1250" b="1" dirty="0" err="1">
                <a:solidFill>
                  <a:srgbClr val="FFFFFF"/>
                </a:solidFill>
                <a:latin typeface="Calibri" pitchFamily="34" charset="0"/>
                <a:ea typeface="Calibri" pitchFamily="34" charset="-122"/>
                <a:cs typeface="Calibri" pitchFamily="34" charset="-120"/>
              </a:rPr>
              <a:t>BatchNorm</a:t>
            </a:r>
            <a:r>
              <a:rPr lang="en-US" sz="1250" b="1" dirty="0">
                <a:solidFill>
                  <a:srgbClr val="FFFFFF"/>
                </a:solidFill>
                <a:latin typeface="Calibri" pitchFamily="34" charset="0"/>
                <a:ea typeface="Calibri" pitchFamily="34" charset="-122"/>
                <a:cs typeface="Calibri" pitchFamily="34" charset="-120"/>
              </a:rPr>
              <a:t>) × 2 </a:t>
            </a:r>
            <a:endParaRPr lang="en-US" sz="1250" dirty="0"/>
          </a:p>
        </p:txBody>
      </p:sp>
      <p:sp>
        <p:nvSpPr>
          <p:cNvPr id="23" name="Text 21"/>
          <p:cNvSpPr/>
          <p:nvPr/>
        </p:nvSpPr>
        <p:spPr>
          <a:xfrm>
            <a:off x="3675888" y="184708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Detect edges, shapes, patterns</a:t>
            </a:r>
            <a:endParaRPr lang="en-US" sz="1050" dirty="0"/>
          </a:p>
        </p:txBody>
      </p:sp>
      <p:sp>
        <p:nvSpPr>
          <p:cNvPr id="24" name="Shape 22"/>
          <p:cNvSpPr/>
          <p:nvPr/>
        </p:nvSpPr>
        <p:spPr>
          <a:xfrm>
            <a:off x="3520440" y="2121408"/>
            <a:ext cx="5303520" cy="438912"/>
          </a:xfrm>
          <a:prstGeom prst="rect">
            <a:avLst/>
          </a:prstGeom>
          <a:solidFill>
            <a:srgbClr val="1E3A5F"/>
          </a:solidFill>
          <a:ln w="12700">
            <a:solidFill>
              <a:srgbClr val="4A90D9"/>
            </a:solidFill>
            <a:prstDash val="solid"/>
          </a:ln>
        </p:spPr>
        <p:txBody>
          <a:bodyPr/>
          <a:lstStyle/>
          <a:p>
            <a:endParaRPr lang="en-GB"/>
          </a:p>
        </p:txBody>
      </p:sp>
      <p:sp>
        <p:nvSpPr>
          <p:cNvPr id="25" name="Shape 23"/>
          <p:cNvSpPr/>
          <p:nvPr/>
        </p:nvSpPr>
        <p:spPr>
          <a:xfrm>
            <a:off x="3520440" y="2121408"/>
            <a:ext cx="64008" cy="438912"/>
          </a:xfrm>
          <a:prstGeom prst="rect">
            <a:avLst/>
          </a:prstGeom>
          <a:solidFill>
            <a:srgbClr val="4A90D9"/>
          </a:solidFill>
          <a:ln w="12700">
            <a:solidFill>
              <a:srgbClr val="4A90D9"/>
            </a:solidFill>
            <a:prstDash val="solid"/>
          </a:ln>
        </p:spPr>
        <p:txBody>
          <a:bodyPr/>
          <a:lstStyle/>
          <a:p>
            <a:endParaRPr lang="en-GB"/>
          </a:p>
        </p:txBody>
      </p:sp>
      <p:sp>
        <p:nvSpPr>
          <p:cNvPr id="26" name="Text 24"/>
          <p:cNvSpPr/>
          <p:nvPr/>
        </p:nvSpPr>
        <p:spPr>
          <a:xfrm>
            <a:off x="3675888" y="2148840"/>
            <a:ext cx="3200400" cy="20116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MaxPooling2D</a:t>
            </a:r>
            <a:endParaRPr lang="en-US" sz="1250" dirty="0"/>
          </a:p>
        </p:txBody>
      </p:sp>
      <p:sp>
        <p:nvSpPr>
          <p:cNvPr id="27" name="Text 25"/>
          <p:cNvSpPr/>
          <p:nvPr/>
        </p:nvSpPr>
        <p:spPr>
          <a:xfrm>
            <a:off x="3675888" y="235000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Reduce spatial size, retain features</a:t>
            </a:r>
            <a:endParaRPr lang="en-US" sz="1050" dirty="0"/>
          </a:p>
        </p:txBody>
      </p:sp>
      <p:sp>
        <p:nvSpPr>
          <p:cNvPr id="28" name="Shape 26"/>
          <p:cNvSpPr/>
          <p:nvPr/>
        </p:nvSpPr>
        <p:spPr>
          <a:xfrm>
            <a:off x="3520440" y="2624328"/>
            <a:ext cx="5303520" cy="438912"/>
          </a:xfrm>
          <a:prstGeom prst="rect">
            <a:avLst/>
          </a:prstGeom>
          <a:solidFill>
            <a:srgbClr val="1E3A5F"/>
          </a:solidFill>
          <a:ln w="12700">
            <a:solidFill>
              <a:srgbClr val="4A90D9"/>
            </a:solidFill>
            <a:prstDash val="solid"/>
          </a:ln>
        </p:spPr>
        <p:txBody>
          <a:bodyPr/>
          <a:lstStyle/>
          <a:p>
            <a:endParaRPr lang="en-GB"/>
          </a:p>
        </p:txBody>
      </p:sp>
      <p:sp>
        <p:nvSpPr>
          <p:cNvPr id="29" name="Shape 27"/>
          <p:cNvSpPr/>
          <p:nvPr/>
        </p:nvSpPr>
        <p:spPr>
          <a:xfrm>
            <a:off x="3520440" y="2624328"/>
            <a:ext cx="64008" cy="438912"/>
          </a:xfrm>
          <a:prstGeom prst="rect">
            <a:avLst/>
          </a:prstGeom>
          <a:solidFill>
            <a:srgbClr val="4A90D9"/>
          </a:solidFill>
          <a:ln w="12700">
            <a:solidFill>
              <a:srgbClr val="4A90D9"/>
            </a:solidFill>
            <a:prstDash val="solid"/>
          </a:ln>
        </p:spPr>
        <p:txBody>
          <a:bodyPr/>
          <a:lstStyle/>
          <a:p>
            <a:endParaRPr lang="en-GB"/>
          </a:p>
        </p:txBody>
      </p:sp>
      <p:sp>
        <p:nvSpPr>
          <p:cNvPr id="30" name="Text 28"/>
          <p:cNvSpPr/>
          <p:nvPr/>
        </p:nvSpPr>
        <p:spPr>
          <a:xfrm>
            <a:off x="3675888" y="2651760"/>
            <a:ext cx="3200400" cy="20116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Dropout</a:t>
            </a:r>
            <a:endParaRPr lang="en-US" sz="1250" dirty="0"/>
          </a:p>
        </p:txBody>
      </p:sp>
      <p:sp>
        <p:nvSpPr>
          <p:cNvPr id="31" name="Text 29"/>
          <p:cNvSpPr/>
          <p:nvPr/>
        </p:nvSpPr>
        <p:spPr>
          <a:xfrm>
            <a:off x="3675888" y="285292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regularise</a:t>
            </a:r>
            <a:endParaRPr lang="en-US" sz="1050" dirty="0"/>
          </a:p>
        </p:txBody>
      </p:sp>
      <p:sp>
        <p:nvSpPr>
          <p:cNvPr id="32" name="Shape 30"/>
          <p:cNvSpPr/>
          <p:nvPr/>
        </p:nvSpPr>
        <p:spPr>
          <a:xfrm>
            <a:off x="3520440" y="3127248"/>
            <a:ext cx="5303520" cy="438912"/>
          </a:xfrm>
          <a:prstGeom prst="rect">
            <a:avLst/>
          </a:prstGeom>
          <a:solidFill>
            <a:srgbClr val="1E3A5F"/>
          </a:solidFill>
          <a:ln w="12700">
            <a:solidFill>
              <a:srgbClr val="7B68EE"/>
            </a:solidFill>
            <a:prstDash val="solid"/>
          </a:ln>
        </p:spPr>
        <p:txBody>
          <a:bodyPr/>
          <a:lstStyle/>
          <a:p>
            <a:endParaRPr lang="en-GB"/>
          </a:p>
        </p:txBody>
      </p:sp>
      <p:sp>
        <p:nvSpPr>
          <p:cNvPr id="33" name="Shape 31"/>
          <p:cNvSpPr/>
          <p:nvPr/>
        </p:nvSpPr>
        <p:spPr>
          <a:xfrm>
            <a:off x="3520440" y="3127248"/>
            <a:ext cx="64008" cy="438912"/>
          </a:xfrm>
          <a:prstGeom prst="rect">
            <a:avLst/>
          </a:prstGeom>
          <a:solidFill>
            <a:srgbClr val="7B68EE"/>
          </a:solidFill>
          <a:ln w="12700">
            <a:solidFill>
              <a:srgbClr val="7B68EE"/>
            </a:solidFill>
            <a:prstDash val="solid"/>
          </a:ln>
        </p:spPr>
        <p:txBody>
          <a:bodyPr/>
          <a:lstStyle/>
          <a:p>
            <a:endParaRPr lang="en-GB"/>
          </a:p>
        </p:txBody>
      </p:sp>
      <p:sp>
        <p:nvSpPr>
          <p:cNvPr id="34" name="Text 32"/>
          <p:cNvSpPr/>
          <p:nvPr/>
        </p:nvSpPr>
        <p:spPr>
          <a:xfrm>
            <a:off x="3675888" y="3154680"/>
            <a:ext cx="3200400" cy="20116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GlobalAveragePooling2D</a:t>
            </a:r>
            <a:endParaRPr lang="en-US" sz="1250" dirty="0"/>
          </a:p>
        </p:txBody>
      </p:sp>
      <p:sp>
        <p:nvSpPr>
          <p:cNvPr id="35" name="Text 33"/>
          <p:cNvSpPr/>
          <p:nvPr/>
        </p:nvSpPr>
        <p:spPr>
          <a:xfrm>
            <a:off x="3675888" y="335584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Compress feature maps → 1 value each</a:t>
            </a:r>
            <a:endParaRPr lang="en-US" sz="1050" dirty="0"/>
          </a:p>
        </p:txBody>
      </p:sp>
      <p:sp>
        <p:nvSpPr>
          <p:cNvPr id="36" name="Shape 34"/>
          <p:cNvSpPr/>
          <p:nvPr/>
        </p:nvSpPr>
        <p:spPr>
          <a:xfrm>
            <a:off x="3520440" y="3630168"/>
            <a:ext cx="5303520" cy="438912"/>
          </a:xfrm>
          <a:prstGeom prst="rect">
            <a:avLst/>
          </a:prstGeom>
          <a:solidFill>
            <a:srgbClr val="1E3A5F"/>
          </a:solidFill>
          <a:ln w="12700">
            <a:solidFill>
              <a:srgbClr val="7B68EE"/>
            </a:solidFill>
            <a:prstDash val="solid"/>
          </a:ln>
        </p:spPr>
        <p:txBody>
          <a:bodyPr/>
          <a:lstStyle/>
          <a:p>
            <a:endParaRPr lang="en-GB" dirty="0"/>
          </a:p>
        </p:txBody>
      </p:sp>
      <p:sp>
        <p:nvSpPr>
          <p:cNvPr id="37" name="Shape 35"/>
          <p:cNvSpPr/>
          <p:nvPr/>
        </p:nvSpPr>
        <p:spPr>
          <a:xfrm>
            <a:off x="3520440" y="3630168"/>
            <a:ext cx="64008" cy="438912"/>
          </a:xfrm>
          <a:prstGeom prst="rect">
            <a:avLst/>
          </a:prstGeom>
          <a:solidFill>
            <a:srgbClr val="7B68EE"/>
          </a:solidFill>
          <a:ln w="12700">
            <a:solidFill>
              <a:srgbClr val="7B68EE"/>
            </a:solidFill>
            <a:prstDash val="solid"/>
          </a:ln>
        </p:spPr>
        <p:txBody>
          <a:bodyPr/>
          <a:lstStyle/>
          <a:p>
            <a:endParaRPr lang="en-GB"/>
          </a:p>
        </p:txBody>
      </p:sp>
      <p:sp>
        <p:nvSpPr>
          <p:cNvPr id="38" name="Text 36"/>
          <p:cNvSpPr/>
          <p:nvPr/>
        </p:nvSpPr>
        <p:spPr>
          <a:xfrm>
            <a:off x="3675888" y="3657600"/>
            <a:ext cx="3200400" cy="201168"/>
          </a:xfrm>
          <a:prstGeom prst="rect">
            <a:avLst/>
          </a:prstGeom>
          <a:noFill/>
          <a:ln/>
        </p:spPr>
        <p:txBody>
          <a:bodyPr wrap="square" lIns="0" tIns="0" rIns="0" bIns="0" rtlCol="0" anchor="ctr"/>
          <a:lstStyle/>
          <a:p>
            <a:r>
              <a:rPr lang="en-US" sz="1250" b="1" dirty="0">
                <a:solidFill>
                  <a:srgbClr val="FFFFFF"/>
                </a:solidFill>
                <a:latin typeface="Calibri" pitchFamily="34" charset="0"/>
                <a:ea typeface="Calibri" pitchFamily="34" charset="-122"/>
                <a:cs typeface="Calibri" pitchFamily="34" charset="-120"/>
              </a:rPr>
              <a:t>Dense Layer + Dropout</a:t>
            </a:r>
            <a:endParaRPr lang="en-US" sz="1250" dirty="0"/>
          </a:p>
        </p:txBody>
      </p:sp>
      <p:sp>
        <p:nvSpPr>
          <p:cNvPr id="39" name="Text 37"/>
          <p:cNvSpPr/>
          <p:nvPr/>
        </p:nvSpPr>
        <p:spPr>
          <a:xfrm>
            <a:off x="3675888" y="3858768"/>
            <a:ext cx="5029200" cy="182880"/>
          </a:xfrm>
          <a:prstGeom prst="rect">
            <a:avLst/>
          </a:prstGeom>
          <a:noFill/>
          <a:ln/>
        </p:spPr>
        <p:txBody>
          <a:bodyPr wrap="square" lIns="0" tIns="0" rIns="0" bIns="0" rtlCol="0" anchor="ctr"/>
          <a:lstStyle/>
          <a:p>
            <a:r>
              <a:rPr lang="en-US" sz="1050" dirty="0">
                <a:solidFill>
                  <a:srgbClr val="94A3B8"/>
                </a:solidFill>
                <a:latin typeface="Calibri" pitchFamily="34" charset="0"/>
                <a:ea typeface="Calibri" pitchFamily="34" charset="-122"/>
                <a:cs typeface="Calibri" pitchFamily="34" charset="-120"/>
              </a:rPr>
              <a:t>Combine features for classification, regularise</a:t>
            </a:r>
            <a:endParaRPr lang="en-US" sz="1050" dirty="0"/>
          </a:p>
        </p:txBody>
      </p:sp>
      <p:sp>
        <p:nvSpPr>
          <p:cNvPr id="40" name="Shape 38"/>
          <p:cNvSpPr/>
          <p:nvPr/>
        </p:nvSpPr>
        <p:spPr>
          <a:xfrm>
            <a:off x="3520440" y="4133088"/>
            <a:ext cx="5303520" cy="438912"/>
          </a:xfrm>
          <a:prstGeom prst="rect">
            <a:avLst/>
          </a:prstGeom>
          <a:solidFill>
            <a:srgbClr val="1E3A5F"/>
          </a:solidFill>
          <a:ln w="12700">
            <a:solidFill>
              <a:srgbClr val="22C55E"/>
            </a:solidFill>
            <a:prstDash val="solid"/>
          </a:ln>
        </p:spPr>
        <p:txBody>
          <a:bodyPr/>
          <a:lstStyle/>
          <a:p>
            <a:endParaRPr lang="en-GB"/>
          </a:p>
        </p:txBody>
      </p:sp>
      <p:sp>
        <p:nvSpPr>
          <p:cNvPr id="41" name="Shape 39"/>
          <p:cNvSpPr/>
          <p:nvPr/>
        </p:nvSpPr>
        <p:spPr>
          <a:xfrm>
            <a:off x="3520440" y="4133088"/>
            <a:ext cx="64008" cy="438912"/>
          </a:xfrm>
          <a:prstGeom prst="rect">
            <a:avLst/>
          </a:prstGeom>
          <a:solidFill>
            <a:srgbClr val="22C55E"/>
          </a:solidFill>
          <a:ln w="12700">
            <a:solidFill>
              <a:srgbClr val="22C55E"/>
            </a:solidFill>
            <a:prstDash val="solid"/>
          </a:ln>
        </p:spPr>
        <p:txBody>
          <a:bodyPr/>
          <a:lstStyle/>
          <a:p>
            <a:endParaRPr lang="en-GB"/>
          </a:p>
        </p:txBody>
      </p:sp>
      <p:sp>
        <p:nvSpPr>
          <p:cNvPr id="42" name="Text 40"/>
          <p:cNvSpPr/>
          <p:nvPr/>
        </p:nvSpPr>
        <p:spPr>
          <a:xfrm>
            <a:off x="3675888" y="4160520"/>
            <a:ext cx="3200400" cy="20116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Output Layer</a:t>
            </a:r>
            <a:endParaRPr lang="en-US" sz="1250" dirty="0"/>
          </a:p>
        </p:txBody>
      </p:sp>
      <p:sp>
        <p:nvSpPr>
          <p:cNvPr id="43" name="Text 41"/>
          <p:cNvSpPr/>
          <p:nvPr/>
        </p:nvSpPr>
        <p:spPr>
          <a:xfrm>
            <a:off x="3675888" y="4361688"/>
            <a:ext cx="5029200" cy="18288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4 class probabilities</a:t>
            </a:r>
            <a:endParaRPr lang="en-US" sz="1050" dirty="0"/>
          </a:p>
        </p:txBody>
      </p:sp>
      <p:sp>
        <p:nvSpPr>
          <p:cNvPr id="47" name="Right Brace 46">
            <a:extLst>
              <a:ext uri="{FF2B5EF4-FFF2-40B4-BE49-F238E27FC236}">
                <a16:creationId xmlns:a16="http://schemas.microsoft.com/office/drawing/2014/main" id="{82B8B32B-7E70-127C-42AA-5BA9D10C190E}"/>
              </a:ext>
            </a:extLst>
          </p:cNvPr>
          <p:cNvSpPr/>
          <p:nvPr/>
        </p:nvSpPr>
        <p:spPr>
          <a:xfrm>
            <a:off x="6303108" y="1645920"/>
            <a:ext cx="573180" cy="1453896"/>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ln w="0"/>
              <a:solidFill>
                <a:schemeClr val="accent1"/>
              </a:solidFill>
              <a:effectLst>
                <a:outerShdw blurRad="38100" dist="25400" dir="5400000" algn="ctr" rotWithShape="0">
                  <a:srgbClr val="6E747A">
                    <a:alpha val="43000"/>
                  </a:srgbClr>
                </a:outerShdw>
              </a:effectLst>
              <a:highlight>
                <a:srgbClr val="FFFF00"/>
              </a:highlight>
            </a:endParaRPr>
          </a:p>
        </p:txBody>
      </p:sp>
      <p:sp>
        <p:nvSpPr>
          <p:cNvPr id="48" name="TextBox 47">
            <a:extLst>
              <a:ext uri="{FF2B5EF4-FFF2-40B4-BE49-F238E27FC236}">
                <a16:creationId xmlns:a16="http://schemas.microsoft.com/office/drawing/2014/main" id="{41127979-61B8-5466-B8CB-A04E04EB5842}"/>
              </a:ext>
            </a:extLst>
          </p:cNvPr>
          <p:cNvSpPr txBox="1"/>
          <p:nvPr/>
        </p:nvSpPr>
        <p:spPr>
          <a:xfrm>
            <a:off x="7010400" y="2207846"/>
            <a:ext cx="683846" cy="369332"/>
          </a:xfrm>
          <a:prstGeom prst="rect">
            <a:avLst/>
          </a:prstGeom>
          <a:noFill/>
        </p:spPr>
        <p:txBody>
          <a:bodyPr wrap="square" rtlCol="0">
            <a:spAutoFit/>
          </a:bodyPr>
          <a:lstStyle/>
          <a:p>
            <a:r>
              <a:rPr lang="en-GB" dirty="0">
                <a:ln w="0"/>
                <a:solidFill>
                  <a:schemeClr val="bg1"/>
                </a:solidFill>
                <a:effectLst>
                  <a:outerShdw blurRad="38100" dist="19050" dir="2700000" algn="tl" rotWithShape="0">
                    <a:schemeClr val="dk1">
                      <a:alpha val="40000"/>
                    </a:schemeClr>
                  </a:outerShdw>
                </a:effectLst>
              </a:rPr>
              <a:t>X 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2 · CNN Results + Grad-CAM Explainability</a:t>
            </a:r>
            <a:endParaRPr lang="en-US" sz="2700" dirty="0"/>
          </a:p>
        </p:txBody>
      </p:sp>
      <p:sp>
        <p:nvSpPr>
          <p:cNvPr id="4" name="Shape 2"/>
          <p:cNvSpPr/>
          <p:nvPr/>
        </p:nvSpPr>
        <p:spPr>
          <a:xfrm>
            <a:off x="320040" y="841248"/>
            <a:ext cx="4114800" cy="749808"/>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20040" y="841248"/>
            <a:ext cx="73152" cy="749808"/>
          </a:xfrm>
          <a:prstGeom prst="rect">
            <a:avLst/>
          </a:prstGeom>
          <a:solidFill>
            <a:srgbClr val="FACC15"/>
          </a:solidFill>
          <a:ln w="12700">
            <a:solidFill>
              <a:srgbClr val="FACC15"/>
            </a:solidFill>
            <a:prstDash val="solid"/>
          </a:ln>
        </p:spPr>
        <p:txBody>
          <a:bodyPr/>
          <a:lstStyle/>
          <a:p>
            <a:endParaRPr lang="en-GB"/>
          </a:p>
        </p:txBody>
      </p:sp>
      <p:sp>
        <p:nvSpPr>
          <p:cNvPr id="6" name="Text 4"/>
          <p:cNvSpPr/>
          <p:nvPr/>
        </p:nvSpPr>
        <p:spPr>
          <a:xfrm>
            <a:off x="530352" y="914400"/>
            <a:ext cx="2286000" cy="27432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CNN Test Accuracy</a:t>
            </a:r>
            <a:endParaRPr lang="en-US" sz="1300" dirty="0"/>
          </a:p>
        </p:txBody>
      </p:sp>
      <p:sp>
        <p:nvSpPr>
          <p:cNvPr id="7" name="Text 5"/>
          <p:cNvSpPr/>
          <p:nvPr/>
        </p:nvSpPr>
        <p:spPr>
          <a:xfrm>
            <a:off x="2560320" y="868680"/>
            <a:ext cx="1737360" cy="640080"/>
          </a:xfrm>
          <a:prstGeom prst="rect">
            <a:avLst/>
          </a:prstGeom>
          <a:noFill/>
          <a:ln/>
        </p:spPr>
        <p:txBody>
          <a:bodyPr wrap="square" lIns="0" tIns="0" rIns="0" bIns="0" rtlCol="0" anchor="ctr"/>
          <a:lstStyle/>
          <a:p>
            <a:pPr marL="0" indent="0" algn="r">
              <a:buNone/>
            </a:pPr>
            <a:r>
              <a:rPr lang="en-US" sz="3200" b="1" dirty="0">
                <a:solidFill>
                  <a:srgbClr val="FACC15"/>
                </a:solidFill>
                <a:latin typeface="Trebuchet MS" pitchFamily="34" charset="0"/>
                <a:ea typeface="Trebuchet MS" pitchFamily="34" charset="-122"/>
                <a:cs typeface="Trebuchet MS" pitchFamily="34" charset="-120"/>
              </a:rPr>
              <a:t>81.87%</a:t>
            </a:r>
            <a:endParaRPr lang="en-US" sz="3200" dirty="0"/>
          </a:p>
        </p:txBody>
      </p:sp>
      <p:sp>
        <p:nvSpPr>
          <p:cNvPr id="8" name="Shape 6"/>
          <p:cNvSpPr/>
          <p:nvPr/>
        </p:nvSpPr>
        <p:spPr>
          <a:xfrm>
            <a:off x="320040" y="1709928"/>
            <a:ext cx="4114800" cy="1719072"/>
          </a:xfrm>
          <a:prstGeom prst="rect">
            <a:avLst/>
          </a:prstGeom>
          <a:solidFill>
            <a:srgbClr val="1E3A5F"/>
          </a:solidFill>
          <a:ln w="12700">
            <a:solidFill>
              <a:srgbClr val="00C6BE"/>
            </a:solidFill>
            <a:prstDash val="solid"/>
          </a:ln>
        </p:spPr>
        <p:txBody>
          <a:bodyPr/>
          <a:lstStyle/>
          <a:p>
            <a:endParaRPr lang="en-GB"/>
          </a:p>
        </p:txBody>
      </p:sp>
      <p:sp>
        <p:nvSpPr>
          <p:cNvPr id="9" name="Shape 7"/>
          <p:cNvSpPr/>
          <p:nvPr/>
        </p:nvSpPr>
        <p:spPr>
          <a:xfrm>
            <a:off x="320040" y="1709928"/>
            <a:ext cx="54864" cy="1719072"/>
          </a:xfrm>
          <a:prstGeom prst="rect">
            <a:avLst/>
          </a:prstGeom>
          <a:solidFill>
            <a:srgbClr val="00C6BE"/>
          </a:solidFill>
          <a:ln w="12700">
            <a:solidFill>
              <a:srgbClr val="00C6BE"/>
            </a:solidFill>
            <a:prstDash val="solid"/>
          </a:ln>
        </p:spPr>
        <p:txBody>
          <a:bodyPr/>
          <a:lstStyle/>
          <a:p>
            <a:endParaRPr lang="en-GB"/>
          </a:p>
        </p:txBody>
      </p:sp>
      <p:sp>
        <p:nvSpPr>
          <p:cNvPr id="10" name="Text 8"/>
          <p:cNvSpPr/>
          <p:nvPr/>
        </p:nvSpPr>
        <p:spPr>
          <a:xfrm>
            <a:off x="502920" y="1755648"/>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TRAINING CONFIGURATION</a:t>
            </a:r>
            <a:endParaRPr lang="en-US" sz="1000" dirty="0"/>
          </a:p>
        </p:txBody>
      </p:sp>
      <p:sp>
        <p:nvSpPr>
          <p:cNvPr id="11" name="Text 9"/>
          <p:cNvSpPr/>
          <p:nvPr/>
        </p:nvSpPr>
        <p:spPr>
          <a:xfrm>
            <a:off x="502920" y="2029968"/>
            <a:ext cx="38404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Image: 224×224×3   Batch: 32   Epochs: 15</a:t>
            </a:r>
            <a:endParaRPr lang="en-US" sz="1150" dirty="0"/>
          </a:p>
        </p:txBody>
      </p:sp>
      <p:sp>
        <p:nvSpPr>
          <p:cNvPr id="12" name="Text 10"/>
          <p:cNvSpPr/>
          <p:nvPr/>
        </p:nvSpPr>
        <p:spPr>
          <a:xfrm>
            <a:off x="502920" y="2359152"/>
            <a:ext cx="38404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LR: 0.001   Optimizer: Adam</a:t>
            </a:r>
            <a:endParaRPr lang="en-US" sz="1150" dirty="0"/>
          </a:p>
        </p:txBody>
      </p:sp>
      <p:sp>
        <p:nvSpPr>
          <p:cNvPr id="13" name="Text 11"/>
          <p:cNvSpPr/>
          <p:nvPr/>
        </p:nvSpPr>
        <p:spPr>
          <a:xfrm>
            <a:off x="502920" y="2688336"/>
            <a:ext cx="38404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Loss: Categorical Cross-Entropy</a:t>
            </a:r>
            <a:endParaRPr lang="en-US" sz="1150" dirty="0"/>
          </a:p>
        </p:txBody>
      </p:sp>
      <p:sp>
        <p:nvSpPr>
          <p:cNvPr id="14" name="Text 12"/>
          <p:cNvSpPr/>
          <p:nvPr/>
        </p:nvSpPr>
        <p:spPr>
          <a:xfrm>
            <a:off x="502920" y="3017520"/>
            <a:ext cx="38404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Callbacks: EarlyStopping · ReduceLR · Checkpoint</a:t>
            </a:r>
            <a:endParaRPr lang="en-US" sz="1150" dirty="0"/>
          </a:p>
        </p:txBody>
      </p:sp>
      <p:sp>
        <p:nvSpPr>
          <p:cNvPr id="15" name="Shape 13"/>
          <p:cNvSpPr/>
          <p:nvPr/>
        </p:nvSpPr>
        <p:spPr>
          <a:xfrm>
            <a:off x="4663440" y="841248"/>
            <a:ext cx="4160520" cy="2587752"/>
          </a:xfrm>
          <a:prstGeom prst="rect">
            <a:avLst/>
          </a:prstGeom>
          <a:solidFill>
            <a:srgbClr val="1E3A5F"/>
          </a:solidFill>
          <a:ln w="12700">
            <a:solidFill>
              <a:srgbClr val="00C6BE"/>
            </a:solidFill>
            <a:prstDash val="solid"/>
          </a:ln>
        </p:spPr>
        <p:txBody>
          <a:bodyPr/>
          <a:lstStyle/>
          <a:p>
            <a:endParaRPr lang="en-GB"/>
          </a:p>
        </p:txBody>
      </p:sp>
      <p:sp>
        <p:nvSpPr>
          <p:cNvPr id="16" name="Shape 14"/>
          <p:cNvSpPr/>
          <p:nvPr/>
        </p:nvSpPr>
        <p:spPr>
          <a:xfrm>
            <a:off x="4663440" y="841248"/>
            <a:ext cx="54864" cy="2587752"/>
          </a:xfrm>
          <a:prstGeom prst="rect">
            <a:avLst/>
          </a:prstGeom>
          <a:solidFill>
            <a:srgbClr val="00C6BE"/>
          </a:solidFill>
          <a:ln w="12700">
            <a:solidFill>
              <a:srgbClr val="00C6BE"/>
            </a:solidFill>
            <a:prstDash val="solid"/>
          </a:ln>
        </p:spPr>
        <p:txBody>
          <a:bodyPr/>
          <a:lstStyle/>
          <a:p>
            <a:endParaRPr lang="en-GB"/>
          </a:p>
        </p:txBody>
      </p:sp>
      <p:sp>
        <p:nvSpPr>
          <p:cNvPr id="17" name="Text 15"/>
          <p:cNvSpPr/>
          <p:nvPr/>
        </p:nvSpPr>
        <p:spPr>
          <a:xfrm>
            <a:off x="4846320" y="886968"/>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GRAD-CAM EXPLAINABILITY</a:t>
            </a:r>
            <a:endParaRPr lang="en-US" sz="1000" dirty="0"/>
          </a:p>
        </p:txBody>
      </p:sp>
      <p:sp>
        <p:nvSpPr>
          <p:cNvPr id="18" name="Text 16"/>
          <p:cNvSpPr/>
          <p:nvPr/>
        </p:nvSpPr>
        <p:spPr>
          <a:xfrm>
            <a:off x="4846320" y="116128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Creates a heatmap over prediction-important regions</a:t>
            </a:r>
            <a:endParaRPr lang="en-US" sz="1150" dirty="0"/>
          </a:p>
        </p:txBody>
      </p:sp>
      <p:sp>
        <p:nvSpPr>
          <p:cNvPr id="19" name="Text 17"/>
          <p:cNvSpPr/>
          <p:nvPr/>
        </p:nvSpPr>
        <p:spPr>
          <a:xfrm>
            <a:off x="4846320" y="152704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Uses gradients of last convolutional layer</a:t>
            </a:r>
            <a:endParaRPr lang="en-US" sz="1150" dirty="0"/>
          </a:p>
        </p:txBody>
      </p:sp>
      <p:sp>
        <p:nvSpPr>
          <p:cNvPr id="20" name="Text 18"/>
          <p:cNvSpPr/>
          <p:nvPr/>
        </p:nvSpPr>
        <p:spPr>
          <a:xfrm>
            <a:off x="4846320" y="189280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No model modification or retraining needed</a:t>
            </a:r>
            <a:endParaRPr lang="en-US" sz="1150" dirty="0"/>
          </a:p>
        </p:txBody>
      </p:sp>
      <p:sp>
        <p:nvSpPr>
          <p:cNvPr id="21" name="Text 19"/>
          <p:cNvSpPr/>
          <p:nvPr/>
        </p:nvSpPr>
        <p:spPr>
          <a:xfrm>
            <a:off x="4846320" y="225856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Class-specific: different class → different heatmap</a:t>
            </a:r>
            <a:endParaRPr lang="en-US" sz="1150" dirty="0"/>
          </a:p>
        </p:txBody>
      </p:sp>
      <p:sp>
        <p:nvSpPr>
          <p:cNvPr id="22" name="Text 20"/>
          <p:cNvSpPr/>
          <p:nvPr/>
        </p:nvSpPr>
        <p:spPr>
          <a:xfrm>
            <a:off x="4846320" y="262432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 Red = important  ·  🔵 Blue = unimportant</a:t>
            </a:r>
            <a:endParaRPr lang="en-US" sz="1150" dirty="0"/>
          </a:p>
        </p:txBody>
      </p:sp>
      <p:sp>
        <p:nvSpPr>
          <p:cNvPr id="23" name="Text 21"/>
          <p:cNvSpPr/>
          <p:nvPr/>
        </p:nvSpPr>
        <p:spPr>
          <a:xfrm>
            <a:off x="4846320" y="2990088"/>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Red regions often align with actual tumor location</a:t>
            </a:r>
            <a:endParaRPr lang="en-US" sz="1150" dirty="0"/>
          </a:p>
        </p:txBody>
      </p:sp>
      <p:sp>
        <p:nvSpPr>
          <p:cNvPr id="24" name="Text 22"/>
          <p:cNvSpPr/>
          <p:nvPr/>
        </p:nvSpPr>
        <p:spPr>
          <a:xfrm>
            <a:off x="320040" y="3566160"/>
            <a:ext cx="8229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IMPROVEMENT PATHS → MOTIVATES PART 3</a:t>
            </a:r>
            <a:endParaRPr lang="en-US" sz="1000" dirty="0"/>
          </a:p>
        </p:txBody>
      </p:sp>
      <p:sp>
        <p:nvSpPr>
          <p:cNvPr id="25" name="Shape 23"/>
          <p:cNvSpPr/>
          <p:nvPr/>
        </p:nvSpPr>
        <p:spPr>
          <a:xfrm>
            <a:off x="320040" y="3822192"/>
            <a:ext cx="2057400" cy="530352"/>
          </a:xfrm>
          <a:prstGeom prst="rect">
            <a:avLst/>
          </a:prstGeom>
          <a:solidFill>
            <a:srgbClr val="1E3A5F"/>
          </a:solidFill>
          <a:ln w="12700">
            <a:solidFill>
              <a:srgbClr val="00C6BE"/>
            </a:solidFill>
            <a:prstDash val="solid"/>
          </a:ln>
        </p:spPr>
        <p:txBody>
          <a:bodyPr/>
          <a:lstStyle/>
          <a:p>
            <a:endParaRPr lang="en-GB"/>
          </a:p>
        </p:txBody>
      </p:sp>
      <p:sp>
        <p:nvSpPr>
          <p:cNvPr id="26" name="Text 24"/>
          <p:cNvSpPr/>
          <p:nvPr/>
        </p:nvSpPr>
        <p:spPr>
          <a:xfrm>
            <a:off x="320040" y="3822192"/>
            <a:ext cx="2057400" cy="530352"/>
          </a:xfrm>
          <a:prstGeom prst="rect">
            <a:avLst/>
          </a:prstGeom>
          <a:noFill/>
          <a:ln/>
        </p:spPr>
        <p:txBody>
          <a:bodyPr wrap="square" rtlCol="0" anchor="ctr"/>
          <a:lstStyle/>
          <a:p>
            <a:pPr marL="0" indent="0" algn="ctr">
              <a:buNone/>
            </a:pPr>
            <a:r>
              <a:rPr lang="en-US" sz="1200" dirty="0">
                <a:solidFill>
                  <a:srgbClr val="CBD5E1"/>
                </a:solidFill>
                <a:latin typeface="Calibri" pitchFamily="34" charset="0"/>
                <a:ea typeface="Calibri" pitchFamily="34" charset="-122"/>
                <a:cs typeface="Calibri" pitchFamily="34" charset="-120"/>
              </a:rPr>
              <a:t>Crop MRI brain region</a:t>
            </a:r>
            <a:endParaRPr lang="en-US" sz="1200" dirty="0"/>
          </a:p>
        </p:txBody>
      </p:sp>
      <p:sp>
        <p:nvSpPr>
          <p:cNvPr id="27" name="Shape 25"/>
          <p:cNvSpPr/>
          <p:nvPr/>
        </p:nvSpPr>
        <p:spPr>
          <a:xfrm>
            <a:off x="2514600" y="3822192"/>
            <a:ext cx="2057400" cy="530352"/>
          </a:xfrm>
          <a:prstGeom prst="rect">
            <a:avLst/>
          </a:prstGeom>
          <a:solidFill>
            <a:srgbClr val="1E3A5F"/>
          </a:solidFill>
          <a:ln w="12700">
            <a:solidFill>
              <a:srgbClr val="00C6BE"/>
            </a:solidFill>
            <a:prstDash val="solid"/>
          </a:ln>
        </p:spPr>
        <p:txBody>
          <a:bodyPr/>
          <a:lstStyle/>
          <a:p>
            <a:endParaRPr lang="en-GB"/>
          </a:p>
        </p:txBody>
      </p:sp>
      <p:sp>
        <p:nvSpPr>
          <p:cNvPr id="28" name="Text 26"/>
          <p:cNvSpPr/>
          <p:nvPr/>
        </p:nvSpPr>
        <p:spPr>
          <a:xfrm>
            <a:off x="2514600" y="3822192"/>
            <a:ext cx="2057400" cy="530352"/>
          </a:xfrm>
          <a:prstGeom prst="rect">
            <a:avLst/>
          </a:prstGeom>
          <a:noFill/>
          <a:ln/>
        </p:spPr>
        <p:txBody>
          <a:bodyPr wrap="square" rtlCol="0" anchor="ctr"/>
          <a:lstStyle/>
          <a:p>
            <a:pPr marL="0" indent="0" algn="ctr">
              <a:buNone/>
            </a:pPr>
            <a:r>
              <a:rPr lang="en-US" sz="1200" dirty="0">
                <a:solidFill>
                  <a:srgbClr val="CBD5E1"/>
                </a:solidFill>
                <a:latin typeface="Calibri" pitchFamily="34" charset="0"/>
                <a:ea typeface="Calibri" pitchFamily="34" charset="-122"/>
                <a:cs typeface="Calibri" pitchFamily="34" charset="-120"/>
              </a:rPr>
              <a:t>Stronger augmentation</a:t>
            </a:r>
            <a:endParaRPr lang="en-US" sz="1200" dirty="0"/>
          </a:p>
        </p:txBody>
      </p:sp>
      <p:sp>
        <p:nvSpPr>
          <p:cNvPr id="29" name="Shape 27"/>
          <p:cNvSpPr/>
          <p:nvPr/>
        </p:nvSpPr>
        <p:spPr>
          <a:xfrm>
            <a:off x="4709160" y="3822192"/>
            <a:ext cx="2057400" cy="530352"/>
          </a:xfrm>
          <a:prstGeom prst="rect">
            <a:avLst/>
          </a:prstGeom>
          <a:solidFill>
            <a:srgbClr val="1E3A5F"/>
          </a:solidFill>
          <a:ln w="12700">
            <a:solidFill>
              <a:srgbClr val="00C6BE"/>
            </a:solidFill>
            <a:prstDash val="solid"/>
          </a:ln>
        </p:spPr>
        <p:txBody>
          <a:bodyPr/>
          <a:lstStyle/>
          <a:p>
            <a:endParaRPr lang="en-GB"/>
          </a:p>
        </p:txBody>
      </p:sp>
      <p:sp>
        <p:nvSpPr>
          <p:cNvPr id="30" name="Text 28"/>
          <p:cNvSpPr/>
          <p:nvPr/>
        </p:nvSpPr>
        <p:spPr>
          <a:xfrm>
            <a:off x="4709160" y="3822192"/>
            <a:ext cx="2057400" cy="530352"/>
          </a:xfrm>
          <a:prstGeom prst="rect">
            <a:avLst/>
          </a:prstGeom>
          <a:noFill/>
          <a:ln/>
        </p:spPr>
        <p:txBody>
          <a:bodyPr wrap="square" rtlCol="0" anchor="ctr"/>
          <a:lstStyle/>
          <a:p>
            <a:pPr marL="0" indent="0" algn="ctr">
              <a:buNone/>
            </a:pPr>
            <a:r>
              <a:rPr lang="en-US" sz="1200" dirty="0">
                <a:solidFill>
                  <a:srgbClr val="CBD5E1"/>
                </a:solidFill>
                <a:latin typeface="Calibri" pitchFamily="34" charset="0"/>
                <a:ea typeface="Calibri" pitchFamily="34" charset="-122"/>
                <a:cs typeface="Calibri" pitchFamily="34" charset="-120"/>
              </a:rPr>
              <a:t>More conv layers</a:t>
            </a:r>
            <a:endParaRPr lang="en-US" sz="1200" dirty="0"/>
          </a:p>
        </p:txBody>
      </p:sp>
      <p:sp>
        <p:nvSpPr>
          <p:cNvPr id="31" name="Shape 29"/>
          <p:cNvSpPr/>
          <p:nvPr/>
        </p:nvSpPr>
        <p:spPr>
          <a:xfrm>
            <a:off x="6903720" y="3822192"/>
            <a:ext cx="2057400" cy="530352"/>
          </a:xfrm>
          <a:prstGeom prst="rect">
            <a:avLst/>
          </a:prstGeom>
          <a:solidFill>
            <a:srgbClr val="1E3A5F"/>
          </a:solidFill>
          <a:ln w="12700">
            <a:solidFill>
              <a:srgbClr val="00C6BE"/>
            </a:solidFill>
            <a:prstDash val="solid"/>
          </a:ln>
        </p:spPr>
        <p:txBody>
          <a:bodyPr/>
          <a:lstStyle/>
          <a:p>
            <a:endParaRPr lang="en-GB"/>
          </a:p>
        </p:txBody>
      </p:sp>
      <p:sp>
        <p:nvSpPr>
          <p:cNvPr id="32" name="Text 30"/>
          <p:cNvSpPr/>
          <p:nvPr/>
        </p:nvSpPr>
        <p:spPr>
          <a:xfrm>
            <a:off x="6903720" y="3822192"/>
            <a:ext cx="2057400" cy="530352"/>
          </a:xfrm>
          <a:prstGeom prst="rect">
            <a:avLst/>
          </a:prstGeom>
          <a:noFill/>
          <a:ln/>
        </p:spPr>
        <p:txBody>
          <a:bodyPr wrap="square" rtlCol="0" anchor="ctr"/>
          <a:lstStyle/>
          <a:p>
            <a:pPr marL="0" indent="0" algn="ctr">
              <a:buNone/>
            </a:pPr>
            <a:r>
              <a:rPr lang="en-US" sz="1200" b="1" dirty="0">
                <a:solidFill>
                  <a:srgbClr val="00C6BE"/>
                </a:solidFill>
                <a:latin typeface="Calibri" pitchFamily="34" charset="0"/>
                <a:ea typeface="Calibri" pitchFamily="34" charset="-122"/>
                <a:cs typeface="Calibri" pitchFamily="34" charset="-120"/>
              </a:rPr>
              <a:t>→ Use Transfer Learning</a:t>
            </a:r>
            <a:endParaRPr lang="en-US" sz="1200" dirty="0"/>
          </a:p>
        </p:txBody>
      </p:sp>
      <p:sp>
        <p:nvSpPr>
          <p:cNvPr id="33" name="Action Button: Go Forward or Next 32">
            <a:hlinkClick r:id="rId3" action="ppaction://hlinksldjump" highlightClick="1">
              <a:snd r:embed="rId4" name="whoosh.wav"/>
            </a:hlinkClick>
            <a:extLst>
              <a:ext uri="{FF2B5EF4-FFF2-40B4-BE49-F238E27FC236}">
                <a16:creationId xmlns:a16="http://schemas.microsoft.com/office/drawing/2014/main" id="{C94DD56F-4A86-B0FB-DE86-7E743D31D608}"/>
              </a:ext>
            </a:extLst>
          </p:cNvPr>
          <p:cNvSpPr/>
          <p:nvPr/>
        </p:nvSpPr>
        <p:spPr>
          <a:xfrm>
            <a:off x="7783928" y="2624328"/>
            <a:ext cx="296984" cy="29698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3 · Transfer Learning — ResNet50</a:t>
            </a:r>
            <a:endParaRPr lang="en-US" sz="2700" dirty="0"/>
          </a:p>
        </p:txBody>
      </p:sp>
      <p:sp>
        <p:nvSpPr>
          <p:cNvPr id="4" name="Shape 2"/>
          <p:cNvSpPr/>
          <p:nvPr/>
        </p:nvSpPr>
        <p:spPr>
          <a:xfrm>
            <a:off x="320040" y="841248"/>
            <a:ext cx="4114800" cy="242316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20040" y="841248"/>
            <a:ext cx="54864" cy="2423160"/>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502920" y="886968"/>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WHY TRANSFER LEARNING?</a:t>
            </a:r>
            <a:endParaRPr lang="en-US" sz="1000" dirty="0"/>
          </a:p>
        </p:txBody>
      </p:sp>
      <p:sp>
        <p:nvSpPr>
          <p:cNvPr id="7" name="Text 5"/>
          <p:cNvSpPr/>
          <p:nvPr/>
        </p:nvSpPr>
        <p:spPr>
          <a:xfrm>
            <a:off x="502920" y="1170432"/>
            <a:ext cx="3749040" cy="21945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General features</a:t>
            </a:r>
            <a:endParaRPr lang="en-US" sz="1300" dirty="0"/>
          </a:p>
        </p:txBody>
      </p:sp>
      <p:sp>
        <p:nvSpPr>
          <p:cNvPr id="8" name="Text 6"/>
          <p:cNvSpPr/>
          <p:nvPr/>
        </p:nvSpPr>
        <p:spPr>
          <a:xfrm>
            <a:off x="502920" y="1399032"/>
            <a:ext cx="3749040" cy="347472"/>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Early layers learn edges/textures applicable to any image — pre-trained on 1.2M ImageNet images</a:t>
            </a:r>
            <a:endParaRPr lang="en-US" sz="1150" dirty="0"/>
          </a:p>
        </p:txBody>
      </p:sp>
      <p:sp>
        <p:nvSpPr>
          <p:cNvPr id="9" name="Text 7"/>
          <p:cNvSpPr/>
          <p:nvPr/>
        </p:nvSpPr>
        <p:spPr>
          <a:xfrm>
            <a:off x="502920" y="1856232"/>
            <a:ext cx="3749040" cy="21945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Less data needed</a:t>
            </a:r>
            <a:endParaRPr lang="en-US" sz="1300" dirty="0"/>
          </a:p>
        </p:txBody>
      </p:sp>
      <p:sp>
        <p:nvSpPr>
          <p:cNvPr id="10" name="Text 8"/>
          <p:cNvSpPr/>
          <p:nvPr/>
        </p:nvSpPr>
        <p:spPr>
          <a:xfrm>
            <a:off x="502920" y="2084832"/>
            <a:ext cx="3749040" cy="347472"/>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ImageNet knowledge compensates for limited medical images (1K–10K vs 100K+)</a:t>
            </a:r>
            <a:endParaRPr lang="en-US" sz="1150" dirty="0"/>
          </a:p>
        </p:txBody>
      </p:sp>
      <p:sp>
        <p:nvSpPr>
          <p:cNvPr id="11" name="Text 9"/>
          <p:cNvSpPr/>
          <p:nvPr/>
        </p:nvSpPr>
        <p:spPr>
          <a:xfrm>
            <a:off x="502920" y="2542032"/>
            <a:ext cx="3749040" cy="21945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Faster training</a:t>
            </a:r>
            <a:endParaRPr lang="en-US" sz="1300" dirty="0"/>
          </a:p>
        </p:txBody>
      </p:sp>
      <p:sp>
        <p:nvSpPr>
          <p:cNvPr id="12" name="Text 10"/>
          <p:cNvSpPr/>
          <p:nvPr/>
        </p:nvSpPr>
        <p:spPr>
          <a:xfrm>
            <a:off x="502920" y="2770632"/>
            <a:ext cx="3749040" cy="347472"/>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Only train the custom head — base stays frozen</a:t>
            </a:r>
            <a:endParaRPr lang="en-US" sz="1150" dirty="0"/>
          </a:p>
        </p:txBody>
      </p:sp>
      <p:sp>
        <p:nvSpPr>
          <p:cNvPr id="13" name="Text 11"/>
          <p:cNvSpPr/>
          <p:nvPr/>
        </p:nvSpPr>
        <p:spPr>
          <a:xfrm>
            <a:off x="4663440" y="841248"/>
            <a:ext cx="420624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RESNET50 ARCHITECTURE</a:t>
            </a:r>
            <a:endParaRPr lang="en-US" sz="1000" dirty="0"/>
          </a:p>
        </p:txBody>
      </p:sp>
      <p:sp>
        <p:nvSpPr>
          <p:cNvPr id="14" name="Shape 12"/>
          <p:cNvSpPr/>
          <p:nvPr/>
        </p:nvSpPr>
        <p:spPr>
          <a:xfrm>
            <a:off x="4663440" y="1115568"/>
            <a:ext cx="2011680" cy="795528"/>
          </a:xfrm>
          <a:prstGeom prst="rect">
            <a:avLst/>
          </a:prstGeom>
          <a:solidFill>
            <a:srgbClr val="1E3A5F"/>
          </a:solidFill>
          <a:ln w="12700">
            <a:solidFill>
              <a:srgbClr val="00C6BE"/>
            </a:solidFill>
            <a:prstDash val="solid"/>
          </a:ln>
        </p:spPr>
        <p:txBody>
          <a:bodyPr/>
          <a:lstStyle/>
          <a:p>
            <a:endParaRPr lang="en-GB"/>
          </a:p>
        </p:txBody>
      </p:sp>
      <p:sp>
        <p:nvSpPr>
          <p:cNvPr id="15" name="Text 13"/>
          <p:cNvSpPr/>
          <p:nvPr/>
        </p:nvSpPr>
        <p:spPr>
          <a:xfrm>
            <a:off x="4663440" y="1161288"/>
            <a:ext cx="2011680" cy="475488"/>
          </a:xfrm>
          <a:prstGeom prst="rect">
            <a:avLst/>
          </a:prstGeom>
          <a:noFill/>
          <a:ln/>
        </p:spPr>
        <p:txBody>
          <a:bodyPr wrap="square" lIns="0" tIns="0" rIns="0" bIns="0" rtlCol="0" anchor="ctr"/>
          <a:lstStyle/>
          <a:p>
            <a:pPr marL="0" indent="0" algn="ctr">
              <a:buNone/>
            </a:pPr>
            <a:r>
              <a:rPr lang="en-US" sz="3000" b="1" dirty="0">
                <a:solidFill>
                  <a:srgbClr val="00C6BE"/>
                </a:solidFill>
                <a:latin typeface="Trebuchet MS" pitchFamily="34" charset="0"/>
                <a:ea typeface="Trebuchet MS" pitchFamily="34" charset="-122"/>
                <a:cs typeface="Trebuchet MS" pitchFamily="34" charset="-120"/>
              </a:rPr>
              <a:t>50</a:t>
            </a:r>
            <a:endParaRPr lang="en-US" sz="3000" dirty="0"/>
          </a:p>
        </p:txBody>
      </p:sp>
      <p:sp>
        <p:nvSpPr>
          <p:cNvPr id="16" name="Text 14"/>
          <p:cNvSpPr/>
          <p:nvPr/>
        </p:nvSpPr>
        <p:spPr>
          <a:xfrm>
            <a:off x="4663440" y="1618488"/>
            <a:ext cx="2011680" cy="201168"/>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Weight Layers</a:t>
            </a:r>
            <a:endParaRPr lang="en-US" sz="1100" dirty="0"/>
          </a:p>
        </p:txBody>
      </p:sp>
      <p:sp>
        <p:nvSpPr>
          <p:cNvPr id="17" name="Shape 15"/>
          <p:cNvSpPr/>
          <p:nvPr/>
        </p:nvSpPr>
        <p:spPr>
          <a:xfrm>
            <a:off x="6812280" y="1115568"/>
            <a:ext cx="2011680" cy="795528"/>
          </a:xfrm>
          <a:prstGeom prst="rect">
            <a:avLst/>
          </a:prstGeom>
          <a:solidFill>
            <a:srgbClr val="1E3A5F"/>
          </a:solidFill>
          <a:ln w="12700">
            <a:solidFill>
              <a:srgbClr val="00C6BE"/>
            </a:solidFill>
            <a:prstDash val="solid"/>
          </a:ln>
        </p:spPr>
        <p:txBody>
          <a:bodyPr/>
          <a:lstStyle/>
          <a:p>
            <a:endParaRPr lang="en-GB"/>
          </a:p>
        </p:txBody>
      </p:sp>
      <p:sp>
        <p:nvSpPr>
          <p:cNvPr id="18" name="Text 16"/>
          <p:cNvSpPr/>
          <p:nvPr/>
        </p:nvSpPr>
        <p:spPr>
          <a:xfrm>
            <a:off x="6812280" y="1161288"/>
            <a:ext cx="2011680" cy="475488"/>
          </a:xfrm>
          <a:prstGeom prst="rect">
            <a:avLst/>
          </a:prstGeom>
          <a:noFill/>
          <a:ln/>
        </p:spPr>
        <p:txBody>
          <a:bodyPr wrap="square" lIns="0" tIns="0" rIns="0" bIns="0" rtlCol="0" anchor="ctr"/>
          <a:lstStyle/>
          <a:p>
            <a:pPr marL="0" indent="0" algn="ctr">
              <a:buNone/>
            </a:pPr>
            <a:r>
              <a:rPr lang="en-US" sz="3000" b="1" dirty="0">
                <a:solidFill>
                  <a:srgbClr val="00C6BE"/>
                </a:solidFill>
                <a:latin typeface="Trebuchet MS" pitchFamily="34" charset="0"/>
                <a:ea typeface="Trebuchet MS" pitchFamily="34" charset="-122"/>
                <a:cs typeface="Trebuchet MS" pitchFamily="34" charset="-120"/>
              </a:rPr>
              <a:t>175</a:t>
            </a:r>
            <a:endParaRPr lang="en-US" sz="3000" dirty="0"/>
          </a:p>
        </p:txBody>
      </p:sp>
      <p:sp>
        <p:nvSpPr>
          <p:cNvPr id="19" name="Text 17"/>
          <p:cNvSpPr/>
          <p:nvPr/>
        </p:nvSpPr>
        <p:spPr>
          <a:xfrm>
            <a:off x="6812280" y="1618488"/>
            <a:ext cx="2011680" cy="201168"/>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Total Operations</a:t>
            </a:r>
            <a:endParaRPr lang="en-US" sz="1100" dirty="0"/>
          </a:p>
        </p:txBody>
      </p:sp>
      <p:sp>
        <p:nvSpPr>
          <p:cNvPr id="20" name="Shape 18"/>
          <p:cNvSpPr/>
          <p:nvPr/>
        </p:nvSpPr>
        <p:spPr>
          <a:xfrm>
            <a:off x="4663440" y="1984248"/>
            <a:ext cx="2011680" cy="795528"/>
          </a:xfrm>
          <a:prstGeom prst="rect">
            <a:avLst/>
          </a:prstGeom>
          <a:solidFill>
            <a:srgbClr val="1E3A5F"/>
          </a:solidFill>
          <a:ln w="12700">
            <a:solidFill>
              <a:srgbClr val="00C6BE"/>
            </a:solidFill>
            <a:prstDash val="solid"/>
          </a:ln>
        </p:spPr>
        <p:txBody>
          <a:bodyPr/>
          <a:lstStyle/>
          <a:p>
            <a:endParaRPr lang="en-GB"/>
          </a:p>
        </p:txBody>
      </p:sp>
      <p:sp>
        <p:nvSpPr>
          <p:cNvPr id="21" name="Text 19"/>
          <p:cNvSpPr/>
          <p:nvPr/>
        </p:nvSpPr>
        <p:spPr>
          <a:xfrm>
            <a:off x="4663440" y="2029968"/>
            <a:ext cx="2011680" cy="475488"/>
          </a:xfrm>
          <a:prstGeom prst="rect">
            <a:avLst/>
          </a:prstGeom>
          <a:noFill/>
          <a:ln/>
        </p:spPr>
        <p:txBody>
          <a:bodyPr wrap="square" lIns="0" tIns="0" rIns="0" bIns="0" rtlCol="0" anchor="ctr"/>
          <a:lstStyle/>
          <a:p>
            <a:pPr marL="0" indent="0" algn="ctr">
              <a:buNone/>
            </a:pPr>
            <a:r>
              <a:rPr lang="en-US" sz="3000" b="1" dirty="0">
                <a:solidFill>
                  <a:srgbClr val="00C6BE"/>
                </a:solidFill>
                <a:latin typeface="Trebuchet MS" pitchFamily="34" charset="0"/>
                <a:ea typeface="Trebuchet MS" pitchFamily="34" charset="-122"/>
                <a:cs typeface="Trebuchet MS" pitchFamily="34" charset="-120"/>
              </a:rPr>
              <a:t>53</a:t>
            </a:r>
            <a:endParaRPr lang="en-US" sz="3000" dirty="0"/>
          </a:p>
        </p:txBody>
      </p:sp>
      <p:sp>
        <p:nvSpPr>
          <p:cNvPr id="22" name="Text 20"/>
          <p:cNvSpPr/>
          <p:nvPr/>
        </p:nvSpPr>
        <p:spPr>
          <a:xfrm>
            <a:off x="4663440" y="2487168"/>
            <a:ext cx="2011680" cy="201168"/>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Convolutions</a:t>
            </a:r>
            <a:endParaRPr lang="en-US" sz="1100" dirty="0"/>
          </a:p>
        </p:txBody>
      </p:sp>
      <p:sp>
        <p:nvSpPr>
          <p:cNvPr id="23" name="Shape 21"/>
          <p:cNvSpPr/>
          <p:nvPr/>
        </p:nvSpPr>
        <p:spPr>
          <a:xfrm>
            <a:off x="6812280" y="1984248"/>
            <a:ext cx="2011680" cy="795528"/>
          </a:xfrm>
          <a:prstGeom prst="rect">
            <a:avLst/>
          </a:prstGeom>
          <a:solidFill>
            <a:srgbClr val="1E3A5F"/>
          </a:solidFill>
          <a:ln w="12700">
            <a:solidFill>
              <a:srgbClr val="00C6BE"/>
            </a:solidFill>
            <a:prstDash val="solid"/>
          </a:ln>
        </p:spPr>
        <p:txBody>
          <a:bodyPr/>
          <a:lstStyle/>
          <a:p>
            <a:endParaRPr lang="en-GB"/>
          </a:p>
        </p:txBody>
      </p:sp>
      <p:sp>
        <p:nvSpPr>
          <p:cNvPr id="24" name="Text 22"/>
          <p:cNvSpPr/>
          <p:nvPr/>
        </p:nvSpPr>
        <p:spPr>
          <a:xfrm>
            <a:off x="6812280" y="2029968"/>
            <a:ext cx="2011680" cy="475488"/>
          </a:xfrm>
          <a:prstGeom prst="rect">
            <a:avLst/>
          </a:prstGeom>
          <a:noFill/>
          <a:ln/>
        </p:spPr>
        <p:txBody>
          <a:bodyPr wrap="square" lIns="0" tIns="0" rIns="0" bIns="0" rtlCol="0" anchor="ctr"/>
          <a:lstStyle/>
          <a:p>
            <a:pPr marL="0" indent="0" algn="ctr">
              <a:buNone/>
            </a:pPr>
            <a:r>
              <a:rPr lang="en-US" sz="3000" b="1" dirty="0">
                <a:solidFill>
                  <a:srgbClr val="00C6BE"/>
                </a:solidFill>
                <a:latin typeface="Trebuchet MS" pitchFamily="34" charset="0"/>
                <a:ea typeface="Trebuchet MS" pitchFamily="34" charset="-122"/>
                <a:cs typeface="Trebuchet MS" pitchFamily="34" charset="-120"/>
              </a:rPr>
              <a:t>16</a:t>
            </a:r>
            <a:endParaRPr lang="en-US" sz="3000" dirty="0"/>
          </a:p>
        </p:txBody>
      </p:sp>
      <p:sp>
        <p:nvSpPr>
          <p:cNvPr id="25" name="Text 23"/>
          <p:cNvSpPr/>
          <p:nvPr/>
        </p:nvSpPr>
        <p:spPr>
          <a:xfrm>
            <a:off x="6812280" y="2487168"/>
            <a:ext cx="2011680" cy="201168"/>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Skip Connections</a:t>
            </a:r>
            <a:endParaRPr lang="en-US" sz="1100" dirty="0"/>
          </a:p>
        </p:txBody>
      </p:sp>
      <p:sp>
        <p:nvSpPr>
          <p:cNvPr id="26" name="Text 24"/>
          <p:cNvSpPr/>
          <p:nvPr/>
        </p:nvSpPr>
        <p:spPr>
          <a:xfrm>
            <a:off x="4663440" y="2926080"/>
            <a:ext cx="420624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FINE-TUNING CONFIGURATION</a:t>
            </a:r>
            <a:endParaRPr lang="en-US" sz="1000" dirty="0"/>
          </a:p>
        </p:txBody>
      </p:sp>
      <p:sp>
        <p:nvSpPr>
          <p:cNvPr id="27" name="Text 25"/>
          <p:cNvSpPr/>
          <p:nvPr/>
        </p:nvSpPr>
        <p:spPr>
          <a:xfrm>
            <a:off x="4663440" y="3182112"/>
            <a:ext cx="4206240" cy="274320"/>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Image: 224×224×3 (ResNet required)</a:t>
            </a:r>
            <a:endParaRPr lang="en-US" sz="1150" dirty="0"/>
          </a:p>
        </p:txBody>
      </p:sp>
      <p:sp>
        <p:nvSpPr>
          <p:cNvPr id="28" name="Text 26"/>
          <p:cNvSpPr/>
          <p:nvPr/>
        </p:nvSpPr>
        <p:spPr>
          <a:xfrm>
            <a:off x="4663440" y="3474720"/>
            <a:ext cx="4206240" cy="274320"/>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Batch: 32   Epochs: 20   LR: 0.001</a:t>
            </a:r>
            <a:endParaRPr lang="en-US" sz="1150" dirty="0"/>
          </a:p>
        </p:txBody>
      </p:sp>
      <p:sp>
        <p:nvSpPr>
          <p:cNvPr id="29" name="Text 27"/>
          <p:cNvSpPr/>
          <p:nvPr/>
        </p:nvSpPr>
        <p:spPr>
          <a:xfrm>
            <a:off x="4663440" y="3767328"/>
            <a:ext cx="4206240" cy="274320"/>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Optimizer: Adam   Loss: Cat. Cross-Entropy</a:t>
            </a:r>
            <a:endParaRPr lang="en-US" sz="1150" dirty="0"/>
          </a:p>
        </p:txBody>
      </p:sp>
      <p:sp>
        <p:nvSpPr>
          <p:cNvPr id="30" name="Text 28"/>
          <p:cNvSpPr/>
          <p:nvPr/>
        </p:nvSpPr>
        <p:spPr>
          <a:xfrm>
            <a:off x="4663440" y="4059936"/>
            <a:ext cx="4206240" cy="274320"/>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Callbacks: EarlyStopping · ReduceLR</a:t>
            </a:r>
            <a:endParaRPr lang="en-US" sz="1150" dirty="0"/>
          </a:p>
        </p:txBody>
      </p:sp>
      <p:sp>
        <p:nvSpPr>
          <p:cNvPr id="31" name="Shape 29"/>
          <p:cNvSpPr/>
          <p:nvPr/>
        </p:nvSpPr>
        <p:spPr>
          <a:xfrm>
            <a:off x="320040" y="3401568"/>
            <a:ext cx="4114800" cy="960120"/>
          </a:xfrm>
          <a:prstGeom prst="rect">
            <a:avLst/>
          </a:prstGeom>
          <a:solidFill>
            <a:srgbClr val="1E3A5F"/>
          </a:solidFill>
          <a:ln w="12700">
            <a:solidFill>
              <a:srgbClr val="00C6BE"/>
            </a:solidFill>
            <a:prstDash val="solid"/>
          </a:ln>
        </p:spPr>
        <p:txBody>
          <a:bodyPr/>
          <a:lstStyle/>
          <a:p>
            <a:endParaRPr lang="en-GB"/>
          </a:p>
        </p:txBody>
      </p:sp>
      <p:sp>
        <p:nvSpPr>
          <p:cNvPr id="32" name="Shape 30"/>
          <p:cNvSpPr/>
          <p:nvPr/>
        </p:nvSpPr>
        <p:spPr>
          <a:xfrm>
            <a:off x="320040" y="3401568"/>
            <a:ext cx="73152" cy="960120"/>
          </a:xfrm>
          <a:prstGeom prst="rect">
            <a:avLst/>
          </a:prstGeom>
          <a:solidFill>
            <a:srgbClr val="22C55E"/>
          </a:solidFill>
          <a:ln w="12700">
            <a:solidFill>
              <a:srgbClr val="22C55E"/>
            </a:solidFill>
            <a:prstDash val="solid"/>
          </a:ln>
        </p:spPr>
        <p:txBody>
          <a:bodyPr/>
          <a:lstStyle/>
          <a:p>
            <a:endParaRPr lang="en-GB"/>
          </a:p>
        </p:txBody>
      </p:sp>
      <p:sp>
        <p:nvSpPr>
          <p:cNvPr id="33" name="Text 31"/>
          <p:cNvSpPr/>
          <p:nvPr/>
        </p:nvSpPr>
        <p:spPr>
          <a:xfrm>
            <a:off x="521208" y="3493008"/>
            <a:ext cx="2743200" cy="27432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ResNet50 Test Accuracy</a:t>
            </a:r>
            <a:endParaRPr lang="en-US" sz="1300" dirty="0"/>
          </a:p>
        </p:txBody>
      </p:sp>
      <p:sp>
        <p:nvSpPr>
          <p:cNvPr id="34" name="Text 32"/>
          <p:cNvSpPr/>
          <p:nvPr/>
        </p:nvSpPr>
        <p:spPr>
          <a:xfrm>
            <a:off x="1371600" y="3639312"/>
            <a:ext cx="2834640" cy="502920"/>
          </a:xfrm>
          <a:prstGeom prst="rect">
            <a:avLst/>
          </a:prstGeom>
          <a:noFill/>
          <a:ln/>
        </p:spPr>
        <p:txBody>
          <a:bodyPr wrap="square" lIns="0" tIns="0" rIns="0" bIns="0" rtlCol="0" anchor="ctr"/>
          <a:lstStyle/>
          <a:p>
            <a:pPr marL="0" indent="0" algn="r">
              <a:buNone/>
            </a:pPr>
            <a:r>
              <a:rPr lang="en-US" sz="3000" b="1" dirty="0">
                <a:solidFill>
                  <a:srgbClr val="22C55E"/>
                </a:solidFill>
                <a:latin typeface="Trebuchet MS" pitchFamily="34" charset="0"/>
                <a:ea typeface="Trebuchet MS" pitchFamily="34" charset="-122"/>
                <a:cs typeface="Trebuchet MS" pitchFamily="34" charset="-120"/>
              </a:rPr>
              <a:t>89.81%</a:t>
            </a:r>
            <a:endParaRPr lang="en-US" sz="3000" dirty="0"/>
          </a:p>
        </p:txBody>
      </p:sp>
      <p:sp>
        <p:nvSpPr>
          <p:cNvPr id="35" name="Text 33"/>
          <p:cNvSpPr/>
          <p:nvPr/>
        </p:nvSpPr>
        <p:spPr>
          <a:xfrm>
            <a:off x="521208" y="4059936"/>
            <a:ext cx="3657600" cy="219456"/>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 over CNN · less training data needed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3 · LIME — Model-Agnostic Explainability</a:t>
            </a:r>
            <a:endParaRPr lang="en-US" sz="2700" dirty="0"/>
          </a:p>
        </p:txBody>
      </p:sp>
      <p:sp>
        <p:nvSpPr>
          <p:cNvPr id="4" name="Shape 2"/>
          <p:cNvSpPr/>
          <p:nvPr/>
        </p:nvSpPr>
        <p:spPr>
          <a:xfrm>
            <a:off x="320040" y="841248"/>
            <a:ext cx="4114800" cy="320040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20040" y="841248"/>
            <a:ext cx="54864" cy="3200400"/>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502920" y="886968"/>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HOW LIME WORKS</a:t>
            </a:r>
            <a:endParaRPr lang="en-US" sz="1000" dirty="0"/>
          </a:p>
        </p:txBody>
      </p:sp>
      <p:sp>
        <p:nvSpPr>
          <p:cNvPr id="7" name="Shape 5"/>
          <p:cNvSpPr/>
          <p:nvPr/>
        </p:nvSpPr>
        <p:spPr>
          <a:xfrm>
            <a:off x="502920" y="1170432"/>
            <a:ext cx="713232" cy="438912"/>
          </a:xfrm>
          <a:prstGeom prst="rect">
            <a:avLst/>
          </a:prstGeom>
          <a:solidFill>
            <a:srgbClr val="00C6BE"/>
          </a:solidFill>
          <a:ln w="12700">
            <a:solidFill>
              <a:srgbClr val="00C6BE"/>
            </a:solidFill>
            <a:prstDash val="solid"/>
          </a:ln>
        </p:spPr>
        <p:txBody>
          <a:bodyPr/>
          <a:lstStyle/>
          <a:p>
            <a:endParaRPr lang="en-GB"/>
          </a:p>
        </p:txBody>
      </p:sp>
      <p:sp>
        <p:nvSpPr>
          <p:cNvPr id="8" name="Text 6"/>
          <p:cNvSpPr/>
          <p:nvPr/>
        </p:nvSpPr>
        <p:spPr>
          <a:xfrm>
            <a:off x="502920" y="1170432"/>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1  SELECT</a:t>
            </a:r>
            <a:endParaRPr lang="en-US" sz="1000" dirty="0"/>
          </a:p>
        </p:txBody>
      </p:sp>
      <p:sp>
        <p:nvSpPr>
          <p:cNvPr id="9" name="Text 7"/>
          <p:cNvSpPr/>
          <p:nvPr/>
        </p:nvSpPr>
        <p:spPr>
          <a:xfrm>
            <a:off x="1325880" y="1216152"/>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Choose a prediction to explain</a:t>
            </a:r>
            <a:endParaRPr lang="en-US" sz="1200" dirty="0"/>
          </a:p>
        </p:txBody>
      </p:sp>
      <p:sp>
        <p:nvSpPr>
          <p:cNvPr id="10" name="Shape 8"/>
          <p:cNvSpPr/>
          <p:nvPr/>
        </p:nvSpPr>
        <p:spPr>
          <a:xfrm>
            <a:off x="502920" y="1737360"/>
            <a:ext cx="713232" cy="438912"/>
          </a:xfrm>
          <a:prstGeom prst="rect">
            <a:avLst/>
          </a:prstGeom>
          <a:solidFill>
            <a:srgbClr val="00C6BE"/>
          </a:solidFill>
          <a:ln w="12700">
            <a:solidFill>
              <a:srgbClr val="00C6BE"/>
            </a:solidFill>
            <a:prstDash val="solid"/>
          </a:ln>
        </p:spPr>
        <p:txBody>
          <a:bodyPr/>
          <a:lstStyle/>
          <a:p>
            <a:endParaRPr lang="en-GB"/>
          </a:p>
        </p:txBody>
      </p:sp>
      <p:sp>
        <p:nvSpPr>
          <p:cNvPr id="11" name="Text 9"/>
          <p:cNvSpPr/>
          <p:nvPr/>
        </p:nvSpPr>
        <p:spPr>
          <a:xfrm>
            <a:off x="502920" y="1737360"/>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2  PERTURB</a:t>
            </a:r>
            <a:endParaRPr lang="en-US" sz="1000" dirty="0"/>
          </a:p>
        </p:txBody>
      </p:sp>
      <p:sp>
        <p:nvSpPr>
          <p:cNvPr id="12" name="Text 10"/>
          <p:cNvSpPr/>
          <p:nvPr/>
        </p:nvSpPr>
        <p:spPr>
          <a:xfrm>
            <a:off x="1325880" y="1783080"/>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Create variations by masking image regions</a:t>
            </a:r>
            <a:endParaRPr lang="en-US" sz="1200" dirty="0"/>
          </a:p>
        </p:txBody>
      </p:sp>
      <p:sp>
        <p:nvSpPr>
          <p:cNvPr id="13" name="Shape 11"/>
          <p:cNvSpPr/>
          <p:nvPr/>
        </p:nvSpPr>
        <p:spPr>
          <a:xfrm>
            <a:off x="502920" y="2304288"/>
            <a:ext cx="713232" cy="438912"/>
          </a:xfrm>
          <a:prstGeom prst="rect">
            <a:avLst/>
          </a:prstGeom>
          <a:solidFill>
            <a:srgbClr val="00C6BE"/>
          </a:solidFill>
          <a:ln w="12700">
            <a:solidFill>
              <a:srgbClr val="00C6BE"/>
            </a:solidFill>
            <a:prstDash val="solid"/>
          </a:ln>
        </p:spPr>
        <p:txBody>
          <a:bodyPr/>
          <a:lstStyle/>
          <a:p>
            <a:endParaRPr lang="en-GB"/>
          </a:p>
        </p:txBody>
      </p:sp>
      <p:sp>
        <p:nvSpPr>
          <p:cNvPr id="14" name="Text 12"/>
          <p:cNvSpPr/>
          <p:nvPr/>
        </p:nvSpPr>
        <p:spPr>
          <a:xfrm>
            <a:off x="502920" y="2304288"/>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3  PREDICT</a:t>
            </a:r>
            <a:endParaRPr lang="en-US" sz="1000" dirty="0"/>
          </a:p>
        </p:txBody>
      </p:sp>
      <p:sp>
        <p:nvSpPr>
          <p:cNvPr id="15" name="Text 13"/>
          <p:cNvSpPr/>
          <p:nvPr/>
        </p:nvSpPr>
        <p:spPr>
          <a:xfrm>
            <a:off x="1325880" y="2350008"/>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Run perturbed inputs through the model</a:t>
            </a:r>
            <a:endParaRPr lang="en-US" sz="1200" dirty="0"/>
          </a:p>
        </p:txBody>
      </p:sp>
      <p:sp>
        <p:nvSpPr>
          <p:cNvPr id="16" name="Shape 14"/>
          <p:cNvSpPr/>
          <p:nvPr/>
        </p:nvSpPr>
        <p:spPr>
          <a:xfrm>
            <a:off x="502920" y="2871216"/>
            <a:ext cx="713232" cy="438912"/>
          </a:xfrm>
          <a:prstGeom prst="rect">
            <a:avLst/>
          </a:prstGeom>
          <a:solidFill>
            <a:srgbClr val="00C6BE"/>
          </a:solidFill>
          <a:ln w="12700">
            <a:solidFill>
              <a:srgbClr val="00C6BE"/>
            </a:solidFill>
            <a:prstDash val="solid"/>
          </a:ln>
        </p:spPr>
        <p:txBody>
          <a:bodyPr/>
          <a:lstStyle/>
          <a:p>
            <a:endParaRPr lang="en-GB"/>
          </a:p>
        </p:txBody>
      </p:sp>
      <p:sp>
        <p:nvSpPr>
          <p:cNvPr id="17" name="Text 15"/>
          <p:cNvSpPr/>
          <p:nvPr/>
        </p:nvSpPr>
        <p:spPr>
          <a:xfrm>
            <a:off x="502920" y="2871216"/>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4  LEARN</a:t>
            </a:r>
            <a:endParaRPr lang="en-US" sz="1000" dirty="0"/>
          </a:p>
        </p:txBody>
      </p:sp>
      <p:sp>
        <p:nvSpPr>
          <p:cNvPr id="18" name="Text 16"/>
          <p:cNvSpPr/>
          <p:nvPr/>
        </p:nvSpPr>
        <p:spPr>
          <a:xfrm>
            <a:off x="1325880" y="2916936"/>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Fit a simple interpretable model locally</a:t>
            </a:r>
            <a:endParaRPr lang="en-US" sz="1200" dirty="0"/>
          </a:p>
        </p:txBody>
      </p:sp>
      <p:sp>
        <p:nvSpPr>
          <p:cNvPr id="19" name="Shape 17"/>
          <p:cNvSpPr/>
          <p:nvPr/>
        </p:nvSpPr>
        <p:spPr>
          <a:xfrm>
            <a:off x="502920" y="3438144"/>
            <a:ext cx="713232" cy="438912"/>
          </a:xfrm>
          <a:prstGeom prst="rect">
            <a:avLst/>
          </a:prstGeom>
          <a:solidFill>
            <a:srgbClr val="00C6BE"/>
          </a:solidFill>
          <a:ln w="12700">
            <a:solidFill>
              <a:srgbClr val="00C6BE"/>
            </a:solidFill>
            <a:prstDash val="solid"/>
          </a:ln>
        </p:spPr>
        <p:txBody>
          <a:bodyPr/>
          <a:lstStyle/>
          <a:p>
            <a:endParaRPr lang="en-GB"/>
          </a:p>
        </p:txBody>
      </p:sp>
      <p:sp>
        <p:nvSpPr>
          <p:cNvPr id="20" name="Text 18"/>
          <p:cNvSpPr/>
          <p:nvPr/>
        </p:nvSpPr>
        <p:spPr>
          <a:xfrm>
            <a:off x="502920" y="3438144"/>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5  VISUALISE</a:t>
            </a:r>
            <a:endParaRPr lang="en-US" sz="1000" dirty="0"/>
          </a:p>
        </p:txBody>
      </p:sp>
      <p:sp>
        <p:nvSpPr>
          <p:cNvPr id="21" name="Text 19"/>
          <p:cNvSpPr/>
          <p:nvPr/>
        </p:nvSpPr>
        <p:spPr>
          <a:xfrm>
            <a:off x="1325880" y="3483864"/>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Show which superpixels drove the decision</a:t>
            </a:r>
            <a:endParaRPr lang="en-US" sz="1200" dirty="0"/>
          </a:p>
        </p:txBody>
      </p:sp>
      <p:sp>
        <p:nvSpPr>
          <p:cNvPr id="22" name="Text 20"/>
          <p:cNvSpPr/>
          <p:nvPr/>
        </p:nvSpPr>
        <p:spPr>
          <a:xfrm>
            <a:off x="4663440" y="841248"/>
            <a:ext cx="420624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LIME vs GRAD-CAM</a:t>
            </a:r>
            <a:endParaRPr lang="en-US" sz="1000" dirty="0"/>
          </a:p>
        </p:txBody>
      </p:sp>
      <p:sp>
        <p:nvSpPr>
          <p:cNvPr id="23" name="Shape 21"/>
          <p:cNvSpPr/>
          <p:nvPr/>
        </p:nvSpPr>
        <p:spPr>
          <a:xfrm>
            <a:off x="4663440" y="1115568"/>
            <a:ext cx="1335024" cy="292608"/>
          </a:xfrm>
          <a:prstGeom prst="rect">
            <a:avLst/>
          </a:prstGeom>
          <a:solidFill>
            <a:srgbClr val="00C6BE"/>
          </a:solidFill>
          <a:ln w="12700">
            <a:solidFill>
              <a:srgbClr val="00C6BE"/>
            </a:solidFill>
            <a:prstDash val="solid"/>
          </a:ln>
        </p:spPr>
        <p:txBody>
          <a:bodyPr/>
          <a:lstStyle/>
          <a:p>
            <a:endParaRPr lang="en-GB"/>
          </a:p>
        </p:txBody>
      </p:sp>
      <p:sp>
        <p:nvSpPr>
          <p:cNvPr id="24" name="Text 22"/>
          <p:cNvSpPr/>
          <p:nvPr/>
        </p:nvSpPr>
        <p:spPr>
          <a:xfrm>
            <a:off x="4663440" y="1115568"/>
            <a:ext cx="1335024" cy="292608"/>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Aspect</a:t>
            </a:r>
            <a:endParaRPr lang="en-US" sz="1100" dirty="0"/>
          </a:p>
        </p:txBody>
      </p:sp>
      <p:sp>
        <p:nvSpPr>
          <p:cNvPr id="25" name="Shape 23"/>
          <p:cNvSpPr/>
          <p:nvPr/>
        </p:nvSpPr>
        <p:spPr>
          <a:xfrm>
            <a:off x="6080760" y="1115568"/>
            <a:ext cx="1289304" cy="292608"/>
          </a:xfrm>
          <a:prstGeom prst="rect">
            <a:avLst/>
          </a:prstGeom>
          <a:solidFill>
            <a:srgbClr val="00C6BE"/>
          </a:solidFill>
          <a:ln w="12700">
            <a:solidFill>
              <a:srgbClr val="00C6BE"/>
            </a:solidFill>
            <a:prstDash val="solid"/>
          </a:ln>
        </p:spPr>
        <p:txBody>
          <a:bodyPr/>
          <a:lstStyle/>
          <a:p>
            <a:endParaRPr lang="en-GB"/>
          </a:p>
        </p:txBody>
      </p:sp>
      <p:sp>
        <p:nvSpPr>
          <p:cNvPr id="26" name="Text 24"/>
          <p:cNvSpPr/>
          <p:nvPr/>
        </p:nvSpPr>
        <p:spPr>
          <a:xfrm>
            <a:off x="6080760" y="1115568"/>
            <a:ext cx="1289304" cy="292608"/>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Grad-CAM</a:t>
            </a:r>
            <a:endParaRPr lang="en-US" sz="1100" dirty="0"/>
          </a:p>
        </p:txBody>
      </p:sp>
      <p:sp>
        <p:nvSpPr>
          <p:cNvPr id="27" name="Shape 25"/>
          <p:cNvSpPr/>
          <p:nvPr/>
        </p:nvSpPr>
        <p:spPr>
          <a:xfrm>
            <a:off x="7452360" y="1115568"/>
            <a:ext cx="1289304" cy="292608"/>
          </a:xfrm>
          <a:prstGeom prst="rect">
            <a:avLst/>
          </a:prstGeom>
          <a:solidFill>
            <a:srgbClr val="00C6BE"/>
          </a:solidFill>
          <a:ln w="12700">
            <a:solidFill>
              <a:srgbClr val="00C6BE"/>
            </a:solidFill>
            <a:prstDash val="solid"/>
          </a:ln>
        </p:spPr>
        <p:txBody>
          <a:bodyPr/>
          <a:lstStyle/>
          <a:p>
            <a:endParaRPr lang="en-GB"/>
          </a:p>
        </p:txBody>
      </p:sp>
      <p:sp>
        <p:nvSpPr>
          <p:cNvPr id="28" name="Text 26"/>
          <p:cNvSpPr/>
          <p:nvPr/>
        </p:nvSpPr>
        <p:spPr>
          <a:xfrm>
            <a:off x="7452360" y="1115568"/>
            <a:ext cx="1289304" cy="292608"/>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LIME</a:t>
            </a:r>
            <a:endParaRPr lang="en-US" sz="1100" dirty="0"/>
          </a:p>
        </p:txBody>
      </p:sp>
      <p:sp>
        <p:nvSpPr>
          <p:cNvPr id="29" name="Shape 27"/>
          <p:cNvSpPr/>
          <p:nvPr/>
        </p:nvSpPr>
        <p:spPr>
          <a:xfrm>
            <a:off x="4663440" y="1435608"/>
            <a:ext cx="1335024" cy="329184"/>
          </a:xfrm>
          <a:prstGeom prst="rect">
            <a:avLst/>
          </a:prstGeom>
          <a:solidFill>
            <a:srgbClr val="1E3A5F"/>
          </a:solidFill>
          <a:ln w="12700">
            <a:solidFill>
              <a:srgbClr val="1E3A5F"/>
            </a:solidFill>
            <a:prstDash val="solid"/>
          </a:ln>
        </p:spPr>
        <p:txBody>
          <a:bodyPr/>
          <a:lstStyle/>
          <a:p>
            <a:endParaRPr lang="en-GB"/>
          </a:p>
        </p:txBody>
      </p:sp>
      <p:sp>
        <p:nvSpPr>
          <p:cNvPr id="30" name="Text 28"/>
          <p:cNvSpPr/>
          <p:nvPr/>
        </p:nvSpPr>
        <p:spPr>
          <a:xfrm>
            <a:off x="4709160" y="1435608"/>
            <a:ext cx="128016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Model Support</a:t>
            </a:r>
            <a:endParaRPr lang="en-US" sz="1050" dirty="0"/>
          </a:p>
        </p:txBody>
      </p:sp>
      <p:sp>
        <p:nvSpPr>
          <p:cNvPr id="31" name="Shape 29"/>
          <p:cNvSpPr/>
          <p:nvPr/>
        </p:nvSpPr>
        <p:spPr>
          <a:xfrm>
            <a:off x="6080760" y="1435608"/>
            <a:ext cx="1289304" cy="329184"/>
          </a:xfrm>
          <a:prstGeom prst="rect">
            <a:avLst/>
          </a:prstGeom>
          <a:solidFill>
            <a:srgbClr val="1E3A5F"/>
          </a:solidFill>
          <a:ln w="12700">
            <a:solidFill>
              <a:srgbClr val="1E3A5F"/>
            </a:solidFill>
            <a:prstDash val="solid"/>
          </a:ln>
        </p:spPr>
        <p:txBody>
          <a:bodyPr/>
          <a:lstStyle/>
          <a:p>
            <a:endParaRPr lang="en-GB"/>
          </a:p>
        </p:txBody>
      </p:sp>
      <p:sp>
        <p:nvSpPr>
          <p:cNvPr id="32" name="Text 30"/>
          <p:cNvSpPr/>
          <p:nvPr/>
        </p:nvSpPr>
        <p:spPr>
          <a:xfrm>
            <a:off x="6126480" y="1435608"/>
            <a:ext cx="123444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CNN only</a:t>
            </a:r>
            <a:endParaRPr lang="en-US" sz="1050" dirty="0"/>
          </a:p>
        </p:txBody>
      </p:sp>
      <p:sp>
        <p:nvSpPr>
          <p:cNvPr id="33" name="Shape 31"/>
          <p:cNvSpPr/>
          <p:nvPr/>
        </p:nvSpPr>
        <p:spPr>
          <a:xfrm>
            <a:off x="7452360" y="1435608"/>
            <a:ext cx="1289304" cy="329184"/>
          </a:xfrm>
          <a:prstGeom prst="rect">
            <a:avLst/>
          </a:prstGeom>
          <a:solidFill>
            <a:srgbClr val="1E3A5F"/>
          </a:solidFill>
          <a:ln w="12700">
            <a:solidFill>
              <a:srgbClr val="1E3A5F"/>
            </a:solidFill>
            <a:prstDash val="solid"/>
          </a:ln>
        </p:spPr>
        <p:txBody>
          <a:bodyPr/>
          <a:lstStyle/>
          <a:p>
            <a:endParaRPr lang="en-GB"/>
          </a:p>
        </p:txBody>
      </p:sp>
      <p:sp>
        <p:nvSpPr>
          <p:cNvPr id="34" name="Text 32"/>
          <p:cNvSpPr/>
          <p:nvPr/>
        </p:nvSpPr>
        <p:spPr>
          <a:xfrm>
            <a:off x="7498080" y="1435608"/>
            <a:ext cx="1234440" cy="329184"/>
          </a:xfrm>
          <a:prstGeom prst="rect">
            <a:avLst/>
          </a:prstGeom>
          <a:noFill/>
          <a:ln/>
        </p:spPr>
        <p:txBody>
          <a:bodyPr wrap="square" rtlCol="0" anchor="ctr"/>
          <a:lstStyle/>
          <a:p>
            <a:pPr marL="0" indent="0" algn="ctr">
              <a:buNone/>
            </a:pPr>
            <a:r>
              <a:rPr lang="en-US" sz="1050" dirty="0">
                <a:solidFill>
                  <a:srgbClr val="22C55E"/>
                </a:solidFill>
                <a:latin typeface="Calibri" pitchFamily="34" charset="0"/>
                <a:ea typeface="Calibri" pitchFamily="34" charset="-122"/>
                <a:cs typeface="Calibri" pitchFamily="34" charset="-120"/>
              </a:rPr>
              <a:t>Any model</a:t>
            </a:r>
            <a:endParaRPr lang="en-US" sz="1050" dirty="0"/>
          </a:p>
        </p:txBody>
      </p:sp>
      <p:sp>
        <p:nvSpPr>
          <p:cNvPr id="35" name="Shape 33"/>
          <p:cNvSpPr/>
          <p:nvPr/>
        </p:nvSpPr>
        <p:spPr>
          <a:xfrm>
            <a:off x="4663440" y="1783080"/>
            <a:ext cx="1335024" cy="329184"/>
          </a:xfrm>
          <a:prstGeom prst="rect">
            <a:avLst/>
          </a:prstGeom>
          <a:solidFill>
            <a:srgbClr val="112240"/>
          </a:solidFill>
          <a:ln w="12700">
            <a:solidFill>
              <a:srgbClr val="1E3A5F"/>
            </a:solidFill>
            <a:prstDash val="solid"/>
          </a:ln>
        </p:spPr>
        <p:txBody>
          <a:bodyPr/>
          <a:lstStyle/>
          <a:p>
            <a:endParaRPr lang="en-GB"/>
          </a:p>
        </p:txBody>
      </p:sp>
      <p:sp>
        <p:nvSpPr>
          <p:cNvPr id="36" name="Text 34"/>
          <p:cNvSpPr/>
          <p:nvPr/>
        </p:nvSpPr>
        <p:spPr>
          <a:xfrm>
            <a:off x="4709160" y="1783080"/>
            <a:ext cx="128016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Speed</a:t>
            </a:r>
            <a:endParaRPr lang="en-US" sz="1050" dirty="0"/>
          </a:p>
        </p:txBody>
      </p:sp>
      <p:sp>
        <p:nvSpPr>
          <p:cNvPr id="37" name="Shape 35"/>
          <p:cNvSpPr/>
          <p:nvPr/>
        </p:nvSpPr>
        <p:spPr>
          <a:xfrm>
            <a:off x="6080760" y="1783080"/>
            <a:ext cx="1289304" cy="329184"/>
          </a:xfrm>
          <a:prstGeom prst="rect">
            <a:avLst/>
          </a:prstGeom>
          <a:solidFill>
            <a:srgbClr val="112240"/>
          </a:solidFill>
          <a:ln w="12700">
            <a:solidFill>
              <a:srgbClr val="1E3A5F"/>
            </a:solidFill>
            <a:prstDash val="solid"/>
          </a:ln>
        </p:spPr>
        <p:txBody>
          <a:bodyPr/>
          <a:lstStyle/>
          <a:p>
            <a:endParaRPr lang="en-GB"/>
          </a:p>
        </p:txBody>
      </p:sp>
      <p:sp>
        <p:nvSpPr>
          <p:cNvPr id="38" name="Text 36"/>
          <p:cNvSpPr/>
          <p:nvPr/>
        </p:nvSpPr>
        <p:spPr>
          <a:xfrm>
            <a:off x="6126480" y="1783080"/>
            <a:ext cx="123444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Very fast</a:t>
            </a:r>
            <a:endParaRPr lang="en-US" sz="1050" dirty="0"/>
          </a:p>
        </p:txBody>
      </p:sp>
      <p:sp>
        <p:nvSpPr>
          <p:cNvPr id="39" name="Shape 37"/>
          <p:cNvSpPr/>
          <p:nvPr/>
        </p:nvSpPr>
        <p:spPr>
          <a:xfrm>
            <a:off x="7452360" y="1783080"/>
            <a:ext cx="1289304" cy="329184"/>
          </a:xfrm>
          <a:prstGeom prst="rect">
            <a:avLst/>
          </a:prstGeom>
          <a:solidFill>
            <a:srgbClr val="112240"/>
          </a:solidFill>
          <a:ln w="12700">
            <a:solidFill>
              <a:srgbClr val="1E3A5F"/>
            </a:solidFill>
            <a:prstDash val="solid"/>
          </a:ln>
        </p:spPr>
        <p:txBody>
          <a:bodyPr/>
          <a:lstStyle/>
          <a:p>
            <a:endParaRPr lang="en-GB"/>
          </a:p>
        </p:txBody>
      </p:sp>
      <p:sp>
        <p:nvSpPr>
          <p:cNvPr id="40" name="Text 38"/>
          <p:cNvSpPr/>
          <p:nvPr/>
        </p:nvSpPr>
        <p:spPr>
          <a:xfrm>
            <a:off x="7498080" y="1783080"/>
            <a:ext cx="1234440" cy="329184"/>
          </a:xfrm>
          <a:prstGeom prst="rect">
            <a:avLst/>
          </a:prstGeom>
          <a:noFill/>
          <a:ln/>
        </p:spPr>
        <p:txBody>
          <a:bodyPr wrap="square" rtlCol="0" anchor="ctr"/>
          <a:lstStyle/>
          <a:p>
            <a:pPr marL="0" indent="0" algn="ctr">
              <a:buNone/>
            </a:pPr>
            <a:r>
              <a:rPr lang="en-US" sz="1050" dirty="0">
                <a:solidFill>
                  <a:srgbClr val="22C55E"/>
                </a:solidFill>
                <a:latin typeface="Calibri" pitchFamily="34" charset="0"/>
                <a:ea typeface="Calibri" pitchFamily="34" charset="-122"/>
                <a:cs typeface="Calibri" pitchFamily="34" charset="-120"/>
              </a:rPr>
              <a:t>Slow (many perturbations)</a:t>
            </a:r>
            <a:endParaRPr lang="en-US" sz="1050" dirty="0"/>
          </a:p>
        </p:txBody>
      </p:sp>
      <p:sp>
        <p:nvSpPr>
          <p:cNvPr id="41" name="Shape 39"/>
          <p:cNvSpPr/>
          <p:nvPr/>
        </p:nvSpPr>
        <p:spPr>
          <a:xfrm>
            <a:off x="4663440" y="2130552"/>
            <a:ext cx="1335024" cy="329184"/>
          </a:xfrm>
          <a:prstGeom prst="rect">
            <a:avLst/>
          </a:prstGeom>
          <a:solidFill>
            <a:srgbClr val="1E3A5F"/>
          </a:solidFill>
          <a:ln w="12700">
            <a:solidFill>
              <a:srgbClr val="1E3A5F"/>
            </a:solidFill>
            <a:prstDash val="solid"/>
          </a:ln>
        </p:spPr>
        <p:txBody>
          <a:bodyPr/>
          <a:lstStyle/>
          <a:p>
            <a:endParaRPr lang="en-GB"/>
          </a:p>
        </p:txBody>
      </p:sp>
      <p:sp>
        <p:nvSpPr>
          <p:cNvPr id="42" name="Text 40"/>
          <p:cNvSpPr/>
          <p:nvPr/>
        </p:nvSpPr>
        <p:spPr>
          <a:xfrm>
            <a:off x="4709160" y="2130552"/>
            <a:ext cx="128016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Output type</a:t>
            </a:r>
            <a:endParaRPr lang="en-US" sz="1050" dirty="0"/>
          </a:p>
        </p:txBody>
      </p:sp>
      <p:sp>
        <p:nvSpPr>
          <p:cNvPr id="43" name="Shape 41"/>
          <p:cNvSpPr/>
          <p:nvPr/>
        </p:nvSpPr>
        <p:spPr>
          <a:xfrm>
            <a:off x="6080760" y="2130552"/>
            <a:ext cx="1289304" cy="329184"/>
          </a:xfrm>
          <a:prstGeom prst="rect">
            <a:avLst/>
          </a:prstGeom>
          <a:solidFill>
            <a:srgbClr val="1E3A5F"/>
          </a:solidFill>
          <a:ln w="12700">
            <a:solidFill>
              <a:srgbClr val="1E3A5F"/>
            </a:solidFill>
            <a:prstDash val="solid"/>
          </a:ln>
        </p:spPr>
        <p:txBody>
          <a:bodyPr/>
          <a:lstStyle/>
          <a:p>
            <a:endParaRPr lang="en-GB"/>
          </a:p>
        </p:txBody>
      </p:sp>
      <p:sp>
        <p:nvSpPr>
          <p:cNvPr id="44" name="Text 42"/>
          <p:cNvSpPr/>
          <p:nvPr/>
        </p:nvSpPr>
        <p:spPr>
          <a:xfrm>
            <a:off x="6126480" y="2130552"/>
            <a:ext cx="123444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Pixel heatmap</a:t>
            </a:r>
            <a:endParaRPr lang="en-US" sz="1050" dirty="0"/>
          </a:p>
        </p:txBody>
      </p:sp>
      <p:sp>
        <p:nvSpPr>
          <p:cNvPr id="45" name="Shape 43"/>
          <p:cNvSpPr/>
          <p:nvPr/>
        </p:nvSpPr>
        <p:spPr>
          <a:xfrm>
            <a:off x="7452360" y="2130552"/>
            <a:ext cx="1289304" cy="329184"/>
          </a:xfrm>
          <a:prstGeom prst="rect">
            <a:avLst/>
          </a:prstGeom>
          <a:solidFill>
            <a:srgbClr val="1E3A5F"/>
          </a:solidFill>
          <a:ln w="12700">
            <a:solidFill>
              <a:srgbClr val="1E3A5F"/>
            </a:solidFill>
            <a:prstDash val="solid"/>
          </a:ln>
        </p:spPr>
        <p:txBody>
          <a:bodyPr/>
          <a:lstStyle/>
          <a:p>
            <a:endParaRPr lang="en-GB"/>
          </a:p>
        </p:txBody>
      </p:sp>
      <p:sp>
        <p:nvSpPr>
          <p:cNvPr id="46" name="Text 44"/>
          <p:cNvSpPr/>
          <p:nvPr/>
        </p:nvSpPr>
        <p:spPr>
          <a:xfrm>
            <a:off x="7498080" y="2130552"/>
            <a:ext cx="1234440" cy="329184"/>
          </a:xfrm>
          <a:prstGeom prst="rect">
            <a:avLst/>
          </a:prstGeom>
          <a:noFill/>
          <a:ln/>
        </p:spPr>
        <p:txBody>
          <a:bodyPr wrap="square" rtlCol="0" anchor="ctr"/>
          <a:lstStyle/>
          <a:p>
            <a:pPr marL="0" indent="0" algn="ctr">
              <a:buNone/>
            </a:pPr>
            <a:r>
              <a:rPr lang="en-US" sz="1050" dirty="0">
                <a:solidFill>
                  <a:srgbClr val="22C55E"/>
                </a:solidFill>
                <a:latin typeface="Calibri" pitchFamily="34" charset="0"/>
                <a:ea typeface="Calibri" pitchFamily="34" charset="-122"/>
                <a:cs typeface="Calibri" pitchFamily="34" charset="-120"/>
              </a:rPr>
              <a:t>Superpixel importance</a:t>
            </a:r>
            <a:endParaRPr lang="en-US" sz="1050" dirty="0"/>
          </a:p>
        </p:txBody>
      </p:sp>
      <p:sp>
        <p:nvSpPr>
          <p:cNvPr id="47" name="Shape 45"/>
          <p:cNvSpPr/>
          <p:nvPr/>
        </p:nvSpPr>
        <p:spPr>
          <a:xfrm>
            <a:off x="4663440" y="2478024"/>
            <a:ext cx="1335024" cy="329184"/>
          </a:xfrm>
          <a:prstGeom prst="rect">
            <a:avLst/>
          </a:prstGeom>
          <a:solidFill>
            <a:srgbClr val="112240"/>
          </a:solidFill>
          <a:ln w="12700">
            <a:solidFill>
              <a:srgbClr val="1E3A5F"/>
            </a:solidFill>
            <a:prstDash val="solid"/>
          </a:ln>
        </p:spPr>
        <p:txBody>
          <a:bodyPr/>
          <a:lstStyle/>
          <a:p>
            <a:endParaRPr lang="en-GB"/>
          </a:p>
        </p:txBody>
      </p:sp>
      <p:sp>
        <p:nvSpPr>
          <p:cNvPr id="48" name="Text 46"/>
          <p:cNvSpPr/>
          <p:nvPr/>
        </p:nvSpPr>
        <p:spPr>
          <a:xfrm>
            <a:off x="4709160" y="2478024"/>
            <a:ext cx="128016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Granularity</a:t>
            </a:r>
            <a:endParaRPr lang="en-US" sz="1050" dirty="0"/>
          </a:p>
        </p:txBody>
      </p:sp>
      <p:sp>
        <p:nvSpPr>
          <p:cNvPr id="49" name="Shape 47"/>
          <p:cNvSpPr/>
          <p:nvPr/>
        </p:nvSpPr>
        <p:spPr>
          <a:xfrm>
            <a:off x="6080760" y="2478024"/>
            <a:ext cx="1289304" cy="329184"/>
          </a:xfrm>
          <a:prstGeom prst="rect">
            <a:avLst/>
          </a:prstGeom>
          <a:solidFill>
            <a:srgbClr val="112240"/>
          </a:solidFill>
          <a:ln w="12700">
            <a:solidFill>
              <a:srgbClr val="1E3A5F"/>
            </a:solidFill>
            <a:prstDash val="solid"/>
          </a:ln>
        </p:spPr>
        <p:txBody>
          <a:bodyPr/>
          <a:lstStyle/>
          <a:p>
            <a:endParaRPr lang="en-GB"/>
          </a:p>
        </p:txBody>
      </p:sp>
      <p:sp>
        <p:nvSpPr>
          <p:cNvPr id="50" name="Text 48"/>
          <p:cNvSpPr/>
          <p:nvPr/>
        </p:nvSpPr>
        <p:spPr>
          <a:xfrm>
            <a:off x="6126480" y="2478024"/>
            <a:ext cx="123444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Pixel-level</a:t>
            </a:r>
            <a:endParaRPr lang="en-US" sz="1050" dirty="0"/>
          </a:p>
        </p:txBody>
      </p:sp>
      <p:sp>
        <p:nvSpPr>
          <p:cNvPr id="51" name="Shape 49"/>
          <p:cNvSpPr/>
          <p:nvPr/>
        </p:nvSpPr>
        <p:spPr>
          <a:xfrm>
            <a:off x="7452360" y="2478024"/>
            <a:ext cx="1289304" cy="329184"/>
          </a:xfrm>
          <a:prstGeom prst="rect">
            <a:avLst/>
          </a:prstGeom>
          <a:solidFill>
            <a:srgbClr val="112240"/>
          </a:solidFill>
          <a:ln w="12700">
            <a:solidFill>
              <a:srgbClr val="1E3A5F"/>
            </a:solidFill>
            <a:prstDash val="solid"/>
          </a:ln>
        </p:spPr>
        <p:txBody>
          <a:bodyPr/>
          <a:lstStyle/>
          <a:p>
            <a:endParaRPr lang="en-GB"/>
          </a:p>
        </p:txBody>
      </p:sp>
      <p:sp>
        <p:nvSpPr>
          <p:cNvPr id="52" name="Text 50"/>
          <p:cNvSpPr/>
          <p:nvPr/>
        </p:nvSpPr>
        <p:spPr>
          <a:xfrm>
            <a:off x="7498080" y="2478024"/>
            <a:ext cx="1234440" cy="329184"/>
          </a:xfrm>
          <a:prstGeom prst="rect">
            <a:avLst/>
          </a:prstGeom>
          <a:noFill/>
          <a:ln/>
        </p:spPr>
        <p:txBody>
          <a:bodyPr wrap="square" rtlCol="0" anchor="ctr"/>
          <a:lstStyle/>
          <a:p>
            <a:pPr marL="0" indent="0" algn="ctr">
              <a:buNone/>
            </a:pPr>
            <a:r>
              <a:rPr lang="en-US" sz="1050" dirty="0">
                <a:solidFill>
                  <a:srgbClr val="22C55E"/>
                </a:solidFill>
                <a:latin typeface="Calibri" pitchFamily="34" charset="0"/>
                <a:ea typeface="Calibri" pitchFamily="34" charset="-122"/>
                <a:cs typeface="Calibri" pitchFamily="34" charset="-120"/>
              </a:rPr>
              <a:t>Superpixel-level</a:t>
            </a:r>
            <a:endParaRPr lang="en-US" sz="1050" dirty="0"/>
          </a:p>
        </p:txBody>
      </p:sp>
      <p:sp>
        <p:nvSpPr>
          <p:cNvPr id="53" name="Shape 51"/>
          <p:cNvSpPr/>
          <p:nvPr/>
        </p:nvSpPr>
        <p:spPr>
          <a:xfrm>
            <a:off x="4663440" y="2825496"/>
            <a:ext cx="1335024" cy="329184"/>
          </a:xfrm>
          <a:prstGeom prst="rect">
            <a:avLst/>
          </a:prstGeom>
          <a:solidFill>
            <a:srgbClr val="1E3A5F"/>
          </a:solidFill>
          <a:ln w="12700">
            <a:solidFill>
              <a:srgbClr val="1E3A5F"/>
            </a:solidFill>
            <a:prstDash val="solid"/>
          </a:ln>
        </p:spPr>
        <p:txBody>
          <a:bodyPr/>
          <a:lstStyle/>
          <a:p>
            <a:endParaRPr lang="en-GB"/>
          </a:p>
        </p:txBody>
      </p:sp>
      <p:sp>
        <p:nvSpPr>
          <p:cNvPr id="54" name="Text 52"/>
          <p:cNvSpPr/>
          <p:nvPr/>
        </p:nvSpPr>
        <p:spPr>
          <a:xfrm>
            <a:off x="4709160" y="2825496"/>
            <a:ext cx="128016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Clinical use</a:t>
            </a:r>
            <a:endParaRPr lang="en-US" sz="1050" dirty="0"/>
          </a:p>
        </p:txBody>
      </p:sp>
      <p:sp>
        <p:nvSpPr>
          <p:cNvPr id="55" name="Shape 53"/>
          <p:cNvSpPr/>
          <p:nvPr/>
        </p:nvSpPr>
        <p:spPr>
          <a:xfrm>
            <a:off x="6080760" y="2825496"/>
            <a:ext cx="1289304" cy="329184"/>
          </a:xfrm>
          <a:prstGeom prst="rect">
            <a:avLst/>
          </a:prstGeom>
          <a:solidFill>
            <a:srgbClr val="1E3A5F"/>
          </a:solidFill>
          <a:ln w="12700">
            <a:solidFill>
              <a:srgbClr val="1E3A5F"/>
            </a:solidFill>
            <a:prstDash val="solid"/>
          </a:ln>
        </p:spPr>
        <p:txBody>
          <a:bodyPr/>
          <a:lstStyle/>
          <a:p>
            <a:endParaRPr lang="en-GB"/>
          </a:p>
        </p:txBody>
      </p:sp>
      <p:sp>
        <p:nvSpPr>
          <p:cNvPr id="56" name="Text 54"/>
          <p:cNvSpPr/>
          <p:nvPr/>
        </p:nvSpPr>
        <p:spPr>
          <a:xfrm>
            <a:off x="6126480" y="2825496"/>
            <a:ext cx="1234440" cy="329184"/>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Heatmap overlay</a:t>
            </a:r>
            <a:endParaRPr lang="en-US" sz="1050" dirty="0"/>
          </a:p>
        </p:txBody>
      </p:sp>
      <p:sp>
        <p:nvSpPr>
          <p:cNvPr id="57" name="Shape 55"/>
          <p:cNvSpPr/>
          <p:nvPr/>
        </p:nvSpPr>
        <p:spPr>
          <a:xfrm>
            <a:off x="7452360" y="2825496"/>
            <a:ext cx="1289304" cy="329184"/>
          </a:xfrm>
          <a:prstGeom prst="rect">
            <a:avLst/>
          </a:prstGeom>
          <a:solidFill>
            <a:srgbClr val="1E3A5F"/>
          </a:solidFill>
          <a:ln w="12700">
            <a:solidFill>
              <a:srgbClr val="1E3A5F"/>
            </a:solidFill>
            <a:prstDash val="solid"/>
          </a:ln>
        </p:spPr>
        <p:txBody>
          <a:bodyPr/>
          <a:lstStyle/>
          <a:p>
            <a:endParaRPr lang="en-GB"/>
          </a:p>
        </p:txBody>
      </p:sp>
      <p:sp>
        <p:nvSpPr>
          <p:cNvPr id="58" name="Text 56"/>
          <p:cNvSpPr/>
          <p:nvPr/>
        </p:nvSpPr>
        <p:spPr>
          <a:xfrm>
            <a:off x="7498080" y="2825496"/>
            <a:ext cx="1234440" cy="329184"/>
          </a:xfrm>
          <a:prstGeom prst="rect">
            <a:avLst/>
          </a:prstGeom>
          <a:noFill/>
          <a:ln/>
        </p:spPr>
        <p:txBody>
          <a:bodyPr wrap="square" rtlCol="0" anchor="ctr"/>
          <a:lstStyle/>
          <a:p>
            <a:pPr marL="0" indent="0" algn="ctr">
              <a:buNone/>
            </a:pPr>
            <a:r>
              <a:rPr lang="en-US" sz="1050" dirty="0">
                <a:solidFill>
                  <a:srgbClr val="22C55E"/>
                </a:solidFill>
                <a:latin typeface="Calibri" pitchFamily="34" charset="0"/>
                <a:ea typeface="Calibri" pitchFamily="34" charset="-122"/>
                <a:cs typeface="Calibri" pitchFamily="34" charset="-120"/>
              </a:rPr>
              <a:t>Region explanation</a:t>
            </a:r>
            <a:endParaRPr lang="en-US" sz="1050" dirty="0"/>
          </a:p>
        </p:txBody>
      </p:sp>
      <p:sp>
        <p:nvSpPr>
          <p:cNvPr id="59" name="Shape 57"/>
          <p:cNvSpPr/>
          <p:nvPr/>
        </p:nvSpPr>
        <p:spPr>
          <a:xfrm>
            <a:off x="4663440" y="3264408"/>
            <a:ext cx="4160520" cy="777240"/>
          </a:xfrm>
          <a:prstGeom prst="rect">
            <a:avLst/>
          </a:prstGeom>
          <a:solidFill>
            <a:srgbClr val="1E3A5F"/>
          </a:solidFill>
          <a:ln w="12700">
            <a:solidFill>
              <a:srgbClr val="00C6BE"/>
            </a:solidFill>
            <a:prstDash val="solid"/>
          </a:ln>
        </p:spPr>
        <p:txBody>
          <a:bodyPr/>
          <a:lstStyle/>
          <a:p>
            <a:endParaRPr lang="en-GB"/>
          </a:p>
        </p:txBody>
      </p:sp>
      <p:sp>
        <p:nvSpPr>
          <p:cNvPr id="60" name="Shape 58"/>
          <p:cNvSpPr/>
          <p:nvPr/>
        </p:nvSpPr>
        <p:spPr>
          <a:xfrm>
            <a:off x="4663440" y="3264408"/>
            <a:ext cx="54864" cy="777240"/>
          </a:xfrm>
          <a:prstGeom prst="rect">
            <a:avLst/>
          </a:prstGeom>
          <a:solidFill>
            <a:srgbClr val="00C6BE"/>
          </a:solidFill>
          <a:ln w="12700">
            <a:solidFill>
              <a:srgbClr val="00C6BE"/>
            </a:solidFill>
            <a:prstDash val="solid"/>
          </a:ln>
        </p:spPr>
        <p:txBody>
          <a:bodyPr/>
          <a:lstStyle/>
          <a:p>
            <a:endParaRPr lang="en-GB"/>
          </a:p>
        </p:txBody>
      </p:sp>
      <p:sp>
        <p:nvSpPr>
          <p:cNvPr id="61" name="Text 59"/>
          <p:cNvSpPr/>
          <p:nvPr/>
        </p:nvSpPr>
        <p:spPr>
          <a:xfrm>
            <a:off x="4846320" y="3310128"/>
            <a:ext cx="3840480" cy="2286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Why this matters for healthcare:</a:t>
            </a:r>
            <a:endParaRPr lang="en-US" sz="1200" dirty="0"/>
          </a:p>
        </p:txBody>
      </p:sp>
      <p:sp>
        <p:nvSpPr>
          <p:cNvPr id="62" name="Text 60"/>
          <p:cNvSpPr/>
          <p:nvPr/>
        </p:nvSpPr>
        <p:spPr>
          <a:xfrm>
            <a:off x="4846320" y="3547872"/>
            <a:ext cx="3840480" cy="4572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LIME is model-agnostic — it can explain ANY classifier, not just CNNs. Critical for regulatory approval and clinician trust in AI-assisted diagnosis.</a:t>
            </a:r>
            <a:endParaRPr lang="en-US" sz="1100" dirty="0"/>
          </a:p>
        </p:txBody>
      </p:sp>
      <p:sp>
        <p:nvSpPr>
          <p:cNvPr id="63" name="Action Button: Go Forward or Next 62">
            <a:hlinkClick r:id="rId3" action="ppaction://hlinksldjump" highlightClick="1">
              <a:snd r:embed="rId4" name="whoosh.wav"/>
            </a:hlinkClick>
            <a:extLst>
              <a:ext uri="{FF2B5EF4-FFF2-40B4-BE49-F238E27FC236}">
                <a16:creationId xmlns:a16="http://schemas.microsoft.com/office/drawing/2014/main" id="{9717098E-59D5-0394-757A-2BF77D30C99C}"/>
              </a:ext>
            </a:extLst>
          </p:cNvPr>
          <p:cNvSpPr/>
          <p:nvPr/>
        </p:nvSpPr>
        <p:spPr>
          <a:xfrm>
            <a:off x="1625444" y="861959"/>
            <a:ext cx="296984" cy="296984"/>
          </a:xfrm>
          <a:prstGeom prst="actionButtonForwardNex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Comparative Analysis — All Three Approaches</a:t>
            </a:r>
            <a:endParaRPr lang="en-US" sz="2700" dirty="0"/>
          </a:p>
        </p:txBody>
      </p:sp>
      <p:graphicFrame>
        <p:nvGraphicFramePr>
          <p:cNvPr id="4" name="Chart 0"/>
          <p:cNvGraphicFramePr/>
          <p:nvPr/>
        </p:nvGraphicFramePr>
        <p:xfrm>
          <a:off x="320040" y="804672"/>
          <a:ext cx="475488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11480" y="3931920"/>
            <a:ext cx="1463040" cy="329184"/>
          </a:xfrm>
          <a:prstGeom prst="rect">
            <a:avLst/>
          </a:prstGeom>
          <a:noFill/>
          <a:ln/>
        </p:spPr>
        <p:txBody>
          <a:bodyPr wrap="square" lIns="0" tIns="0" rIns="0" bIns="0" rtlCol="0" anchor="ctr"/>
          <a:lstStyle/>
          <a:p>
            <a:pPr marL="0" indent="0" algn="ctr">
              <a:buNone/>
            </a:pPr>
            <a:r>
              <a:rPr lang="en-US" sz="1700" b="1" dirty="0">
                <a:solidFill>
                  <a:srgbClr val="00C6BE"/>
                </a:solidFill>
                <a:latin typeface="Trebuchet MS" pitchFamily="34" charset="0"/>
                <a:ea typeface="Trebuchet MS" pitchFamily="34" charset="-122"/>
                <a:cs typeface="Trebuchet MS" pitchFamily="34" charset="-120"/>
              </a:rPr>
              <a:t>90.56%</a:t>
            </a:r>
            <a:endParaRPr lang="en-US" sz="1700" dirty="0"/>
          </a:p>
        </p:txBody>
      </p:sp>
      <p:sp>
        <p:nvSpPr>
          <p:cNvPr id="6" name="Text 3"/>
          <p:cNvSpPr/>
          <p:nvPr/>
        </p:nvSpPr>
        <p:spPr>
          <a:xfrm>
            <a:off x="411480" y="4261104"/>
            <a:ext cx="1463040" cy="201168"/>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Classical ML</a:t>
            </a:r>
            <a:endParaRPr lang="en-US" sz="1000" dirty="0"/>
          </a:p>
        </p:txBody>
      </p:sp>
      <p:sp>
        <p:nvSpPr>
          <p:cNvPr id="7" name="Text 4"/>
          <p:cNvSpPr/>
          <p:nvPr/>
        </p:nvSpPr>
        <p:spPr>
          <a:xfrm>
            <a:off x="1993392" y="3931920"/>
            <a:ext cx="1463040" cy="329184"/>
          </a:xfrm>
          <a:prstGeom prst="rect">
            <a:avLst/>
          </a:prstGeom>
          <a:noFill/>
          <a:ln/>
        </p:spPr>
        <p:txBody>
          <a:bodyPr wrap="square" lIns="0" tIns="0" rIns="0" bIns="0" rtlCol="0" anchor="ctr"/>
          <a:lstStyle/>
          <a:p>
            <a:pPr marL="0" indent="0" algn="ctr">
              <a:buNone/>
            </a:pPr>
            <a:r>
              <a:rPr lang="en-US" sz="1700" b="1" dirty="0">
                <a:solidFill>
                  <a:srgbClr val="FACC15"/>
                </a:solidFill>
                <a:latin typeface="Trebuchet MS" pitchFamily="34" charset="0"/>
                <a:ea typeface="Trebuchet MS" pitchFamily="34" charset="-122"/>
                <a:cs typeface="Trebuchet MS" pitchFamily="34" charset="-120"/>
              </a:rPr>
              <a:t>81.87%</a:t>
            </a:r>
            <a:endParaRPr lang="en-US" sz="1700" dirty="0"/>
          </a:p>
        </p:txBody>
      </p:sp>
      <p:sp>
        <p:nvSpPr>
          <p:cNvPr id="8" name="Text 5"/>
          <p:cNvSpPr/>
          <p:nvPr/>
        </p:nvSpPr>
        <p:spPr>
          <a:xfrm>
            <a:off x="1993392" y="4261104"/>
            <a:ext cx="1463040" cy="201168"/>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CNN</a:t>
            </a:r>
            <a:endParaRPr lang="en-US" sz="1000" dirty="0"/>
          </a:p>
        </p:txBody>
      </p:sp>
      <p:sp>
        <p:nvSpPr>
          <p:cNvPr id="9" name="Text 6"/>
          <p:cNvSpPr/>
          <p:nvPr/>
        </p:nvSpPr>
        <p:spPr>
          <a:xfrm>
            <a:off x="3575304" y="3931920"/>
            <a:ext cx="1463040" cy="329184"/>
          </a:xfrm>
          <a:prstGeom prst="rect">
            <a:avLst/>
          </a:prstGeom>
          <a:noFill/>
          <a:ln/>
        </p:spPr>
        <p:txBody>
          <a:bodyPr wrap="square" lIns="0" tIns="0" rIns="0" bIns="0" rtlCol="0" anchor="ctr"/>
          <a:lstStyle/>
          <a:p>
            <a:pPr marL="0" indent="0" algn="ctr">
              <a:buNone/>
            </a:pPr>
            <a:r>
              <a:rPr lang="en-US" sz="1700" b="1" dirty="0">
                <a:solidFill>
                  <a:srgbClr val="22C55E"/>
                </a:solidFill>
                <a:latin typeface="Trebuchet MS" pitchFamily="34" charset="0"/>
                <a:ea typeface="Trebuchet MS" pitchFamily="34" charset="-122"/>
                <a:cs typeface="Trebuchet MS" pitchFamily="34" charset="-120"/>
              </a:rPr>
              <a:t>89.81%</a:t>
            </a:r>
            <a:endParaRPr lang="en-US" sz="1700" dirty="0"/>
          </a:p>
        </p:txBody>
      </p:sp>
      <p:sp>
        <p:nvSpPr>
          <p:cNvPr id="10" name="Text 7"/>
          <p:cNvSpPr/>
          <p:nvPr/>
        </p:nvSpPr>
        <p:spPr>
          <a:xfrm>
            <a:off x="3575304" y="4261104"/>
            <a:ext cx="1463040" cy="201168"/>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ResNet50</a:t>
            </a:r>
            <a:endParaRPr lang="en-US" sz="1000" dirty="0"/>
          </a:p>
        </p:txBody>
      </p:sp>
      <p:sp>
        <p:nvSpPr>
          <p:cNvPr id="11" name="Text 8"/>
          <p:cNvSpPr/>
          <p:nvPr/>
        </p:nvSpPr>
        <p:spPr>
          <a:xfrm>
            <a:off x="5257800" y="804672"/>
            <a:ext cx="365760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METHOD CHARACTERISTICS</a:t>
            </a:r>
            <a:endParaRPr lang="en-US" sz="1000" dirty="0"/>
          </a:p>
        </p:txBody>
      </p:sp>
      <p:sp>
        <p:nvSpPr>
          <p:cNvPr id="12" name="Shape 9"/>
          <p:cNvSpPr/>
          <p:nvPr/>
        </p:nvSpPr>
        <p:spPr>
          <a:xfrm>
            <a:off x="5257800" y="1115568"/>
            <a:ext cx="1335024" cy="457200"/>
          </a:xfrm>
          <a:prstGeom prst="rect">
            <a:avLst/>
          </a:prstGeom>
          <a:solidFill>
            <a:srgbClr val="00C6BE"/>
          </a:solidFill>
          <a:ln w="12700">
            <a:solidFill>
              <a:srgbClr val="1E3A5F"/>
            </a:solidFill>
            <a:prstDash val="solid"/>
          </a:ln>
        </p:spPr>
        <p:txBody>
          <a:bodyPr/>
          <a:lstStyle/>
          <a:p>
            <a:endParaRPr lang="en-GB"/>
          </a:p>
        </p:txBody>
      </p:sp>
      <p:sp>
        <p:nvSpPr>
          <p:cNvPr id="13" name="Text 10"/>
          <p:cNvSpPr/>
          <p:nvPr/>
        </p:nvSpPr>
        <p:spPr>
          <a:xfrm>
            <a:off x="5294376" y="1115568"/>
            <a:ext cx="1298448" cy="457200"/>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Criterion</a:t>
            </a:r>
            <a:endParaRPr lang="en-US" sz="1100" dirty="0"/>
          </a:p>
        </p:txBody>
      </p:sp>
      <p:sp>
        <p:nvSpPr>
          <p:cNvPr id="14" name="Shape 11"/>
          <p:cNvSpPr/>
          <p:nvPr/>
        </p:nvSpPr>
        <p:spPr>
          <a:xfrm>
            <a:off x="6675120" y="1115568"/>
            <a:ext cx="740664" cy="457200"/>
          </a:xfrm>
          <a:prstGeom prst="rect">
            <a:avLst/>
          </a:prstGeom>
          <a:solidFill>
            <a:srgbClr val="00C6BE"/>
          </a:solidFill>
          <a:ln w="12700">
            <a:solidFill>
              <a:srgbClr val="1E3A5F"/>
            </a:solidFill>
            <a:prstDash val="solid"/>
          </a:ln>
        </p:spPr>
        <p:txBody>
          <a:bodyPr/>
          <a:lstStyle/>
          <a:p>
            <a:endParaRPr lang="en-GB"/>
          </a:p>
        </p:txBody>
      </p:sp>
      <p:sp>
        <p:nvSpPr>
          <p:cNvPr id="15" name="Text 12"/>
          <p:cNvSpPr/>
          <p:nvPr/>
        </p:nvSpPr>
        <p:spPr>
          <a:xfrm>
            <a:off x="6711696" y="1115568"/>
            <a:ext cx="704088" cy="457200"/>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Cl. ML</a:t>
            </a:r>
            <a:endParaRPr lang="en-US" sz="1100" dirty="0"/>
          </a:p>
        </p:txBody>
      </p:sp>
      <p:sp>
        <p:nvSpPr>
          <p:cNvPr id="16" name="Shape 13"/>
          <p:cNvSpPr/>
          <p:nvPr/>
        </p:nvSpPr>
        <p:spPr>
          <a:xfrm>
            <a:off x="7498080" y="1115568"/>
            <a:ext cx="649224" cy="457200"/>
          </a:xfrm>
          <a:prstGeom prst="rect">
            <a:avLst/>
          </a:prstGeom>
          <a:solidFill>
            <a:srgbClr val="00C6BE"/>
          </a:solidFill>
          <a:ln w="12700">
            <a:solidFill>
              <a:srgbClr val="1E3A5F"/>
            </a:solidFill>
            <a:prstDash val="solid"/>
          </a:ln>
        </p:spPr>
        <p:txBody>
          <a:bodyPr/>
          <a:lstStyle/>
          <a:p>
            <a:endParaRPr lang="en-GB"/>
          </a:p>
        </p:txBody>
      </p:sp>
      <p:sp>
        <p:nvSpPr>
          <p:cNvPr id="17" name="Text 14"/>
          <p:cNvSpPr/>
          <p:nvPr/>
        </p:nvSpPr>
        <p:spPr>
          <a:xfrm>
            <a:off x="7534656" y="1115568"/>
            <a:ext cx="612648" cy="457200"/>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CNN</a:t>
            </a:r>
            <a:endParaRPr lang="en-US" sz="1100" dirty="0"/>
          </a:p>
        </p:txBody>
      </p:sp>
      <p:sp>
        <p:nvSpPr>
          <p:cNvPr id="18" name="Shape 15"/>
          <p:cNvSpPr/>
          <p:nvPr/>
        </p:nvSpPr>
        <p:spPr>
          <a:xfrm>
            <a:off x="8229600" y="1115568"/>
            <a:ext cx="740664" cy="457200"/>
          </a:xfrm>
          <a:prstGeom prst="rect">
            <a:avLst/>
          </a:prstGeom>
          <a:solidFill>
            <a:srgbClr val="00C6BE"/>
          </a:solidFill>
          <a:ln w="12700">
            <a:solidFill>
              <a:srgbClr val="1E3A5F"/>
            </a:solidFill>
            <a:prstDash val="solid"/>
          </a:ln>
        </p:spPr>
        <p:txBody>
          <a:bodyPr/>
          <a:lstStyle/>
          <a:p>
            <a:endParaRPr lang="en-GB"/>
          </a:p>
        </p:txBody>
      </p:sp>
      <p:sp>
        <p:nvSpPr>
          <p:cNvPr id="19" name="Text 16"/>
          <p:cNvSpPr/>
          <p:nvPr/>
        </p:nvSpPr>
        <p:spPr>
          <a:xfrm>
            <a:off x="8266176" y="1115568"/>
            <a:ext cx="704088" cy="457200"/>
          </a:xfrm>
          <a:prstGeom prst="rect">
            <a:avLst/>
          </a:prstGeom>
          <a:noFill/>
          <a:ln/>
        </p:spPr>
        <p:txBody>
          <a:bodyPr wrap="square" rtlCol="0" anchor="ctr"/>
          <a:lstStyle/>
          <a:p>
            <a:pPr marL="0" indent="0" algn="ctr">
              <a:buNone/>
            </a:pPr>
            <a:r>
              <a:rPr lang="en-US" sz="1100" b="1" dirty="0">
                <a:solidFill>
                  <a:srgbClr val="0B1D35"/>
                </a:solidFill>
                <a:latin typeface="Calibri" pitchFamily="34" charset="0"/>
                <a:ea typeface="Calibri" pitchFamily="34" charset="-122"/>
                <a:cs typeface="Calibri" pitchFamily="34" charset="-120"/>
              </a:rPr>
              <a:t>Transfer</a:t>
            </a:r>
            <a:endParaRPr lang="en-US" sz="1100" dirty="0"/>
          </a:p>
        </p:txBody>
      </p:sp>
      <p:sp>
        <p:nvSpPr>
          <p:cNvPr id="20" name="Shape 17"/>
          <p:cNvSpPr/>
          <p:nvPr/>
        </p:nvSpPr>
        <p:spPr>
          <a:xfrm>
            <a:off x="5257800" y="1591056"/>
            <a:ext cx="1335024" cy="457200"/>
          </a:xfrm>
          <a:prstGeom prst="rect">
            <a:avLst/>
          </a:prstGeom>
          <a:solidFill>
            <a:srgbClr val="112240"/>
          </a:solidFill>
          <a:ln w="12700">
            <a:solidFill>
              <a:srgbClr val="1E3A5F"/>
            </a:solidFill>
            <a:prstDash val="solid"/>
          </a:ln>
        </p:spPr>
        <p:txBody>
          <a:bodyPr/>
          <a:lstStyle/>
          <a:p>
            <a:endParaRPr lang="en-GB"/>
          </a:p>
        </p:txBody>
      </p:sp>
      <p:sp>
        <p:nvSpPr>
          <p:cNvPr id="21" name="Text 18"/>
          <p:cNvSpPr/>
          <p:nvPr/>
        </p:nvSpPr>
        <p:spPr>
          <a:xfrm>
            <a:off x="5294376" y="1591056"/>
            <a:ext cx="1298448" cy="457200"/>
          </a:xfrm>
          <a:prstGeom prst="rect">
            <a:avLst/>
          </a:prstGeom>
          <a:noFill/>
          <a:ln/>
        </p:spPr>
        <p:txBody>
          <a:bodyPr wrap="square" rtlCol="0" anchor="ctr"/>
          <a:lstStyle/>
          <a:p>
            <a:pPr marL="0" indent="0" algn="ctr">
              <a:buNone/>
            </a:pPr>
            <a:r>
              <a:rPr lang="en-US" sz="1100" b="1" dirty="0">
                <a:solidFill>
                  <a:srgbClr val="CBD5E1"/>
                </a:solidFill>
                <a:latin typeface="Calibri" pitchFamily="34" charset="0"/>
                <a:ea typeface="Calibri" pitchFamily="34" charset="-122"/>
                <a:cs typeface="Calibri" pitchFamily="34" charset="-120"/>
              </a:rPr>
              <a:t>Data Needed</a:t>
            </a:r>
            <a:endParaRPr lang="en-US" sz="1100" dirty="0"/>
          </a:p>
        </p:txBody>
      </p:sp>
      <p:sp>
        <p:nvSpPr>
          <p:cNvPr id="22" name="Shape 19"/>
          <p:cNvSpPr/>
          <p:nvPr/>
        </p:nvSpPr>
        <p:spPr>
          <a:xfrm>
            <a:off x="6675120" y="1591056"/>
            <a:ext cx="740664" cy="457200"/>
          </a:xfrm>
          <a:prstGeom prst="rect">
            <a:avLst/>
          </a:prstGeom>
          <a:solidFill>
            <a:srgbClr val="112240"/>
          </a:solidFill>
          <a:ln w="12700">
            <a:solidFill>
              <a:srgbClr val="1E3A5F"/>
            </a:solidFill>
            <a:prstDash val="solid"/>
          </a:ln>
        </p:spPr>
        <p:txBody>
          <a:bodyPr/>
          <a:lstStyle/>
          <a:p>
            <a:endParaRPr lang="en-GB"/>
          </a:p>
        </p:txBody>
      </p:sp>
      <p:sp>
        <p:nvSpPr>
          <p:cNvPr id="23" name="Text 20"/>
          <p:cNvSpPr/>
          <p:nvPr/>
        </p:nvSpPr>
        <p:spPr>
          <a:xfrm>
            <a:off x="6711696" y="1591056"/>
            <a:ext cx="70408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Medium</a:t>
            </a:r>
            <a:endParaRPr lang="en-US" sz="1100" dirty="0"/>
          </a:p>
        </p:txBody>
      </p:sp>
      <p:sp>
        <p:nvSpPr>
          <p:cNvPr id="24" name="Shape 21"/>
          <p:cNvSpPr/>
          <p:nvPr/>
        </p:nvSpPr>
        <p:spPr>
          <a:xfrm>
            <a:off x="7498080" y="1591056"/>
            <a:ext cx="649224" cy="457200"/>
          </a:xfrm>
          <a:prstGeom prst="rect">
            <a:avLst/>
          </a:prstGeom>
          <a:solidFill>
            <a:srgbClr val="112240"/>
          </a:solidFill>
          <a:ln w="12700">
            <a:solidFill>
              <a:srgbClr val="1E3A5F"/>
            </a:solidFill>
            <a:prstDash val="solid"/>
          </a:ln>
        </p:spPr>
        <p:txBody>
          <a:bodyPr/>
          <a:lstStyle/>
          <a:p>
            <a:endParaRPr lang="en-GB"/>
          </a:p>
        </p:txBody>
      </p:sp>
      <p:sp>
        <p:nvSpPr>
          <p:cNvPr id="25" name="Text 22"/>
          <p:cNvSpPr/>
          <p:nvPr/>
        </p:nvSpPr>
        <p:spPr>
          <a:xfrm>
            <a:off x="7534656" y="1591056"/>
            <a:ext cx="61264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Large</a:t>
            </a:r>
            <a:endParaRPr lang="en-US" sz="1100" dirty="0"/>
          </a:p>
        </p:txBody>
      </p:sp>
      <p:sp>
        <p:nvSpPr>
          <p:cNvPr id="26" name="Shape 23"/>
          <p:cNvSpPr/>
          <p:nvPr/>
        </p:nvSpPr>
        <p:spPr>
          <a:xfrm>
            <a:off x="8229600" y="1591056"/>
            <a:ext cx="740664" cy="457200"/>
          </a:xfrm>
          <a:prstGeom prst="rect">
            <a:avLst/>
          </a:prstGeom>
          <a:solidFill>
            <a:srgbClr val="112240"/>
          </a:solidFill>
          <a:ln w="12700">
            <a:solidFill>
              <a:srgbClr val="1E3A5F"/>
            </a:solidFill>
            <a:prstDash val="solid"/>
          </a:ln>
        </p:spPr>
        <p:txBody>
          <a:bodyPr/>
          <a:lstStyle/>
          <a:p>
            <a:endParaRPr lang="en-GB"/>
          </a:p>
        </p:txBody>
      </p:sp>
      <p:sp>
        <p:nvSpPr>
          <p:cNvPr id="27" name="Text 24"/>
          <p:cNvSpPr/>
          <p:nvPr/>
        </p:nvSpPr>
        <p:spPr>
          <a:xfrm>
            <a:off x="8266176" y="1591056"/>
            <a:ext cx="704088" cy="457200"/>
          </a:xfrm>
          <a:prstGeom prst="rect">
            <a:avLst/>
          </a:prstGeom>
          <a:noFill/>
          <a:ln/>
        </p:spPr>
        <p:txBody>
          <a:bodyPr wrap="square" rtlCol="0" anchor="ctr"/>
          <a:lstStyle/>
          <a:p>
            <a:pPr marL="0" indent="0" algn="ctr">
              <a:buNone/>
            </a:pPr>
            <a:r>
              <a:rPr lang="en-US" sz="1100" dirty="0">
                <a:solidFill>
                  <a:srgbClr val="22C55E"/>
                </a:solidFill>
                <a:latin typeface="Calibri" pitchFamily="34" charset="0"/>
                <a:ea typeface="Calibri" pitchFamily="34" charset="-122"/>
                <a:cs typeface="Calibri" pitchFamily="34" charset="-120"/>
              </a:rPr>
              <a:t>Small-Med</a:t>
            </a:r>
            <a:endParaRPr lang="en-US" sz="1100" dirty="0"/>
          </a:p>
        </p:txBody>
      </p:sp>
      <p:sp>
        <p:nvSpPr>
          <p:cNvPr id="28" name="Shape 25"/>
          <p:cNvSpPr/>
          <p:nvPr/>
        </p:nvSpPr>
        <p:spPr>
          <a:xfrm>
            <a:off x="5257800" y="2066544"/>
            <a:ext cx="1335024" cy="457200"/>
          </a:xfrm>
          <a:prstGeom prst="rect">
            <a:avLst/>
          </a:prstGeom>
          <a:solidFill>
            <a:srgbClr val="1E3A5F"/>
          </a:solidFill>
          <a:ln w="12700">
            <a:solidFill>
              <a:srgbClr val="1E3A5F"/>
            </a:solidFill>
            <a:prstDash val="solid"/>
          </a:ln>
        </p:spPr>
        <p:txBody>
          <a:bodyPr/>
          <a:lstStyle/>
          <a:p>
            <a:endParaRPr lang="en-GB"/>
          </a:p>
        </p:txBody>
      </p:sp>
      <p:sp>
        <p:nvSpPr>
          <p:cNvPr id="29" name="Text 26"/>
          <p:cNvSpPr/>
          <p:nvPr/>
        </p:nvSpPr>
        <p:spPr>
          <a:xfrm>
            <a:off x="5294376" y="2066544"/>
            <a:ext cx="1298448" cy="457200"/>
          </a:xfrm>
          <a:prstGeom prst="rect">
            <a:avLst/>
          </a:prstGeom>
          <a:noFill/>
          <a:ln/>
        </p:spPr>
        <p:txBody>
          <a:bodyPr wrap="square" rtlCol="0" anchor="ctr"/>
          <a:lstStyle/>
          <a:p>
            <a:pPr marL="0" indent="0" algn="ctr">
              <a:buNone/>
            </a:pPr>
            <a:r>
              <a:rPr lang="en-US" sz="1100" b="1" dirty="0">
                <a:solidFill>
                  <a:srgbClr val="CBD5E1"/>
                </a:solidFill>
                <a:latin typeface="Calibri" pitchFamily="34" charset="0"/>
                <a:ea typeface="Calibri" pitchFamily="34" charset="-122"/>
                <a:cs typeface="Calibri" pitchFamily="34" charset="-120"/>
              </a:rPr>
              <a:t>Training Time</a:t>
            </a:r>
            <a:endParaRPr lang="en-US" sz="1100" dirty="0"/>
          </a:p>
        </p:txBody>
      </p:sp>
      <p:sp>
        <p:nvSpPr>
          <p:cNvPr id="30" name="Shape 27"/>
          <p:cNvSpPr/>
          <p:nvPr/>
        </p:nvSpPr>
        <p:spPr>
          <a:xfrm>
            <a:off x="6675120" y="2066544"/>
            <a:ext cx="740664" cy="457200"/>
          </a:xfrm>
          <a:prstGeom prst="rect">
            <a:avLst/>
          </a:prstGeom>
          <a:solidFill>
            <a:srgbClr val="1E3A5F"/>
          </a:solidFill>
          <a:ln w="12700">
            <a:solidFill>
              <a:srgbClr val="1E3A5F"/>
            </a:solidFill>
            <a:prstDash val="solid"/>
          </a:ln>
        </p:spPr>
        <p:txBody>
          <a:bodyPr/>
          <a:lstStyle/>
          <a:p>
            <a:endParaRPr lang="en-GB"/>
          </a:p>
        </p:txBody>
      </p:sp>
      <p:sp>
        <p:nvSpPr>
          <p:cNvPr id="31" name="Text 28"/>
          <p:cNvSpPr/>
          <p:nvPr/>
        </p:nvSpPr>
        <p:spPr>
          <a:xfrm>
            <a:off x="6711696" y="2066544"/>
            <a:ext cx="70408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Fast</a:t>
            </a:r>
            <a:endParaRPr lang="en-US" sz="1100" dirty="0"/>
          </a:p>
        </p:txBody>
      </p:sp>
      <p:sp>
        <p:nvSpPr>
          <p:cNvPr id="32" name="Shape 29"/>
          <p:cNvSpPr/>
          <p:nvPr/>
        </p:nvSpPr>
        <p:spPr>
          <a:xfrm>
            <a:off x="7498080" y="2066544"/>
            <a:ext cx="649224" cy="457200"/>
          </a:xfrm>
          <a:prstGeom prst="rect">
            <a:avLst/>
          </a:prstGeom>
          <a:solidFill>
            <a:srgbClr val="1E3A5F"/>
          </a:solidFill>
          <a:ln w="12700">
            <a:solidFill>
              <a:srgbClr val="1E3A5F"/>
            </a:solidFill>
            <a:prstDash val="solid"/>
          </a:ln>
        </p:spPr>
        <p:txBody>
          <a:bodyPr/>
          <a:lstStyle/>
          <a:p>
            <a:endParaRPr lang="en-GB"/>
          </a:p>
        </p:txBody>
      </p:sp>
      <p:sp>
        <p:nvSpPr>
          <p:cNvPr id="33" name="Text 30"/>
          <p:cNvSpPr/>
          <p:nvPr/>
        </p:nvSpPr>
        <p:spPr>
          <a:xfrm>
            <a:off x="7534656" y="2066544"/>
            <a:ext cx="61264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Slow</a:t>
            </a:r>
            <a:endParaRPr lang="en-US" sz="1100" dirty="0"/>
          </a:p>
        </p:txBody>
      </p:sp>
      <p:sp>
        <p:nvSpPr>
          <p:cNvPr id="34" name="Shape 31"/>
          <p:cNvSpPr/>
          <p:nvPr/>
        </p:nvSpPr>
        <p:spPr>
          <a:xfrm>
            <a:off x="8229600" y="2066544"/>
            <a:ext cx="740664" cy="457200"/>
          </a:xfrm>
          <a:prstGeom prst="rect">
            <a:avLst/>
          </a:prstGeom>
          <a:solidFill>
            <a:srgbClr val="1E3A5F"/>
          </a:solidFill>
          <a:ln w="12700">
            <a:solidFill>
              <a:srgbClr val="1E3A5F"/>
            </a:solidFill>
            <a:prstDash val="solid"/>
          </a:ln>
        </p:spPr>
        <p:txBody>
          <a:bodyPr/>
          <a:lstStyle/>
          <a:p>
            <a:endParaRPr lang="en-GB"/>
          </a:p>
        </p:txBody>
      </p:sp>
      <p:sp>
        <p:nvSpPr>
          <p:cNvPr id="35" name="Text 32"/>
          <p:cNvSpPr/>
          <p:nvPr/>
        </p:nvSpPr>
        <p:spPr>
          <a:xfrm>
            <a:off x="8266176" y="2066544"/>
            <a:ext cx="704088" cy="457200"/>
          </a:xfrm>
          <a:prstGeom prst="rect">
            <a:avLst/>
          </a:prstGeom>
          <a:noFill/>
          <a:ln/>
        </p:spPr>
        <p:txBody>
          <a:bodyPr wrap="square" rtlCol="0" anchor="ctr"/>
          <a:lstStyle/>
          <a:p>
            <a:pPr marL="0" indent="0" algn="ctr">
              <a:buNone/>
            </a:pPr>
            <a:r>
              <a:rPr lang="en-US" sz="1100" dirty="0">
                <a:solidFill>
                  <a:srgbClr val="22C55E"/>
                </a:solidFill>
                <a:latin typeface="Calibri" pitchFamily="34" charset="0"/>
                <a:ea typeface="Calibri" pitchFamily="34" charset="-122"/>
                <a:cs typeface="Calibri" pitchFamily="34" charset="-120"/>
              </a:rPr>
              <a:t>Fast</a:t>
            </a:r>
            <a:endParaRPr lang="en-US" sz="1100" dirty="0"/>
          </a:p>
        </p:txBody>
      </p:sp>
      <p:sp>
        <p:nvSpPr>
          <p:cNvPr id="36" name="Shape 33"/>
          <p:cNvSpPr/>
          <p:nvPr/>
        </p:nvSpPr>
        <p:spPr>
          <a:xfrm>
            <a:off x="5257800" y="2542032"/>
            <a:ext cx="1335024" cy="457200"/>
          </a:xfrm>
          <a:prstGeom prst="rect">
            <a:avLst/>
          </a:prstGeom>
          <a:solidFill>
            <a:srgbClr val="112240"/>
          </a:solidFill>
          <a:ln w="12700">
            <a:solidFill>
              <a:srgbClr val="1E3A5F"/>
            </a:solidFill>
            <a:prstDash val="solid"/>
          </a:ln>
        </p:spPr>
        <p:txBody>
          <a:bodyPr/>
          <a:lstStyle/>
          <a:p>
            <a:endParaRPr lang="en-GB"/>
          </a:p>
        </p:txBody>
      </p:sp>
      <p:sp>
        <p:nvSpPr>
          <p:cNvPr id="37" name="Text 34"/>
          <p:cNvSpPr/>
          <p:nvPr/>
        </p:nvSpPr>
        <p:spPr>
          <a:xfrm>
            <a:off x="5294376" y="2542032"/>
            <a:ext cx="1298448" cy="457200"/>
          </a:xfrm>
          <a:prstGeom prst="rect">
            <a:avLst/>
          </a:prstGeom>
          <a:noFill/>
          <a:ln/>
        </p:spPr>
        <p:txBody>
          <a:bodyPr wrap="square" rtlCol="0" anchor="ctr"/>
          <a:lstStyle/>
          <a:p>
            <a:pPr marL="0" indent="0" algn="ctr">
              <a:buNone/>
            </a:pPr>
            <a:r>
              <a:rPr lang="en-US" sz="1100" b="1" dirty="0">
                <a:solidFill>
                  <a:srgbClr val="CBD5E1"/>
                </a:solidFill>
                <a:latin typeface="Calibri" pitchFamily="34" charset="0"/>
                <a:ea typeface="Calibri" pitchFamily="34" charset="-122"/>
                <a:cs typeface="Calibri" pitchFamily="34" charset="-120"/>
              </a:rPr>
              <a:t>Feature Eng.</a:t>
            </a:r>
            <a:endParaRPr lang="en-US" sz="1100" dirty="0"/>
          </a:p>
        </p:txBody>
      </p:sp>
      <p:sp>
        <p:nvSpPr>
          <p:cNvPr id="38" name="Shape 35"/>
          <p:cNvSpPr/>
          <p:nvPr/>
        </p:nvSpPr>
        <p:spPr>
          <a:xfrm>
            <a:off x="6675120" y="2542032"/>
            <a:ext cx="740664" cy="457200"/>
          </a:xfrm>
          <a:prstGeom prst="rect">
            <a:avLst/>
          </a:prstGeom>
          <a:solidFill>
            <a:srgbClr val="112240"/>
          </a:solidFill>
          <a:ln w="12700">
            <a:solidFill>
              <a:srgbClr val="1E3A5F"/>
            </a:solidFill>
            <a:prstDash val="solid"/>
          </a:ln>
        </p:spPr>
        <p:txBody>
          <a:bodyPr/>
          <a:lstStyle/>
          <a:p>
            <a:endParaRPr lang="en-GB"/>
          </a:p>
        </p:txBody>
      </p:sp>
      <p:sp>
        <p:nvSpPr>
          <p:cNvPr id="39" name="Text 36"/>
          <p:cNvSpPr/>
          <p:nvPr/>
        </p:nvSpPr>
        <p:spPr>
          <a:xfrm>
            <a:off x="6711696" y="2542032"/>
            <a:ext cx="70408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Manual</a:t>
            </a:r>
            <a:endParaRPr lang="en-US" sz="1100" dirty="0"/>
          </a:p>
        </p:txBody>
      </p:sp>
      <p:sp>
        <p:nvSpPr>
          <p:cNvPr id="40" name="Shape 37"/>
          <p:cNvSpPr/>
          <p:nvPr/>
        </p:nvSpPr>
        <p:spPr>
          <a:xfrm>
            <a:off x="7498080" y="2542032"/>
            <a:ext cx="649224" cy="457200"/>
          </a:xfrm>
          <a:prstGeom prst="rect">
            <a:avLst/>
          </a:prstGeom>
          <a:solidFill>
            <a:srgbClr val="112240"/>
          </a:solidFill>
          <a:ln w="12700">
            <a:solidFill>
              <a:srgbClr val="1E3A5F"/>
            </a:solidFill>
            <a:prstDash val="solid"/>
          </a:ln>
        </p:spPr>
        <p:txBody>
          <a:bodyPr/>
          <a:lstStyle/>
          <a:p>
            <a:endParaRPr lang="en-GB"/>
          </a:p>
        </p:txBody>
      </p:sp>
      <p:sp>
        <p:nvSpPr>
          <p:cNvPr id="41" name="Text 38"/>
          <p:cNvSpPr/>
          <p:nvPr/>
        </p:nvSpPr>
        <p:spPr>
          <a:xfrm>
            <a:off x="7534656" y="2542032"/>
            <a:ext cx="61264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None</a:t>
            </a:r>
            <a:endParaRPr lang="en-US" sz="1100" dirty="0"/>
          </a:p>
        </p:txBody>
      </p:sp>
      <p:sp>
        <p:nvSpPr>
          <p:cNvPr id="42" name="Shape 39"/>
          <p:cNvSpPr/>
          <p:nvPr/>
        </p:nvSpPr>
        <p:spPr>
          <a:xfrm>
            <a:off x="8229600" y="2542032"/>
            <a:ext cx="740664" cy="457200"/>
          </a:xfrm>
          <a:prstGeom prst="rect">
            <a:avLst/>
          </a:prstGeom>
          <a:solidFill>
            <a:srgbClr val="112240"/>
          </a:solidFill>
          <a:ln w="12700">
            <a:solidFill>
              <a:srgbClr val="1E3A5F"/>
            </a:solidFill>
            <a:prstDash val="solid"/>
          </a:ln>
        </p:spPr>
        <p:txBody>
          <a:bodyPr/>
          <a:lstStyle/>
          <a:p>
            <a:endParaRPr lang="en-GB"/>
          </a:p>
        </p:txBody>
      </p:sp>
      <p:sp>
        <p:nvSpPr>
          <p:cNvPr id="43" name="Text 40"/>
          <p:cNvSpPr/>
          <p:nvPr/>
        </p:nvSpPr>
        <p:spPr>
          <a:xfrm>
            <a:off x="8266176" y="2542032"/>
            <a:ext cx="704088" cy="457200"/>
          </a:xfrm>
          <a:prstGeom prst="rect">
            <a:avLst/>
          </a:prstGeom>
          <a:noFill/>
          <a:ln/>
        </p:spPr>
        <p:txBody>
          <a:bodyPr wrap="square" rtlCol="0" anchor="ctr"/>
          <a:lstStyle/>
          <a:p>
            <a:pPr marL="0" indent="0" algn="ctr">
              <a:buNone/>
            </a:pPr>
            <a:r>
              <a:rPr lang="en-US" sz="1100" dirty="0">
                <a:solidFill>
                  <a:srgbClr val="22C55E"/>
                </a:solidFill>
                <a:latin typeface="Calibri" pitchFamily="34" charset="0"/>
                <a:ea typeface="Calibri" pitchFamily="34" charset="-122"/>
                <a:cs typeface="Calibri" pitchFamily="34" charset="-120"/>
              </a:rPr>
              <a:t>None</a:t>
            </a:r>
            <a:endParaRPr lang="en-US" sz="1100" dirty="0"/>
          </a:p>
        </p:txBody>
      </p:sp>
      <p:sp>
        <p:nvSpPr>
          <p:cNvPr id="44" name="Shape 41"/>
          <p:cNvSpPr/>
          <p:nvPr/>
        </p:nvSpPr>
        <p:spPr>
          <a:xfrm>
            <a:off x="5257800" y="3017520"/>
            <a:ext cx="1335024" cy="457200"/>
          </a:xfrm>
          <a:prstGeom prst="rect">
            <a:avLst/>
          </a:prstGeom>
          <a:solidFill>
            <a:srgbClr val="1E3A5F"/>
          </a:solidFill>
          <a:ln w="12700">
            <a:solidFill>
              <a:srgbClr val="1E3A5F"/>
            </a:solidFill>
            <a:prstDash val="solid"/>
          </a:ln>
        </p:spPr>
        <p:txBody>
          <a:bodyPr/>
          <a:lstStyle/>
          <a:p>
            <a:endParaRPr lang="en-GB"/>
          </a:p>
        </p:txBody>
      </p:sp>
      <p:sp>
        <p:nvSpPr>
          <p:cNvPr id="45" name="Text 42"/>
          <p:cNvSpPr/>
          <p:nvPr/>
        </p:nvSpPr>
        <p:spPr>
          <a:xfrm>
            <a:off x="5294376" y="3017520"/>
            <a:ext cx="1298448" cy="457200"/>
          </a:xfrm>
          <a:prstGeom prst="rect">
            <a:avLst/>
          </a:prstGeom>
          <a:noFill/>
          <a:ln/>
        </p:spPr>
        <p:txBody>
          <a:bodyPr wrap="square" rtlCol="0" anchor="ctr"/>
          <a:lstStyle/>
          <a:p>
            <a:pPr marL="0" indent="0" algn="ctr">
              <a:buNone/>
            </a:pPr>
            <a:r>
              <a:rPr lang="en-US" sz="1100" b="1" dirty="0">
                <a:solidFill>
                  <a:srgbClr val="CBD5E1"/>
                </a:solidFill>
                <a:latin typeface="Calibri" pitchFamily="34" charset="0"/>
                <a:ea typeface="Calibri" pitchFamily="34" charset="-122"/>
                <a:cs typeface="Calibri" pitchFamily="34" charset="-120"/>
              </a:rPr>
              <a:t>Interpretability</a:t>
            </a:r>
            <a:endParaRPr lang="en-US" sz="1100" dirty="0"/>
          </a:p>
        </p:txBody>
      </p:sp>
      <p:sp>
        <p:nvSpPr>
          <p:cNvPr id="46" name="Shape 43"/>
          <p:cNvSpPr/>
          <p:nvPr/>
        </p:nvSpPr>
        <p:spPr>
          <a:xfrm>
            <a:off x="6675120" y="3017520"/>
            <a:ext cx="740664" cy="457200"/>
          </a:xfrm>
          <a:prstGeom prst="rect">
            <a:avLst/>
          </a:prstGeom>
          <a:solidFill>
            <a:srgbClr val="1E3A5F"/>
          </a:solidFill>
          <a:ln w="12700">
            <a:solidFill>
              <a:srgbClr val="1E3A5F"/>
            </a:solidFill>
            <a:prstDash val="solid"/>
          </a:ln>
        </p:spPr>
        <p:txBody>
          <a:bodyPr/>
          <a:lstStyle/>
          <a:p>
            <a:endParaRPr lang="en-GB"/>
          </a:p>
        </p:txBody>
      </p:sp>
      <p:sp>
        <p:nvSpPr>
          <p:cNvPr id="47" name="Text 44"/>
          <p:cNvSpPr/>
          <p:nvPr/>
        </p:nvSpPr>
        <p:spPr>
          <a:xfrm>
            <a:off x="6711696" y="3017520"/>
            <a:ext cx="70408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High</a:t>
            </a:r>
            <a:endParaRPr lang="en-US" sz="1100" dirty="0"/>
          </a:p>
        </p:txBody>
      </p:sp>
      <p:sp>
        <p:nvSpPr>
          <p:cNvPr id="48" name="Shape 45"/>
          <p:cNvSpPr/>
          <p:nvPr/>
        </p:nvSpPr>
        <p:spPr>
          <a:xfrm>
            <a:off x="7498080" y="3017520"/>
            <a:ext cx="649224" cy="457200"/>
          </a:xfrm>
          <a:prstGeom prst="rect">
            <a:avLst/>
          </a:prstGeom>
          <a:solidFill>
            <a:srgbClr val="1E3A5F"/>
          </a:solidFill>
          <a:ln w="12700">
            <a:solidFill>
              <a:srgbClr val="1E3A5F"/>
            </a:solidFill>
            <a:prstDash val="solid"/>
          </a:ln>
        </p:spPr>
        <p:txBody>
          <a:bodyPr/>
          <a:lstStyle/>
          <a:p>
            <a:endParaRPr lang="en-GB"/>
          </a:p>
        </p:txBody>
      </p:sp>
      <p:sp>
        <p:nvSpPr>
          <p:cNvPr id="49" name="Text 46"/>
          <p:cNvSpPr/>
          <p:nvPr/>
        </p:nvSpPr>
        <p:spPr>
          <a:xfrm>
            <a:off x="7534656" y="3017520"/>
            <a:ext cx="61264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Medium</a:t>
            </a:r>
            <a:endParaRPr lang="en-US" sz="1100" dirty="0"/>
          </a:p>
        </p:txBody>
      </p:sp>
      <p:sp>
        <p:nvSpPr>
          <p:cNvPr id="50" name="Shape 47"/>
          <p:cNvSpPr/>
          <p:nvPr/>
        </p:nvSpPr>
        <p:spPr>
          <a:xfrm>
            <a:off x="8229600" y="3017520"/>
            <a:ext cx="740664" cy="457200"/>
          </a:xfrm>
          <a:prstGeom prst="rect">
            <a:avLst/>
          </a:prstGeom>
          <a:solidFill>
            <a:srgbClr val="1E3A5F"/>
          </a:solidFill>
          <a:ln w="12700">
            <a:solidFill>
              <a:srgbClr val="1E3A5F"/>
            </a:solidFill>
            <a:prstDash val="solid"/>
          </a:ln>
        </p:spPr>
        <p:txBody>
          <a:bodyPr/>
          <a:lstStyle/>
          <a:p>
            <a:endParaRPr lang="en-GB"/>
          </a:p>
        </p:txBody>
      </p:sp>
      <p:sp>
        <p:nvSpPr>
          <p:cNvPr id="51" name="Text 48"/>
          <p:cNvSpPr/>
          <p:nvPr/>
        </p:nvSpPr>
        <p:spPr>
          <a:xfrm>
            <a:off x="8266176" y="3017520"/>
            <a:ext cx="704088" cy="457200"/>
          </a:xfrm>
          <a:prstGeom prst="rect">
            <a:avLst/>
          </a:prstGeom>
          <a:noFill/>
          <a:ln/>
        </p:spPr>
        <p:txBody>
          <a:bodyPr wrap="square" rtlCol="0" anchor="ctr"/>
          <a:lstStyle/>
          <a:p>
            <a:pPr marL="0" indent="0" algn="ctr">
              <a:buNone/>
            </a:pPr>
            <a:r>
              <a:rPr lang="en-US" sz="1100" dirty="0">
                <a:solidFill>
                  <a:srgbClr val="22C55E"/>
                </a:solidFill>
                <a:latin typeface="Calibri" pitchFamily="34" charset="0"/>
                <a:ea typeface="Calibri" pitchFamily="34" charset="-122"/>
                <a:cs typeface="Calibri" pitchFamily="34" charset="-120"/>
              </a:rPr>
              <a:t>High</a:t>
            </a:r>
            <a:endParaRPr lang="en-US" sz="1100" dirty="0"/>
          </a:p>
        </p:txBody>
      </p:sp>
      <p:sp>
        <p:nvSpPr>
          <p:cNvPr id="52" name="Shape 49"/>
          <p:cNvSpPr/>
          <p:nvPr/>
        </p:nvSpPr>
        <p:spPr>
          <a:xfrm>
            <a:off x="5257800" y="3493008"/>
            <a:ext cx="1335024" cy="457200"/>
          </a:xfrm>
          <a:prstGeom prst="rect">
            <a:avLst/>
          </a:prstGeom>
          <a:solidFill>
            <a:srgbClr val="112240"/>
          </a:solidFill>
          <a:ln w="12700">
            <a:solidFill>
              <a:srgbClr val="1E3A5F"/>
            </a:solidFill>
            <a:prstDash val="solid"/>
          </a:ln>
        </p:spPr>
        <p:txBody>
          <a:bodyPr/>
          <a:lstStyle/>
          <a:p>
            <a:endParaRPr lang="en-GB"/>
          </a:p>
        </p:txBody>
      </p:sp>
      <p:sp>
        <p:nvSpPr>
          <p:cNvPr id="53" name="Text 50"/>
          <p:cNvSpPr/>
          <p:nvPr/>
        </p:nvSpPr>
        <p:spPr>
          <a:xfrm>
            <a:off x="5294376" y="3493008"/>
            <a:ext cx="1298448" cy="457200"/>
          </a:xfrm>
          <a:prstGeom prst="rect">
            <a:avLst/>
          </a:prstGeom>
          <a:noFill/>
          <a:ln/>
        </p:spPr>
        <p:txBody>
          <a:bodyPr wrap="square" rtlCol="0" anchor="ctr"/>
          <a:lstStyle/>
          <a:p>
            <a:pPr marL="0" indent="0" algn="ctr">
              <a:buNone/>
            </a:pPr>
            <a:r>
              <a:rPr lang="en-US" sz="1100" b="1" dirty="0">
                <a:solidFill>
                  <a:srgbClr val="CBD5E1"/>
                </a:solidFill>
                <a:latin typeface="Calibri" pitchFamily="34" charset="0"/>
                <a:ea typeface="Calibri" pitchFamily="34" charset="-122"/>
                <a:cs typeface="Calibri" pitchFamily="34" charset="-120"/>
              </a:rPr>
              <a:t>Explainability</a:t>
            </a:r>
            <a:endParaRPr lang="en-US" sz="1100" dirty="0"/>
          </a:p>
        </p:txBody>
      </p:sp>
      <p:sp>
        <p:nvSpPr>
          <p:cNvPr id="54" name="Shape 51"/>
          <p:cNvSpPr/>
          <p:nvPr/>
        </p:nvSpPr>
        <p:spPr>
          <a:xfrm>
            <a:off x="6675120" y="3493008"/>
            <a:ext cx="740664" cy="457200"/>
          </a:xfrm>
          <a:prstGeom prst="rect">
            <a:avLst/>
          </a:prstGeom>
          <a:solidFill>
            <a:srgbClr val="112240"/>
          </a:solidFill>
          <a:ln w="12700">
            <a:solidFill>
              <a:srgbClr val="1E3A5F"/>
            </a:solidFill>
            <a:prstDash val="solid"/>
          </a:ln>
        </p:spPr>
        <p:txBody>
          <a:bodyPr/>
          <a:lstStyle/>
          <a:p>
            <a:endParaRPr lang="en-GB"/>
          </a:p>
        </p:txBody>
      </p:sp>
      <p:sp>
        <p:nvSpPr>
          <p:cNvPr id="55" name="Text 52"/>
          <p:cNvSpPr/>
          <p:nvPr/>
        </p:nvSpPr>
        <p:spPr>
          <a:xfrm>
            <a:off x="6711696" y="3493008"/>
            <a:ext cx="70408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Limited</a:t>
            </a:r>
            <a:endParaRPr lang="en-US" sz="1100" dirty="0"/>
          </a:p>
        </p:txBody>
      </p:sp>
      <p:sp>
        <p:nvSpPr>
          <p:cNvPr id="56" name="Shape 53"/>
          <p:cNvSpPr/>
          <p:nvPr/>
        </p:nvSpPr>
        <p:spPr>
          <a:xfrm>
            <a:off x="7498080" y="3493008"/>
            <a:ext cx="649224" cy="457200"/>
          </a:xfrm>
          <a:prstGeom prst="rect">
            <a:avLst/>
          </a:prstGeom>
          <a:solidFill>
            <a:srgbClr val="112240"/>
          </a:solidFill>
          <a:ln w="12700">
            <a:solidFill>
              <a:srgbClr val="1E3A5F"/>
            </a:solidFill>
            <a:prstDash val="solid"/>
          </a:ln>
        </p:spPr>
        <p:txBody>
          <a:bodyPr/>
          <a:lstStyle/>
          <a:p>
            <a:endParaRPr lang="en-GB"/>
          </a:p>
        </p:txBody>
      </p:sp>
      <p:sp>
        <p:nvSpPr>
          <p:cNvPr id="57" name="Text 54"/>
          <p:cNvSpPr/>
          <p:nvPr/>
        </p:nvSpPr>
        <p:spPr>
          <a:xfrm>
            <a:off x="7534656" y="3493008"/>
            <a:ext cx="612648" cy="45720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Grad-CAM</a:t>
            </a:r>
            <a:endParaRPr lang="en-US" sz="1100" dirty="0"/>
          </a:p>
        </p:txBody>
      </p:sp>
      <p:sp>
        <p:nvSpPr>
          <p:cNvPr id="58" name="Shape 55"/>
          <p:cNvSpPr/>
          <p:nvPr/>
        </p:nvSpPr>
        <p:spPr>
          <a:xfrm>
            <a:off x="8229600" y="3493008"/>
            <a:ext cx="740664" cy="457200"/>
          </a:xfrm>
          <a:prstGeom prst="rect">
            <a:avLst/>
          </a:prstGeom>
          <a:solidFill>
            <a:srgbClr val="112240"/>
          </a:solidFill>
          <a:ln w="12700">
            <a:solidFill>
              <a:srgbClr val="1E3A5F"/>
            </a:solidFill>
            <a:prstDash val="solid"/>
          </a:ln>
        </p:spPr>
        <p:txBody>
          <a:bodyPr/>
          <a:lstStyle/>
          <a:p>
            <a:endParaRPr lang="en-GB"/>
          </a:p>
        </p:txBody>
      </p:sp>
      <p:sp>
        <p:nvSpPr>
          <p:cNvPr id="59" name="Text 56"/>
          <p:cNvSpPr/>
          <p:nvPr/>
        </p:nvSpPr>
        <p:spPr>
          <a:xfrm>
            <a:off x="8266176" y="3493008"/>
            <a:ext cx="704088" cy="457200"/>
          </a:xfrm>
          <a:prstGeom prst="rect">
            <a:avLst/>
          </a:prstGeom>
          <a:noFill/>
          <a:ln/>
        </p:spPr>
        <p:txBody>
          <a:bodyPr wrap="square" rtlCol="0" anchor="ctr"/>
          <a:lstStyle/>
          <a:p>
            <a:pPr marL="0" indent="0" algn="ctr">
              <a:buNone/>
            </a:pPr>
            <a:r>
              <a:rPr lang="en-US" sz="1100" dirty="0">
                <a:solidFill>
                  <a:srgbClr val="22C55E"/>
                </a:solidFill>
                <a:latin typeface="Calibri" pitchFamily="34" charset="0"/>
                <a:ea typeface="Calibri" pitchFamily="34" charset="-122"/>
                <a:cs typeface="Calibri" pitchFamily="34" charset="-120"/>
              </a:rPr>
              <a:t>LIME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B1D35"/>
        </a:solidFill>
        <a:effectLst/>
      </p:bgPr>
    </p:bg>
    <p:spTree>
      <p:nvGrpSpPr>
        <p:cNvPr id="1" name=""/>
        <p:cNvGrpSpPr/>
        <p:nvPr/>
      </p:nvGrpSpPr>
      <p:grpSpPr>
        <a:xfrm>
          <a:off x="0" y="0"/>
          <a:ext cx="0" cy="0"/>
          <a:chOff x="0" y="0"/>
          <a:chExt cx="0" cy="0"/>
        </a:xfrm>
      </p:grpSpPr>
      <p:sp>
        <p:nvSpPr>
          <p:cNvPr id="15" name="Shape 2">
            <a:extLst>
              <a:ext uri="{FF2B5EF4-FFF2-40B4-BE49-F238E27FC236}">
                <a16:creationId xmlns:a16="http://schemas.microsoft.com/office/drawing/2014/main" id="{51E3027C-9ECB-60DA-DB37-931DEDA6FF6D}"/>
              </a:ext>
            </a:extLst>
          </p:cNvPr>
          <p:cNvSpPr/>
          <p:nvPr/>
        </p:nvSpPr>
        <p:spPr>
          <a:xfrm>
            <a:off x="4114800" y="2382012"/>
            <a:ext cx="2743200" cy="2743200"/>
          </a:xfrm>
          <a:prstGeom prst="ellipse">
            <a:avLst/>
          </a:prstGeom>
          <a:solidFill>
            <a:srgbClr val="0F2A50">
              <a:alpha val="50000"/>
            </a:srgbClr>
          </a:solidFill>
          <a:ln w="12700">
            <a:solidFill>
              <a:srgbClr val="0F2A50"/>
            </a:solidFill>
            <a:prstDash val="solid"/>
          </a:ln>
        </p:spPr>
        <p:txBody>
          <a:bodyPr/>
          <a:lstStyle/>
          <a:p>
            <a:endParaRPr lang="en-GB" dirty="0"/>
          </a:p>
        </p:txBody>
      </p:sp>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Shape 1"/>
          <p:cNvSpPr/>
          <p:nvPr/>
        </p:nvSpPr>
        <p:spPr>
          <a:xfrm>
            <a:off x="0" y="5079492"/>
            <a:ext cx="9144000" cy="64008"/>
          </a:xfrm>
          <a:prstGeom prst="rect">
            <a:avLst/>
          </a:prstGeom>
          <a:solidFill>
            <a:srgbClr val="00C6BE"/>
          </a:solidFill>
          <a:ln w="12700">
            <a:solidFill>
              <a:srgbClr val="00C6BE"/>
            </a:solidFill>
            <a:prstDash val="solid"/>
          </a:ln>
        </p:spPr>
        <p:txBody>
          <a:bodyPr/>
          <a:lstStyle/>
          <a:p>
            <a:endParaRPr lang="en-GB"/>
          </a:p>
        </p:txBody>
      </p:sp>
      <p:sp>
        <p:nvSpPr>
          <p:cNvPr id="4" name="Shape 2"/>
          <p:cNvSpPr/>
          <p:nvPr/>
        </p:nvSpPr>
        <p:spPr>
          <a:xfrm>
            <a:off x="0" y="0"/>
            <a:ext cx="320040" cy="5143500"/>
          </a:xfrm>
          <a:prstGeom prst="rect">
            <a:avLst/>
          </a:prstGeom>
          <a:solidFill>
            <a:srgbClr val="00C6BE"/>
          </a:solidFill>
          <a:ln w="12700">
            <a:solidFill>
              <a:srgbClr val="00C6BE"/>
            </a:solidFill>
            <a:prstDash val="solid"/>
          </a:ln>
        </p:spPr>
        <p:txBody>
          <a:bodyPr/>
          <a:lstStyle/>
          <a:p>
            <a:endParaRPr lang="en-GB"/>
          </a:p>
        </p:txBody>
      </p:sp>
      <p:sp>
        <p:nvSpPr>
          <p:cNvPr id="5" name="Shape 3"/>
          <p:cNvSpPr/>
          <p:nvPr/>
        </p:nvSpPr>
        <p:spPr>
          <a:xfrm>
            <a:off x="5943600" y="-914400"/>
            <a:ext cx="4572000" cy="4572000"/>
          </a:xfrm>
          <a:prstGeom prst="ellipse">
            <a:avLst/>
          </a:prstGeom>
          <a:solidFill>
            <a:srgbClr val="0F2A50">
              <a:alpha val="70000"/>
            </a:srgbClr>
          </a:solidFill>
          <a:ln w="12700">
            <a:solidFill>
              <a:srgbClr val="0F2A50"/>
            </a:solidFill>
            <a:prstDash val="solid"/>
          </a:ln>
        </p:spPr>
        <p:txBody>
          <a:bodyPr/>
          <a:lstStyle/>
          <a:p>
            <a:endParaRPr lang="en-GB"/>
          </a:p>
        </p:txBody>
      </p:sp>
      <p:sp>
        <p:nvSpPr>
          <p:cNvPr id="6" name="Text 4"/>
          <p:cNvSpPr/>
          <p:nvPr/>
        </p:nvSpPr>
        <p:spPr>
          <a:xfrm>
            <a:off x="640080" y="1097280"/>
            <a:ext cx="7315200" cy="914400"/>
          </a:xfrm>
          <a:prstGeom prst="rect">
            <a:avLst/>
          </a:prstGeom>
          <a:noFill/>
          <a:ln/>
        </p:spPr>
        <p:txBody>
          <a:bodyPr wrap="square" rtlCol="0" anchor="ctr"/>
          <a:lstStyle/>
          <a:p>
            <a:pPr marL="0" indent="0" algn="l">
              <a:buNone/>
            </a:pPr>
            <a:r>
              <a:rPr lang="en-US" sz="5200" b="1" kern="0" spc="200" dirty="0">
                <a:solidFill>
                  <a:srgbClr val="FFFFFF"/>
                </a:solidFill>
                <a:latin typeface="Trebuchet MS" pitchFamily="34" charset="0"/>
                <a:ea typeface="Trebuchet MS" pitchFamily="34" charset="-122"/>
                <a:cs typeface="Trebuchet MS" pitchFamily="34" charset="-120"/>
              </a:rPr>
              <a:t>Thank You</a:t>
            </a:r>
            <a:endParaRPr lang="en-US" sz="5200" dirty="0"/>
          </a:p>
        </p:txBody>
      </p:sp>
      <p:sp>
        <p:nvSpPr>
          <p:cNvPr id="7" name="Text 5"/>
          <p:cNvSpPr/>
          <p:nvPr/>
        </p:nvSpPr>
        <p:spPr>
          <a:xfrm>
            <a:off x="640080" y="2011680"/>
            <a:ext cx="5486400" cy="457200"/>
          </a:xfrm>
          <a:prstGeom prst="rect">
            <a:avLst/>
          </a:prstGeom>
          <a:noFill/>
          <a:ln/>
        </p:spPr>
        <p:txBody>
          <a:bodyPr wrap="square" rtlCol="0" anchor="ctr"/>
          <a:lstStyle/>
          <a:p>
            <a:pPr marL="0" indent="0" algn="l">
              <a:buNone/>
            </a:pPr>
            <a:r>
              <a:rPr lang="en-US" sz="2200" dirty="0">
                <a:solidFill>
                  <a:srgbClr val="00C6BE"/>
                </a:solidFill>
                <a:latin typeface="Trebuchet MS" pitchFamily="34" charset="0"/>
                <a:ea typeface="Trebuchet MS" pitchFamily="34" charset="-122"/>
                <a:cs typeface="Trebuchet MS" pitchFamily="34" charset="-120"/>
              </a:rPr>
              <a:t>Questions &amp; Discussion</a:t>
            </a:r>
            <a:endParaRPr lang="en-US" sz="2200" dirty="0"/>
          </a:p>
        </p:txBody>
      </p:sp>
      <p:sp>
        <p:nvSpPr>
          <p:cNvPr id="8" name="Shape 6"/>
          <p:cNvSpPr/>
          <p:nvPr/>
        </p:nvSpPr>
        <p:spPr>
          <a:xfrm>
            <a:off x="640080" y="2697480"/>
            <a:ext cx="5943600" cy="36576"/>
          </a:xfrm>
          <a:prstGeom prst="rect">
            <a:avLst/>
          </a:prstGeom>
          <a:solidFill>
            <a:srgbClr val="1E3A5F"/>
          </a:solidFill>
          <a:ln w="12700">
            <a:solidFill>
              <a:srgbClr val="1E3A5F"/>
            </a:solidFill>
            <a:prstDash val="solid"/>
          </a:ln>
        </p:spPr>
        <p:txBody>
          <a:bodyPr/>
          <a:lstStyle/>
          <a:p>
            <a:endParaRPr lang="en-GB"/>
          </a:p>
        </p:txBody>
      </p:sp>
      <p:sp>
        <p:nvSpPr>
          <p:cNvPr id="9" name="Text 7"/>
          <p:cNvSpPr/>
          <p:nvPr/>
        </p:nvSpPr>
        <p:spPr>
          <a:xfrm>
            <a:off x="640080" y="2880360"/>
            <a:ext cx="2286000" cy="457200"/>
          </a:xfrm>
          <a:prstGeom prst="rect">
            <a:avLst/>
          </a:prstGeom>
          <a:noFill/>
          <a:ln/>
        </p:spPr>
        <p:txBody>
          <a:bodyPr wrap="square" lIns="0" tIns="0" rIns="0" bIns="0" rtlCol="0" anchor="ctr"/>
          <a:lstStyle/>
          <a:p>
            <a:pPr marL="0" indent="0" algn="ctr">
              <a:buNone/>
            </a:pPr>
            <a:r>
              <a:rPr lang="en-US" sz="2600" b="1" dirty="0">
                <a:solidFill>
                  <a:srgbClr val="00C6BE"/>
                </a:solidFill>
                <a:latin typeface="Trebuchet MS" pitchFamily="34" charset="0"/>
                <a:ea typeface="Trebuchet MS" pitchFamily="34" charset="-122"/>
                <a:cs typeface="Trebuchet MS" pitchFamily="34" charset="-120"/>
              </a:rPr>
              <a:t>90.56%</a:t>
            </a:r>
            <a:endParaRPr lang="en-US" sz="2600" dirty="0"/>
          </a:p>
        </p:txBody>
      </p:sp>
      <p:sp>
        <p:nvSpPr>
          <p:cNvPr id="10" name="Text 8"/>
          <p:cNvSpPr/>
          <p:nvPr/>
        </p:nvSpPr>
        <p:spPr>
          <a:xfrm>
            <a:off x="640080" y="3337560"/>
            <a:ext cx="228600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SVM (Classical ML)</a:t>
            </a:r>
            <a:endParaRPr lang="en-US" sz="1100" dirty="0"/>
          </a:p>
        </p:txBody>
      </p:sp>
      <p:sp>
        <p:nvSpPr>
          <p:cNvPr id="11" name="Text 9"/>
          <p:cNvSpPr/>
          <p:nvPr/>
        </p:nvSpPr>
        <p:spPr>
          <a:xfrm>
            <a:off x="3200400" y="2880360"/>
            <a:ext cx="2286000" cy="457200"/>
          </a:xfrm>
          <a:prstGeom prst="rect">
            <a:avLst/>
          </a:prstGeom>
          <a:noFill/>
          <a:ln/>
        </p:spPr>
        <p:txBody>
          <a:bodyPr wrap="square" lIns="0" tIns="0" rIns="0" bIns="0" rtlCol="0" anchor="ctr"/>
          <a:lstStyle/>
          <a:p>
            <a:pPr marL="0" indent="0" algn="ctr">
              <a:buNone/>
            </a:pPr>
            <a:r>
              <a:rPr lang="en-US" sz="2600" b="1" dirty="0">
                <a:solidFill>
                  <a:srgbClr val="FACC15"/>
                </a:solidFill>
                <a:latin typeface="Trebuchet MS" pitchFamily="34" charset="0"/>
                <a:ea typeface="Trebuchet MS" pitchFamily="34" charset="-122"/>
                <a:cs typeface="Trebuchet MS" pitchFamily="34" charset="-120"/>
              </a:rPr>
              <a:t>81.87%</a:t>
            </a:r>
            <a:endParaRPr lang="en-US" sz="2600" dirty="0"/>
          </a:p>
        </p:txBody>
      </p:sp>
      <p:sp>
        <p:nvSpPr>
          <p:cNvPr id="12" name="Text 10"/>
          <p:cNvSpPr/>
          <p:nvPr/>
        </p:nvSpPr>
        <p:spPr>
          <a:xfrm>
            <a:off x="3200400" y="3337560"/>
            <a:ext cx="228600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CNN</a:t>
            </a:r>
            <a:endParaRPr lang="en-US" sz="1100" dirty="0"/>
          </a:p>
        </p:txBody>
      </p:sp>
      <p:sp>
        <p:nvSpPr>
          <p:cNvPr id="13" name="Text 11"/>
          <p:cNvSpPr/>
          <p:nvPr/>
        </p:nvSpPr>
        <p:spPr>
          <a:xfrm>
            <a:off x="5760720" y="2880360"/>
            <a:ext cx="2286000" cy="457200"/>
          </a:xfrm>
          <a:prstGeom prst="rect">
            <a:avLst/>
          </a:prstGeom>
          <a:noFill/>
          <a:ln/>
        </p:spPr>
        <p:txBody>
          <a:bodyPr wrap="square" lIns="0" tIns="0" rIns="0" bIns="0" rtlCol="0" anchor="ctr"/>
          <a:lstStyle/>
          <a:p>
            <a:pPr marL="0" indent="0" algn="ctr">
              <a:buNone/>
            </a:pPr>
            <a:r>
              <a:rPr lang="en-US" sz="2600" b="1" dirty="0">
                <a:solidFill>
                  <a:srgbClr val="22C55E"/>
                </a:solidFill>
                <a:latin typeface="Trebuchet MS" pitchFamily="34" charset="0"/>
                <a:ea typeface="Trebuchet MS" pitchFamily="34" charset="-122"/>
                <a:cs typeface="Trebuchet MS" pitchFamily="34" charset="-120"/>
              </a:rPr>
              <a:t>89.81%</a:t>
            </a:r>
            <a:endParaRPr lang="en-US" sz="2600" dirty="0"/>
          </a:p>
        </p:txBody>
      </p:sp>
      <p:sp>
        <p:nvSpPr>
          <p:cNvPr id="14" name="Text 12"/>
          <p:cNvSpPr/>
          <p:nvPr/>
        </p:nvSpPr>
        <p:spPr>
          <a:xfrm>
            <a:off x="5760720" y="3337560"/>
            <a:ext cx="228600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ResNet50 (Transfer)</a:t>
            </a:r>
            <a:endParaRPr lang="en-US" sz="1100" dirty="0"/>
          </a:p>
        </p:txBody>
      </p:sp>
      <p:graphicFrame>
        <p:nvGraphicFramePr>
          <p:cNvPr id="17" name="Object 16" descr="Report">
            <a:extLst>
              <a:ext uri="{FF2B5EF4-FFF2-40B4-BE49-F238E27FC236}">
                <a16:creationId xmlns:a16="http://schemas.microsoft.com/office/drawing/2014/main" id="{A25BB604-431F-5EF4-FF05-DF9B1FDC1A11}"/>
              </a:ext>
              <a:ext uri="{C183D7F6-B498-43B3-948B-1728B52AA6E4}">
                <adec:decorative xmlns:adec="http://schemas.microsoft.com/office/drawing/2017/decorative" val="0"/>
              </a:ext>
            </a:extLst>
          </p:cNvPr>
          <p:cNvGraphicFramePr>
            <a:graphicFrameLocks noChangeAspect="1"/>
          </p:cNvGraphicFramePr>
          <p:nvPr>
            <p:extLst>
              <p:ext uri="{D42A27DB-BD31-4B8C-83A1-F6EECF244321}">
                <p14:modId xmlns:p14="http://schemas.microsoft.com/office/powerpoint/2010/main" val="3447554044"/>
              </p:ext>
            </p:extLst>
          </p:nvPr>
        </p:nvGraphicFramePr>
        <p:xfrm>
          <a:off x="4443047" y="1444751"/>
          <a:ext cx="1317674" cy="1125511"/>
        </p:xfrm>
        <a:graphic>
          <a:graphicData uri="http://schemas.openxmlformats.org/presentationml/2006/ole">
            <mc:AlternateContent xmlns:mc="http://schemas.openxmlformats.org/markup-compatibility/2006">
              <mc:Choice xmlns:v="urn:schemas-microsoft-com:vml" Requires="v">
                <p:oleObj name="Document" showAsIcon="1" r:id="rId3" imgW="914249" imgH="781050" progId="Word.Document.12">
                  <p:embed/>
                </p:oleObj>
              </mc:Choice>
              <mc:Fallback>
                <p:oleObj name="Document" showAsIcon="1" r:id="rId3" imgW="914249" imgH="781050" progId="Word.Document.12">
                  <p:embed/>
                  <p:pic>
                    <p:nvPicPr>
                      <p:cNvPr id="28" name="Object 27">
                        <a:extLst>
                          <a:ext uri="{FF2B5EF4-FFF2-40B4-BE49-F238E27FC236}">
                            <a16:creationId xmlns:a16="http://schemas.microsoft.com/office/drawing/2014/main" id="{6C393078-4EEF-8C63-1FFA-1BDB26E1EC0E}"/>
                          </a:ext>
                        </a:extLst>
                      </p:cNvPr>
                      <p:cNvPicPr/>
                      <p:nvPr/>
                    </p:nvPicPr>
                    <p:blipFill>
                      <a:blip r:embed="rId4"/>
                      <a:stretch>
                        <a:fillRect/>
                      </a:stretch>
                    </p:blipFill>
                    <p:spPr>
                      <a:xfrm>
                        <a:off x="4443047" y="1444751"/>
                        <a:ext cx="1317674" cy="1125511"/>
                      </a:xfrm>
                      <a:prstGeom prst="rect">
                        <a:avLst/>
                      </a:prstGeom>
                      <a:noFill/>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DBDACDED-9273-0106-E980-82C38010CD3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C07D94E-A3E4-B395-A0FC-AAE52BA01E03}"/>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B1C0674-2F2C-AC6F-14A1-3F3239DB7E7D}"/>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Problem Statement — 4-Class MRI Classification</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8" name="Picture 37" descr="The image depicts a human brain from the side, highlighting various types of tumors: meningioma, glioma, neuroma, craniopharyngioma, and adenoma.&#10;&#10;AI-generated content may be incorrect.">
            <a:extLst>
              <a:ext uri="{FF2B5EF4-FFF2-40B4-BE49-F238E27FC236}">
                <a16:creationId xmlns:a16="http://schemas.microsoft.com/office/drawing/2014/main" id="{C88ABC9D-80E8-8D6D-AD6E-8CECBF442D60}"/>
              </a:ext>
            </a:extLst>
          </p:cNvPr>
          <p:cNvPicPr>
            <a:picLocks noChangeAspect="1"/>
          </p:cNvPicPr>
          <p:nvPr/>
        </p:nvPicPr>
        <p:blipFill>
          <a:blip r:embed="rId3">
            <a:clrChange>
              <a:clrFrom>
                <a:srgbClr val="FEFEFE"/>
              </a:clrFrom>
              <a:clrTo>
                <a:srgbClr val="FEFEFE">
                  <a:alpha val="0"/>
                </a:srgbClr>
              </a:clrTo>
            </a:clrChange>
          </a:blip>
          <a:stretch>
            <a:fillRect/>
          </a:stretch>
        </p:blipFill>
        <p:spPr>
          <a:xfrm>
            <a:off x="2742242" y="795528"/>
            <a:ext cx="3112437" cy="3537902"/>
          </a:xfrm>
          <a:prstGeom prst="rect">
            <a:avLst/>
          </a:prstGeom>
        </p:spPr>
      </p:pic>
      <p:sp>
        <p:nvSpPr>
          <p:cNvPr id="39" name="Action Button: Return 38">
            <a:hlinkClick r:id="rId4" action="ppaction://hlinksldjump" highlightClick="1">
              <a:snd r:embed="rId5" name="whoosh.wav"/>
            </a:hlinkClick>
            <a:extLst>
              <a:ext uri="{FF2B5EF4-FFF2-40B4-BE49-F238E27FC236}">
                <a16:creationId xmlns:a16="http://schemas.microsoft.com/office/drawing/2014/main" id="{2D2366D9-DA30-C5AC-DCC4-5511017CE805}"/>
              </a:ext>
            </a:extLst>
          </p:cNvPr>
          <p:cNvSpPr/>
          <p:nvPr/>
        </p:nvSpPr>
        <p:spPr>
          <a:xfrm>
            <a:off x="8686800" y="4357069"/>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92759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Dataset</a:t>
            </a:r>
            <a:endParaRPr lang="en-US" sz="2700" dirty="0"/>
          </a:p>
        </p:txBody>
      </p:sp>
      <p:pic>
        <p:nvPicPr>
          <p:cNvPr id="51" name="Picture 50" descr="The image depicts a hierarchical diagram of a brain MRI dataset, categorized into training and testing datasets, with specific types of brain tumors such as glioma, meningioma, and pituitary listed.&#10;&#10;AI-generated content may be incorrect.">
            <a:extLst>
              <a:ext uri="{FF2B5EF4-FFF2-40B4-BE49-F238E27FC236}">
                <a16:creationId xmlns:a16="http://schemas.microsoft.com/office/drawing/2014/main" id="{01FA527A-38F0-4F64-DFF8-4DA3D9408A09}"/>
              </a:ext>
            </a:extLst>
          </p:cNvPr>
          <p:cNvPicPr>
            <a:picLocks noChangeAspect="1"/>
          </p:cNvPicPr>
          <p:nvPr/>
        </p:nvPicPr>
        <p:blipFill>
          <a:blip r:embed="rId3"/>
          <a:stretch>
            <a:fillRect/>
          </a:stretch>
        </p:blipFill>
        <p:spPr>
          <a:xfrm>
            <a:off x="2102783" y="1826846"/>
            <a:ext cx="4938434" cy="2779346"/>
          </a:xfrm>
          <a:prstGeom prst="rect">
            <a:avLst/>
          </a:prstGeom>
        </p:spPr>
      </p:pic>
      <p:sp>
        <p:nvSpPr>
          <p:cNvPr id="54" name="Shape 2">
            <a:extLst>
              <a:ext uri="{FF2B5EF4-FFF2-40B4-BE49-F238E27FC236}">
                <a16:creationId xmlns:a16="http://schemas.microsoft.com/office/drawing/2014/main" id="{C7E5BFAB-9AE7-C0E4-ACA2-FDCDFE5BC110}"/>
              </a:ext>
            </a:extLst>
          </p:cNvPr>
          <p:cNvSpPr/>
          <p:nvPr/>
        </p:nvSpPr>
        <p:spPr>
          <a:xfrm>
            <a:off x="320040" y="841248"/>
            <a:ext cx="8503920" cy="8686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3">
            <a:extLst>
              <a:ext uri="{FF2B5EF4-FFF2-40B4-BE49-F238E27FC236}">
                <a16:creationId xmlns:a16="http://schemas.microsoft.com/office/drawing/2014/main" id="{B5F1C7E0-B150-5512-88CA-94C2E6A26CD4}"/>
              </a:ext>
            </a:extLst>
          </p:cNvPr>
          <p:cNvSpPr/>
          <p:nvPr/>
        </p:nvSpPr>
        <p:spPr>
          <a:xfrm>
            <a:off x="502920" y="886968"/>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DATASET: Dataset_MRI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4">
            <a:extLst>
              <a:ext uri="{FF2B5EF4-FFF2-40B4-BE49-F238E27FC236}">
                <a16:creationId xmlns:a16="http://schemas.microsoft.com/office/drawing/2014/main" id="{C96212D0-49F5-9173-0FB5-98856C5B2A73}"/>
              </a:ext>
            </a:extLst>
          </p:cNvPr>
          <p:cNvSpPr/>
          <p:nvPr/>
        </p:nvSpPr>
        <p:spPr>
          <a:xfrm>
            <a:off x="502920" y="114300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Well-balanced class distribution across all 4 categories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
            <a:extLst>
              <a:ext uri="{FF2B5EF4-FFF2-40B4-BE49-F238E27FC236}">
                <a16:creationId xmlns:a16="http://schemas.microsoft.com/office/drawing/2014/main" id="{0B41A525-FE3F-E6BF-0887-EE5694A19126}"/>
              </a:ext>
            </a:extLst>
          </p:cNvPr>
          <p:cNvSpPr/>
          <p:nvPr/>
        </p:nvSpPr>
        <p:spPr>
          <a:xfrm>
            <a:off x="502920" y="132588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Variable image sizes → all resized to 128 × 128 for consistency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6">
            <a:extLst>
              <a:ext uri="{FF2B5EF4-FFF2-40B4-BE49-F238E27FC236}">
                <a16:creationId xmlns:a16="http://schemas.microsoft.com/office/drawing/2014/main" id="{36FB2B9F-D54B-B29B-52CA-4E2D778CF08D}"/>
              </a:ext>
            </a:extLst>
          </p:cNvPr>
          <p:cNvSpPr/>
          <p:nvPr/>
        </p:nvSpPr>
        <p:spPr>
          <a:xfrm>
            <a:off x="502920" y="150876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Mixed colour modes (grayscale &amp; RGB) → converted to RGB then grayscale for feature extraction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ED76D06D-04BA-7C84-4934-BC893AF1502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1E1EB33-EC39-16E4-8DC3-2355E99FEB1C}"/>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B67424E-89A3-2B69-7833-3A68F30D89F8}"/>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Dataset</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7" name="Picture 46" descr="The image depicts a comparative count plot and distribution for two sets of tumor data, highlighting the number of samples for various tumor classes such as glioma, pituitary, and meningioma in both training and testing sets.&#10;&#10;AI-generated content may be incorrect.">
            <a:extLst>
              <a:ext uri="{FF2B5EF4-FFF2-40B4-BE49-F238E27FC236}">
                <a16:creationId xmlns:a16="http://schemas.microsoft.com/office/drawing/2014/main" id="{19FA666A-4D13-C534-0E6C-5876DE701D2E}"/>
              </a:ext>
            </a:extLst>
          </p:cNvPr>
          <p:cNvPicPr>
            <a:picLocks noChangeAspect="1"/>
          </p:cNvPicPr>
          <p:nvPr/>
        </p:nvPicPr>
        <p:blipFill>
          <a:blip r:embed="rId3"/>
          <a:stretch>
            <a:fillRect/>
          </a:stretch>
        </p:blipFill>
        <p:spPr>
          <a:xfrm>
            <a:off x="588598" y="1768454"/>
            <a:ext cx="3695824" cy="2928710"/>
          </a:xfrm>
          <a:prstGeom prst="rect">
            <a:avLst/>
          </a:prstGeom>
        </p:spPr>
      </p:pic>
      <p:pic>
        <p:nvPicPr>
          <p:cNvPr id="49" name="Picture 48" descr="This image is a collection of various medical imaging samples, including images of gliomas, meningiomas, neuromas, and a pituitious tumor, all in different color formats and resolutions.&#10;&#10;AI-generated content may be incorrect.">
            <a:extLst>
              <a:ext uri="{FF2B5EF4-FFF2-40B4-BE49-F238E27FC236}">
                <a16:creationId xmlns:a16="http://schemas.microsoft.com/office/drawing/2014/main" id="{DCB14C37-3520-0CF2-B9FA-5695B7C2FC4F}"/>
              </a:ext>
            </a:extLst>
          </p:cNvPr>
          <p:cNvPicPr>
            <a:picLocks noChangeAspect="1"/>
          </p:cNvPicPr>
          <p:nvPr/>
        </p:nvPicPr>
        <p:blipFill>
          <a:blip r:embed="rId4"/>
          <a:stretch>
            <a:fillRect/>
          </a:stretch>
        </p:blipFill>
        <p:spPr>
          <a:xfrm>
            <a:off x="4859579" y="1768454"/>
            <a:ext cx="3511523" cy="2928710"/>
          </a:xfrm>
          <a:prstGeom prst="rect">
            <a:avLst/>
          </a:prstGeom>
        </p:spPr>
      </p:pic>
      <p:sp>
        <p:nvSpPr>
          <p:cNvPr id="9" name="Action Button: Return 8">
            <a:hlinkClick r:id="rId5" action="ppaction://hlinksldjump" highlightClick="1">
              <a:snd r:embed="rId6" name="whoosh.wav"/>
            </a:hlinkClick>
            <a:extLst>
              <a:ext uri="{FF2B5EF4-FFF2-40B4-BE49-F238E27FC236}">
                <a16:creationId xmlns:a16="http://schemas.microsoft.com/office/drawing/2014/main" id="{48FCA545-CC52-3102-DF3C-FA69C51AC363}"/>
              </a:ext>
            </a:extLst>
          </p:cNvPr>
          <p:cNvSpPr/>
          <p:nvPr/>
        </p:nvSpPr>
        <p:spPr>
          <a:xfrm>
            <a:off x="8766259" y="4459162"/>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hape 2">
            <a:extLst>
              <a:ext uri="{FF2B5EF4-FFF2-40B4-BE49-F238E27FC236}">
                <a16:creationId xmlns:a16="http://schemas.microsoft.com/office/drawing/2014/main" id="{D87360FC-B88B-A065-2215-7E6F44C85202}"/>
              </a:ext>
            </a:extLst>
          </p:cNvPr>
          <p:cNvSpPr/>
          <p:nvPr/>
        </p:nvSpPr>
        <p:spPr>
          <a:xfrm>
            <a:off x="320040" y="841248"/>
            <a:ext cx="8503920" cy="8686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3">
            <a:extLst>
              <a:ext uri="{FF2B5EF4-FFF2-40B4-BE49-F238E27FC236}">
                <a16:creationId xmlns:a16="http://schemas.microsoft.com/office/drawing/2014/main" id="{1CBC862F-27B7-1AC3-E179-F90DAFA3BF81}"/>
              </a:ext>
            </a:extLst>
          </p:cNvPr>
          <p:cNvSpPr/>
          <p:nvPr/>
        </p:nvSpPr>
        <p:spPr>
          <a:xfrm>
            <a:off x="502920" y="886968"/>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DATASET: Dataset_MRI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4">
            <a:extLst>
              <a:ext uri="{FF2B5EF4-FFF2-40B4-BE49-F238E27FC236}">
                <a16:creationId xmlns:a16="http://schemas.microsoft.com/office/drawing/2014/main" id="{6E58368B-04D7-BD9F-E8BC-8C5EF3680D28}"/>
              </a:ext>
            </a:extLst>
          </p:cNvPr>
          <p:cNvSpPr/>
          <p:nvPr/>
        </p:nvSpPr>
        <p:spPr>
          <a:xfrm>
            <a:off x="502920" y="114300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Well-balanced class distribution across all 4 categories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5">
            <a:extLst>
              <a:ext uri="{FF2B5EF4-FFF2-40B4-BE49-F238E27FC236}">
                <a16:creationId xmlns:a16="http://schemas.microsoft.com/office/drawing/2014/main" id="{BA910F8F-FEE5-887A-18F2-074B0D9C34F5}"/>
              </a:ext>
            </a:extLst>
          </p:cNvPr>
          <p:cNvSpPr/>
          <p:nvPr/>
        </p:nvSpPr>
        <p:spPr>
          <a:xfrm>
            <a:off x="502920" y="132588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Variable image sizes → all resized to 128 × 128 for consistency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6">
            <a:extLst>
              <a:ext uri="{FF2B5EF4-FFF2-40B4-BE49-F238E27FC236}">
                <a16:creationId xmlns:a16="http://schemas.microsoft.com/office/drawing/2014/main" id="{A137784C-121D-35E5-AD49-35EF2F0CB528}"/>
              </a:ext>
            </a:extLst>
          </p:cNvPr>
          <p:cNvSpPr/>
          <p:nvPr/>
        </p:nvSpPr>
        <p:spPr>
          <a:xfrm>
            <a:off x="502920" y="1508760"/>
            <a:ext cx="82296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Mixed colour modes (grayscale &amp; RGB) → converted to RGB then grayscale for feature extraction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8427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solidFill>
          <a:srgbClr val="112240"/>
        </a:solidFill>
        <a:effectLst/>
      </p:bgPr>
    </p:bg>
    <p:spTree>
      <p:nvGrpSpPr>
        <p:cNvPr id="1" name=""/>
        <p:cNvGrpSpPr/>
        <p:nvPr/>
      </p:nvGrpSpPr>
      <p:grpSpPr>
        <a:xfrm>
          <a:off x="0" y="0"/>
          <a:ext cx="0" cy="0"/>
          <a:chOff x="0" y="0"/>
          <a:chExt cx="0" cy="0"/>
        </a:xfrm>
      </p:grpSpPr>
      <p:sp>
        <p:nvSpPr>
          <p:cNvPr id="4" name="Shape 2"/>
          <p:cNvSpPr/>
          <p:nvPr/>
        </p:nvSpPr>
        <p:spPr>
          <a:xfrm>
            <a:off x="369210" y="1611242"/>
            <a:ext cx="4160520" cy="3194221"/>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369210" y="1611242"/>
            <a:ext cx="45720" cy="3194221"/>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552090" y="1656962"/>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HOG — Histogram of Oriented Gradients</a:t>
            </a:r>
            <a:endParaRPr lang="en-US" sz="1000" dirty="0"/>
          </a:p>
        </p:txBody>
      </p:sp>
      <p:sp>
        <p:nvSpPr>
          <p:cNvPr id="7" name="Text 5"/>
          <p:cNvSpPr/>
          <p:nvPr/>
        </p:nvSpPr>
        <p:spPr>
          <a:xfrm>
            <a:off x="552090" y="1931282"/>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Captures edge and shape information</a:t>
            </a:r>
            <a:endParaRPr lang="en-US" sz="1250" dirty="0"/>
          </a:p>
        </p:txBody>
      </p:sp>
      <p:sp>
        <p:nvSpPr>
          <p:cNvPr id="8" name="Text 6"/>
          <p:cNvSpPr/>
          <p:nvPr/>
        </p:nvSpPr>
        <p:spPr>
          <a:xfrm>
            <a:off x="552090" y="2361050"/>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Divides image into 8×8 pixel cells</a:t>
            </a:r>
            <a:endParaRPr lang="en-US" sz="1250" dirty="0"/>
          </a:p>
        </p:txBody>
      </p:sp>
      <p:sp>
        <p:nvSpPr>
          <p:cNvPr id="9" name="Text 7"/>
          <p:cNvSpPr/>
          <p:nvPr/>
        </p:nvSpPr>
        <p:spPr>
          <a:xfrm>
            <a:off x="552090" y="2790818"/>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Computes gradient histograms per cell</a:t>
            </a:r>
            <a:endParaRPr lang="en-US" sz="1250" dirty="0"/>
          </a:p>
        </p:txBody>
      </p:sp>
      <p:sp>
        <p:nvSpPr>
          <p:cNvPr id="10" name="Text 8"/>
          <p:cNvSpPr/>
          <p:nvPr/>
        </p:nvSpPr>
        <p:spPr>
          <a:xfrm>
            <a:off x="552090" y="3220586"/>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9 orientation bins per histogram</a:t>
            </a:r>
            <a:endParaRPr lang="en-US" sz="1250" dirty="0"/>
          </a:p>
        </p:txBody>
      </p:sp>
      <p:sp>
        <p:nvSpPr>
          <p:cNvPr id="11" name="Text 9"/>
          <p:cNvSpPr/>
          <p:nvPr/>
        </p:nvSpPr>
        <p:spPr>
          <a:xfrm>
            <a:off x="552090" y="3650354"/>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Excellent for detecting structural patterns in MRI</a:t>
            </a:r>
            <a:endParaRPr lang="en-US" sz="1250" dirty="0"/>
          </a:p>
        </p:txBody>
      </p:sp>
      <p:sp>
        <p:nvSpPr>
          <p:cNvPr id="12" name="Shape 10"/>
          <p:cNvSpPr/>
          <p:nvPr/>
        </p:nvSpPr>
        <p:spPr>
          <a:xfrm>
            <a:off x="552090" y="4080122"/>
            <a:ext cx="3749040" cy="658368"/>
          </a:xfrm>
          <a:prstGeom prst="rect">
            <a:avLst/>
          </a:prstGeom>
          <a:solidFill>
            <a:srgbClr val="1E3A5F"/>
          </a:solidFill>
          <a:ln w="12700">
            <a:solidFill>
              <a:srgbClr val="00C6BE"/>
            </a:solidFill>
            <a:prstDash val="solid"/>
          </a:ln>
        </p:spPr>
        <p:txBody>
          <a:bodyPr/>
          <a:lstStyle/>
          <a:p>
            <a:endParaRPr lang="en-GB"/>
          </a:p>
        </p:txBody>
      </p:sp>
      <p:sp>
        <p:nvSpPr>
          <p:cNvPr id="13" name="Text 11"/>
          <p:cNvSpPr/>
          <p:nvPr/>
        </p:nvSpPr>
        <p:spPr>
          <a:xfrm>
            <a:off x="552090" y="4080122"/>
            <a:ext cx="3749040" cy="658368"/>
          </a:xfrm>
          <a:prstGeom prst="rect">
            <a:avLst/>
          </a:prstGeom>
          <a:noFill/>
          <a:ln/>
        </p:spPr>
        <p:txBody>
          <a:bodyPr wrap="square" rtlCol="0" anchor="ctr"/>
          <a:lstStyle/>
          <a:p>
            <a:pPr marL="0" indent="0" algn="ctr">
              <a:buNone/>
            </a:pPr>
            <a:r>
              <a:rPr lang="en-US" sz="1300" b="1" dirty="0">
                <a:solidFill>
                  <a:srgbClr val="00C6BE"/>
                </a:solidFill>
                <a:latin typeface="Calibri" pitchFamily="34" charset="0"/>
                <a:ea typeface="Calibri" pitchFamily="34" charset="-122"/>
                <a:cs typeface="Calibri" pitchFamily="34" charset="-120"/>
              </a:rPr>
              <a:t>SHAPE &amp; EDGE DETECTOR</a:t>
            </a:r>
            <a:endParaRPr lang="en-US" sz="1300" dirty="0"/>
          </a:p>
        </p:txBody>
      </p:sp>
      <p:sp>
        <p:nvSpPr>
          <p:cNvPr id="14" name="Shape 12"/>
          <p:cNvSpPr/>
          <p:nvPr/>
        </p:nvSpPr>
        <p:spPr>
          <a:xfrm>
            <a:off x="4712610" y="1611242"/>
            <a:ext cx="4160520" cy="3194221"/>
          </a:xfrm>
          <a:prstGeom prst="rect">
            <a:avLst/>
          </a:prstGeom>
          <a:solidFill>
            <a:srgbClr val="1E3A5F"/>
          </a:solidFill>
          <a:ln w="12700">
            <a:solidFill>
              <a:srgbClr val="00C6BE"/>
            </a:solidFill>
            <a:prstDash val="solid"/>
          </a:ln>
        </p:spPr>
        <p:txBody>
          <a:bodyPr/>
          <a:lstStyle/>
          <a:p>
            <a:endParaRPr lang="en-GB"/>
          </a:p>
        </p:txBody>
      </p:sp>
      <p:sp>
        <p:nvSpPr>
          <p:cNvPr id="15" name="Shape 13"/>
          <p:cNvSpPr/>
          <p:nvPr/>
        </p:nvSpPr>
        <p:spPr>
          <a:xfrm>
            <a:off x="4712610" y="1611242"/>
            <a:ext cx="54864" cy="3194221"/>
          </a:xfrm>
          <a:prstGeom prst="rect">
            <a:avLst/>
          </a:prstGeom>
          <a:solidFill>
            <a:srgbClr val="00C6BE"/>
          </a:solidFill>
          <a:ln w="12700">
            <a:solidFill>
              <a:srgbClr val="00C6BE"/>
            </a:solidFill>
            <a:prstDash val="solid"/>
          </a:ln>
        </p:spPr>
        <p:txBody>
          <a:bodyPr/>
          <a:lstStyle/>
          <a:p>
            <a:endParaRPr lang="en-GB"/>
          </a:p>
        </p:txBody>
      </p:sp>
      <p:sp>
        <p:nvSpPr>
          <p:cNvPr id="16" name="Text 14"/>
          <p:cNvSpPr/>
          <p:nvPr/>
        </p:nvSpPr>
        <p:spPr>
          <a:xfrm>
            <a:off x="4895490" y="1656962"/>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GLCM — Gray Level Co-occurrence Matrix</a:t>
            </a:r>
            <a:endParaRPr lang="en-US" sz="1000" dirty="0"/>
          </a:p>
        </p:txBody>
      </p:sp>
      <p:sp>
        <p:nvSpPr>
          <p:cNvPr id="17" name="Text 15"/>
          <p:cNvSpPr/>
          <p:nvPr/>
        </p:nvSpPr>
        <p:spPr>
          <a:xfrm>
            <a:off x="4895490" y="1931282"/>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Measures spatial relationships of pixel intensities</a:t>
            </a:r>
            <a:endParaRPr lang="en-US" sz="1250" dirty="0"/>
          </a:p>
        </p:txBody>
      </p:sp>
      <p:sp>
        <p:nvSpPr>
          <p:cNvPr id="18" name="Text 16"/>
          <p:cNvSpPr/>
          <p:nvPr/>
        </p:nvSpPr>
        <p:spPr>
          <a:xfrm>
            <a:off x="4895490" y="2361050"/>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Captures fine-grained texture patterns</a:t>
            </a:r>
            <a:endParaRPr lang="en-US" sz="1250" dirty="0"/>
          </a:p>
        </p:txBody>
      </p:sp>
      <p:sp>
        <p:nvSpPr>
          <p:cNvPr id="19" name="Text 17"/>
          <p:cNvSpPr/>
          <p:nvPr/>
        </p:nvSpPr>
        <p:spPr>
          <a:xfrm>
            <a:off x="4895490" y="2790818"/>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Features: contrast, dissimilarity, homogeneity</a:t>
            </a:r>
            <a:endParaRPr lang="en-US" sz="1250" dirty="0"/>
          </a:p>
        </p:txBody>
      </p:sp>
      <p:sp>
        <p:nvSpPr>
          <p:cNvPr id="20" name="Text 18"/>
          <p:cNvSpPr/>
          <p:nvPr/>
        </p:nvSpPr>
        <p:spPr>
          <a:xfrm>
            <a:off x="4895490" y="3220586"/>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Additional: energy, angular second moment (ASM)</a:t>
            </a:r>
            <a:endParaRPr lang="en-US" sz="1250" dirty="0"/>
          </a:p>
        </p:txBody>
      </p:sp>
      <p:sp>
        <p:nvSpPr>
          <p:cNvPr id="21" name="Text 19"/>
          <p:cNvSpPr/>
          <p:nvPr/>
        </p:nvSpPr>
        <p:spPr>
          <a:xfrm>
            <a:off x="4895490" y="3650354"/>
            <a:ext cx="3840480" cy="384048"/>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 Complements HOG with texture-level information</a:t>
            </a:r>
            <a:endParaRPr lang="en-US" sz="1250" dirty="0"/>
          </a:p>
        </p:txBody>
      </p:sp>
      <p:sp>
        <p:nvSpPr>
          <p:cNvPr id="22" name="Shape 20"/>
          <p:cNvSpPr/>
          <p:nvPr/>
        </p:nvSpPr>
        <p:spPr>
          <a:xfrm>
            <a:off x="4895490" y="4080122"/>
            <a:ext cx="3749040" cy="658368"/>
          </a:xfrm>
          <a:prstGeom prst="rect">
            <a:avLst/>
          </a:prstGeom>
          <a:solidFill>
            <a:srgbClr val="1E3A5F"/>
          </a:solidFill>
          <a:ln w="12700">
            <a:solidFill>
              <a:srgbClr val="00C6BE"/>
            </a:solidFill>
            <a:prstDash val="solid"/>
          </a:ln>
        </p:spPr>
        <p:txBody>
          <a:bodyPr/>
          <a:lstStyle/>
          <a:p>
            <a:endParaRPr lang="en-GB"/>
          </a:p>
        </p:txBody>
      </p:sp>
      <p:sp>
        <p:nvSpPr>
          <p:cNvPr id="23" name="Text 21"/>
          <p:cNvSpPr/>
          <p:nvPr/>
        </p:nvSpPr>
        <p:spPr>
          <a:xfrm>
            <a:off x="4895490" y="4080122"/>
            <a:ext cx="3749040" cy="658368"/>
          </a:xfrm>
          <a:prstGeom prst="rect">
            <a:avLst/>
          </a:prstGeom>
          <a:noFill/>
          <a:ln/>
        </p:spPr>
        <p:txBody>
          <a:bodyPr wrap="square" rtlCol="0" anchor="ctr"/>
          <a:lstStyle/>
          <a:p>
            <a:pPr marL="0" indent="0" algn="ctr">
              <a:buNone/>
            </a:pPr>
            <a:r>
              <a:rPr lang="en-US" sz="1300" b="1" dirty="0">
                <a:solidFill>
                  <a:srgbClr val="00C6BE"/>
                </a:solidFill>
                <a:latin typeface="Calibri" pitchFamily="34" charset="0"/>
                <a:ea typeface="Calibri" pitchFamily="34" charset="-122"/>
                <a:cs typeface="Calibri" pitchFamily="34" charset="-120"/>
              </a:rPr>
              <a:t>TEXTURE DETECTOR</a:t>
            </a:r>
            <a:endParaRPr lang="en-US" sz="1300" dirty="0"/>
          </a:p>
        </p:txBody>
      </p:sp>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Part 1 · Feature Extraction — HOG &amp; GLCM</a:t>
            </a:r>
            <a:endParaRPr lang="en-US" sz="2700" dirty="0"/>
          </a:p>
        </p:txBody>
      </p:sp>
      <p:sp>
        <p:nvSpPr>
          <p:cNvPr id="72" name="Text 7">
            <a:extLst>
              <a:ext uri="{FF2B5EF4-FFF2-40B4-BE49-F238E27FC236}">
                <a16:creationId xmlns:a16="http://schemas.microsoft.com/office/drawing/2014/main" id="{2710AC6B-AE69-4F84-A02A-770273412426}"/>
              </a:ext>
            </a:extLst>
          </p:cNvPr>
          <p:cNvSpPr/>
          <p:nvPr/>
        </p:nvSpPr>
        <p:spPr>
          <a:xfrm>
            <a:off x="320040" y="624053"/>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PREPROCESSING PIPELINE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Shape 8">
            <a:extLst>
              <a:ext uri="{FF2B5EF4-FFF2-40B4-BE49-F238E27FC236}">
                <a16:creationId xmlns:a16="http://schemas.microsoft.com/office/drawing/2014/main" id="{CDB354FF-B41C-824C-7BC4-8AB3E5BE4FD1}"/>
              </a:ext>
            </a:extLst>
          </p:cNvPr>
          <p:cNvSpPr/>
          <p:nvPr/>
        </p:nvSpPr>
        <p:spPr>
          <a:xfrm>
            <a:off x="32004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Text 9">
            <a:extLst>
              <a:ext uri="{FF2B5EF4-FFF2-40B4-BE49-F238E27FC236}">
                <a16:creationId xmlns:a16="http://schemas.microsoft.com/office/drawing/2014/main" id="{7D704FCB-AE87-A424-A665-46A240BEA09F}"/>
              </a:ext>
            </a:extLst>
          </p:cNvPr>
          <p:cNvSpPr/>
          <p:nvPr/>
        </p:nvSpPr>
        <p:spPr>
          <a:xfrm>
            <a:off x="32004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Text 10">
            <a:extLst>
              <a:ext uri="{FF2B5EF4-FFF2-40B4-BE49-F238E27FC236}">
                <a16:creationId xmlns:a16="http://schemas.microsoft.com/office/drawing/2014/main" id="{5BDAF2E8-91D4-8D13-0D61-EF99353942D5}"/>
              </a:ext>
            </a:extLst>
          </p:cNvPr>
          <p:cNvSpPr/>
          <p:nvPr/>
        </p:nvSpPr>
        <p:spPr>
          <a:xfrm>
            <a:off x="39319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Load Images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Shape 11">
            <a:extLst>
              <a:ext uri="{FF2B5EF4-FFF2-40B4-BE49-F238E27FC236}">
                <a16:creationId xmlns:a16="http://schemas.microsoft.com/office/drawing/2014/main" id="{8BB95820-AE1B-5D5F-0F2F-68DCCE552EA4}"/>
              </a:ext>
            </a:extLst>
          </p:cNvPr>
          <p:cNvSpPr/>
          <p:nvPr/>
        </p:nvSpPr>
        <p:spPr>
          <a:xfrm>
            <a:off x="173736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12">
            <a:extLst>
              <a:ext uri="{FF2B5EF4-FFF2-40B4-BE49-F238E27FC236}">
                <a16:creationId xmlns:a16="http://schemas.microsoft.com/office/drawing/2014/main" id="{49A3B515-1476-AEA3-BCCE-27418136250B}"/>
              </a:ext>
            </a:extLst>
          </p:cNvPr>
          <p:cNvSpPr/>
          <p:nvPr/>
        </p:nvSpPr>
        <p:spPr>
          <a:xfrm>
            <a:off x="178308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Text 13">
            <a:extLst>
              <a:ext uri="{FF2B5EF4-FFF2-40B4-BE49-F238E27FC236}">
                <a16:creationId xmlns:a16="http://schemas.microsoft.com/office/drawing/2014/main" id="{6154BB5A-61A8-F1B7-FCDA-FBFDD576FCBE}"/>
              </a:ext>
            </a:extLst>
          </p:cNvPr>
          <p:cNvSpPr/>
          <p:nvPr/>
        </p:nvSpPr>
        <p:spPr>
          <a:xfrm>
            <a:off x="178308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Text 14">
            <a:extLst>
              <a:ext uri="{FF2B5EF4-FFF2-40B4-BE49-F238E27FC236}">
                <a16:creationId xmlns:a16="http://schemas.microsoft.com/office/drawing/2014/main" id="{7D0915D3-4AFD-467A-A8A8-6EE95A9E232A}"/>
              </a:ext>
            </a:extLst>
          </p:cNvPr>
          <p:cNvSpPr/>
          <p:nvPr/>
        </p:nvSpPr>
        <p:spPr>
          <a:xfrm>
            <a:off x="185623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RGB → Grayscale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Shape 15">
            <a:extLst>
              <a:ext uri="{FF2B5EF4-FFF2-40B4-BE49-F238E27FC236}">
                <a16:creationId xmlns:a16="http://schemas.microsoft.com/office/drawing/2014/main" id="{3074E684-1F51-0365-1070-1C6A8B66A26D}"/>
              </a:ext>
            </a:extLst>
          </p:cNvPr>
          <p:cNvSpPr/>
          <p:nvPr/>
        </p:nvSpPr>
        <p:spPr>
          <a:xfrm>
            <a:off x="320040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16">
            <a:extLst>
              <a:ext uri="{FF2B5EF4-FFF2-40B4-BE49-F238E27FC236}">
                <a16:creationId xmlns:a16="http://schemas.microsoft.com/office/drawing/2014/main" id="{EBB45E85-3E3A-A1A5-D141-434055E03937}"/>
              </a:ext>
            </a:extLst>
          </p:cNvPr>
          <p:cNvSpPr/>
          <p:nvPr/>
        </p:nvSpPr>
        <p:spPr>
          <a:xfrm>
            <a:off x="324612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Text 17">
            <a:extLst>
              <a:ext uri="{FF2B5EF4-FFF2-40B4-BE49-F238E27FC236}">
                <a16:creationId xmlns:a16="http://schemas.microsoft.com/office/drawing/2014/main" id="{66D97DE4-774A-DCE7-C22C-49BBA71F2398}"/>
              </a:ext>
            </a:extLst>
          </p:cNvPr>
          <p:cNvSpPr/>
          <p:nvPr/>
        </p:nvSpPr>
        <p:spPr>
          <a:xfrm>
            <a:off x="324612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Text 18">
            <a:extLst>
              <a:ext uri="{FF2B5EF4-FFF2-40B4-BE49-F238E27FC236}">
                <a16:creationId xmlns:a16="http://schemas.microsoft.com/office/drawing/2014/main" id="{C2B63241-ACF0-F262-5DFF-8B4B96F97905}"/>
              </a:ext>
            </a:extLst>
          </p:cNvPr>
          <p:cNvSpPr/>
          <p:nvPr/>
        </p:nvSpPr>
        <p:spPr>
          <a:xfrm>
            <a:off x="331927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Resize 128×128</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Shape 19">
            <a:extLst>
              <a:ext uri="{FF2B5EF4-FFF2-40B4-BE49-F238E27FC236}">
                <a16:creationId xmlns:a16="http://schemas.microsoft.com/office/drawing/2014/main" id="{502EF475-26C5-143D-38B7-FDDDE654A87E}"/>
              </a:ext>
            </a:extLst>
          </p:cNvPr>
          <p:cNvSpPr/>
          <p:nvPr/>
        </p:nvSpPr>
        <p:spPr>
          <a:xfrm>
            <a:off x="466344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20">
            <a:extLst>
              <a:ext uri="{FF2B5EF4-FFF2-40B4-BE49-F238E27FC236}">
                <a16:creationId xmlns:a16="http://schemas.microsoft.com/office/drawing/2014/main" id="{C586BF7E-8F82-23D5-7D78-C71FEA7935D4}"/>
              </a:ext>
            </a:extLst>
          </p:cNvPr>
          <p:cNvSpPr/>
          <p:nvPr/>
        </p:nvSpPr>
        <p:spPr>
          <a:xfrm>
            <a:off x="470916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Text 21">
            <a:extLst>
              <a:ext uri="{FF2B5EF4-FFF2-40B4-BE49-F238E27FC236}">
                <a16:creationId xmlns:a16="http://schemas.microsoft.com/office/drawing/2014/main" id="{ECC0B5DE-5BFE-7C29-0DFC-EAA9B7DBD449}"/>
              </a:ext>
            </a:extLst>
          </p:cNvPr>
          <p:cNvSpPr/>
          <p:nvPr/>
        </p:nvSpPr>
        <p:spPr>
          <a:xfrm>
            <a:off x="470916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7" name="Text 22">
            <a:extLst>
              <a:ext uri="{FF2B5EF4-FFF2-40B4-BE49-F238E27FC236}">
                <a16:creationId xmlns:a16="http://schemas.microsoft.com/office/drawing/2014/main" id="{737BD14E-D706-FA72-0509-EF07B71E52A1}"/>
              </a:ext>
            </a:extLst>
          </p:cNvPr>
          <p:cNvSpPr/>
          <p:nvPr/>
        </p:nvSpPr>
        <p:spPr>
          <a:xfrm>
            <a:off x="478231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Normalize [0,1]</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8" name="Shape 23">
            <a:extLst>
              <a:ext uri="{FF2B5EF4-FFF2-40B4-BE49-F238E27FC236}">
                <a16:creationId xmlns:a16="http://schemas.microsoft.com/office/drawing/2014/main" id="{AC814145-12C2-73F3-86BE-622A68FE1CCA}"/>
              </a:ext>
            </a:extLst>
          </p:cNvPr>
          <p:cNvSpPr/>
          <p:nvPr/>
        </p:nvSpPr>
        <p:spPr>
          <a:xfrm>
            <a:off x="612648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24">
            <a:extLst>
              <a:ext uri="{FF2B5EF4-FFF2-40B4-BE49-F238E27FC236}">
                <a16:creationId xmlns:a16="http://schemas.microsoft.com/office/drawing/2014/main" id="{4E998B9E-CC89-F5CE-EEAB-54EA6832E57A}"/>
              </a:ext>
            </a:extLst>
          </p:cNvPr>
          <p:cNvSpPr/>
          <p:nvPr/>
        </p:nvSpPr>
        <p:spPr>
          <a:xfrm>
            <a:off x="6172200" y="898373"/>
            <a:ext cx="1417320" cy="640080"/>
          </a:xfrm>
          <a:prstGeom prst="rect">
            <a:avLst/>
          </a:prstGeom>
          <a:solidFill>
            <a:srgbClr val="00B0F0"/>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Text 25">
            <a:extLst>
              <a:ext uri="{FF2B5EF4-FFF2-40B4-BE49-F238E27FC236}">
                <a16:creationId xmlns:a16="http://schemas.microsoft.com/office/drawing/2014/main" id="{20621110-FB06-4099-50A2-70E1CCB98447}"/>
              </a:ext>
            </a:extLst>
          </p:cNvPr>
          <p:cNvSpPr/>
          <p:nvPr/>
        </p:nvSpPr>
        <p:spPr>
          <a:xfrm>
            <a:off x="617220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5</a:t>
            </a:r>
            <a:endParaRPr kumimoji="0" lang="en-US" sz="10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91" name="Text 26">
            <a:extLst>
              <a:ext uri="{FF2B5EF4-FFF2-40B4-BE49-F238E27FC236}">
                <a16:creationId xmlns:a16="http://schemas.microsoft.com/office/drawing/2014/main" id="{C2D468F1-890C-0099-DEDF-0D43D70999A0}"/>
              </a:ext>
            </a:extLst>
          </p:cNvPr>
          <p:cNvSpPr/>
          <p:nvPr/>
        </p:nvSpPr>
        <p:spPr>
          <a:xfrm>
            <a:off x="624535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HOG + GLCM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Features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Shape 27">
            <a:extLst>
              <a:ext uri="{FF2B5EF4-FFF2-40B4-BE49-F238E27FC236}">
                <a16:creationId xmlns:a16="http://schemas.microsoft.com/office/drawing/2014/main" id="{0DABF555-0A75-1690-5EA2-9650265EE781}"/>
              </a:ext>
            </a:extLst>
          </p:cNvPr>
          <p:cNvSpPr/>
          <p:nvPr/>
        </p:nvSpPr>
        <p:spPr>
          <a:xfrm>
            <a:off x="758952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Shape 28">
            <a:extLst>
              <a:ext uri="{FF2B5EF4-FFF2-40B4-BE49-F238E27FC236}">
                <a16:creationId xmlns:a16="http://schemas.microsoft.com/office/drawing/2014/main" id="{4E1B6D6B-A3EF-7A4A-5735-7074BE377037}"/>
              </a:ext>
            </a:extLst>
          </p:cNvPr>
          <p:cNvSpPr/>
          <p:nvPr/>
        </p:nvSpPr>
        <p:spPr>
          <a:xfrm>
            <a:off x="763524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Text 29">
            <a:extLst>
              <a:ext uri="{FF2B5EF4-FFF2-40B4-BE49-F238E27FC236}">
                <a16:creationId xmlns:a16="http://schemas.microsoft.com/office/drawing/2014/main" id="{9E70E06B-5AA2-09D0-63E3-9D6BB0E57DA9}"/>
              </a:ext>
            </a:extLst>
          </p:cNvPr>
          <p:cNvSpPr/>
          <p:nvPr/>
        </p:nvSpPr>
        <p:spPr>
          <a:xfrm>
            <a:off x="763524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Text 30">
            <a:extLst>
              <a:ext uri="{FF2B5EF4-FFF2-40B4-BE49-F238E27FC236}">
                <a16:creationId xmlns:a16="http://schemas.microsoft.com/office/drawing/2014/main" id="{2348ADD6-F535-3DD3-4FA9-3A98EA401AC4}"/>
              </a:ext>
            </a:extLst>
          </p:cNvPr>
          <p:cNvSpPr/>
          <p:nvPr/>
        </p:nvSpPr>
        <p:spPr>
          <a:xfrm>
            <a:off x="770839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StandardScaler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PCA</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8F10822C-ED37-3F5D-F78A-09D231C5A6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56909B4-C235-F2FE-8329-086B2330610D}"/>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2ABA1C56-DF0A-A0C8-284C-552F867FB009}"/>
              </a:ext>
            </a:extLst>
          </p:cNvPr>
          <p:cNvSpPr/>
          <p:nvPr/>
        </p:nvSpPr>
        <p:spPr>
          <a:xfrm>
            <a:off x="457200" y="164592"/>
            <a:ext cx="8229600" cy="530352"/>
          </a:xfrm>
          <a:prstGeom prst="rect">
            <a:avLst/>
          </a:prstGeom>
          <a:noFill/>
          <a:ln/>
        </p:spPr>
        <p:txBody>
          <a:bodyPr wrap="square" lIns="0" tIns="0" rIns="0" bIns="0" rtlCol="0" anchor="ctr"/>
          <a:lstStyle/>
          <a:p>
            <a:pPr lvl="0"/>
            <a:r>
              <a:rPr lang="en-US" sz="2700" b="1" dirty="0">
                <a:solidFill>
                  <a:srgbClr val="FFFFFF"/>
                </a:solidFill>
                <a:latin typeface="Trebuchet MS" pitchFamily="34" charset="0"/>
                <a:ea typeface="Trebuchet MS" pitchFamily="34" charset="-122"/>
                <a:cs typeface="Trebuchet MS" pitchFamily="34" charset="-120"/>
              </a:rPr>
              <a:t>Part 1 ·</a:t>
            </a: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 Dataset &amp; Preprocessing Pipeline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5EE1BC30-745C-ECDF-3558-D804E3B8EC9A}"/>
              </a:ext>
            </a:extLst>
          </p:cNvPr>
          <p:cNvSpPr/>
          <p:nvPr/>
        </p:nvSpPr>
        <p:spPr>
          <a:xfrm>
            <a:off x="320040" y="624053"/>
            <a:ext cx="4572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PREPROCESSING PIPELINE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27094D48-94B7-9C89-69E4-7466762B1AF2}"/>
              </a:ext>
            </a:extLst>
          </p:cNvPr>
          <p:cNvSpPr/>
          <p:nvPr/>
        </p:nvSpPr>
        <p:spPr>
          <a:xfrm>
            <a:off x="32004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D1A99957-7A9D-C228-0B7F-1FDB02288B3C}"/>
              </a:ext>
            </a:extLst>
          </p:cNvPr>
          <p:cNvSpPr/>
          <p:nvPr/>
        </p:nvSpPr>
        <p:spPr>
          <a:xfrm>
            <a:off x="32004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F8D80754-D5A5-13B5-67EE-EDC3FE1C2DC5}"/>
              </a:ext>
            </a:extLst>
          </p:cNvPr>
          <p:cNvSpPr/>
          <p:nvPr/>
        </p:nvSpPr>
        <p:spPr>
          <a:xfrm>
            <a:off x="39319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Load Images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301860DF-6F90-E1D1-53D7-7AF9E0161BAF}"/>
              </a:ext>
            </a:extLst>
          </p:cNvPr>
          <p:cNvSpPr/>
          <p:nvPr/>
        </p:nvSpPr>
        <p:spPr>
          <a:xfrm>
            <a:off x="173736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217FA044-C4F6-B98A-69D2-E99D55F34E62}"/>
              </a:ext>
            </a:extLst>
          </p:cNvPr>
          <p:cNvSpPr/>
          <p:nvPr/>
        </p:nvSpPr>
        <p:spPr>
          <a:xfrm>
            <a:off x="178308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3D245635-E087-28F2-CE1B-0F353EAC27D8}"/>
              </a:ext>
            </a:extLst>
          </p:cNvPr>
          <p:cNvSpPr/>
          <p:nvPr/>
        </p:nvSpPr>
        <p:spPr>
          <a:xfrm>
            <a:off x="178308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40DA7DE9-3FDE-1B9F-EB09-D14AECA5FED5}"/>
              </a:ext>
            </a:extLst>
          </p:cNvPr>
          <p:cNvSpPr/>
          <p:nvPr/>
        </p:nvSpPr>
        <p:spPr>
          <a:xfrm>
            <a:off x="185623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RGB → Grayscale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DFF4AD06-8CDB-8B50-44A2-B028CC2B32FB}"/>
              </a:ext>
            </a:extLst>
          </p:cNvPr>
          <p:cNvSpPr/>
          <p:nvPr/>
        </p:nvSpPr>
        <p:spPr>
          <a:xfrm>
            <a:off x="320040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0557B00E-D62B-33FF-3E31-8C69D2F8A431}"/>
              </a:ext>
            </a:extLst>
          </p:cNvPr>
          <p:cNvSpPr/>
          <p:nvPr/>
        </p:nvSpPr>
        <p:spPr>
          <a:xfrm>
            <a:off x="324612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a:extLst>
              <a:ext uri="{FF2B5EF4-FFF2-40B4-BE49-F238E27FC236}">
                <a16:creationId xmlns:a16="http://schemas.microsoft.com/office/drawing/2014/main" id="{EEE2062D-6CBB-F5D6-5501-70FADF41910E}"/>
              </a:ext>
            </a:extLst>
          </p:cNvPr>
          <p:cNvSpPr/>
          <p:nvPr/>
        </p:nvSpPr>
        <p:spPr>
          <a:xfrm>
            <a:off x="324612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9C5AF38E-F356-1520-1C75-25BD25B37465}"/>
              </a:ext>
            </a:extLst>
          </p:cNvPr>
          <p:cNvSpPr/>
          <p:nvPr/>
        </p:nvSpPr>
        <p:spPr>
          <a:xfrm>
            <a:off x="331927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Resize 128×128</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E01FABB1-F5CF-DC08-0B20-0EC8F3B18871}"/>
              </a:ext>
            </a:extLst>
          </p:cNvPr>
          <p:cNvSpPr/>
          <p:nvPr/>
        </p:nvSpPr>
        <p:spPr>
          <a:xfrm>
            <a:off x="466344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DB263B59-568B-BC8F-B98A-4BE344669BFC}"/>
              </a:ext>
            </a:extLst>
          </p:cNvPr>
          <p:cNvSpPr/>
          <p:nvPr/>
        </p:nvSpPr>
        <p:spPr>
          <a:xfrm>
            <a:off x="470916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a:extLst>
              <a:ext uri="{FF2B5EF4-FFF2-40B4-BE49-F238E27FC236}">
                <a16:creationId xmlns:a16="http://schemas.microsoft.com/office/drawing/2014/main" id="{3FDD51A8-1252-D476-608E-B0ED15844827}"/>
              </a:ext>
            </a:extLst>
          </p:cNvPr>
          <p:cNvSpPr/>
          <p:nvPr/>
        </p:nvSpPr>
        <p:spPr>
          <a:xfrm>
            <a:off x="470916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a:extLst>
              <a:ext uri="{FF2B5EF4-FFF2-40B4-BE49-F238E27FC236}">
                <a16:creationId xmlns:a16="http://schemas.microsoft.com/office/drawing/2014/main" id="{46795572-6A04-0673-EB6A-313F69752162}"/>
              </a:ext>
            </a:extLst>
          </p:cNvPr>
          <p:cNvSpPr/>
          <p:nvPr/>
        </p:nvSpPr>
        <p:spPr>
          <a:xfrm>
            <a:off x="478231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Normalize [0,1]</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EA774ECA-12B3-1B78-951F-637887E4DB35}"/>
              </a:ext>
            </a:extLst>
          </p:cNvPr>
          <p:cNvSpPr/>
          <p:nvPr/>
        </p:nvSpPr>
        <p:spPr>
          <a:xfrm>
            <a:off x="612648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4F03D7E1-0096-99B6-6452-C7C452A8FF65}"/>
              </a:ext>
            </a:extLst>
          </p:cNvPr>
          <p:cNvSpPr/>
          <p:nvPr/>
        </p:nvSpPr>
        <p:spPr>
          <a:xfrm>
            <a:off x="6172200" y="898373"/>
            <a:ext cx="1417320" cy="64008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8110B937-CB9C-93C5-5D62-650A15ED9AE2}"/>
              </a:ext>
            </a:extLst>
          </p:cNvPr>
          <p:cNvSpPr/>
          <p:nvPr/>
        </p:nvSpPr>
        <p:spPr>
          <a:xfrm>
            <a:off x="617220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a:extLst>
              <a:ext uri="{FF2B5EF4-FFF2-40B4-BE49-F238E27FC236}">
                <a16:creationId xmlns:a16="http://schemas.microsoft.com/office/drawing/2014/main" id="{5006F97D-CD43-0965-E38E-77AB93B5EAAE}"/>
              </a:ext>
            </a:extLst>
          </p:cNvPr>
          <p:cNvSpPr/>
          <p:nvPr/>
        </p:nvSpPr>
        <p:spPr>
          <a:xfrm>
            <a:off x="624535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HOG + GLCM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Features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AC105625-2748-D8C7-4541-A249BCE0AAA5}"/>
              </a:ext>
            </a:extLst>
          </p:cNvPr>
          <p:cNvSpPr/>
          <p:nvPr/>
        </p:nvSpPr>
        <p:spPr>
          <a:xfrm>
            <a:off x="7589520" y="1218413"/>
            <a:ext cx="45720" cy="0"/>
          </a:xfrm>
          <a:prstGeom prst="line">
            <a:avLst/>
          </a:prstGeom>
          <a:no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25086A65-A97A-D592-EE6A-DBF1F3C573F5}"/>
              </a:ext>
            </a:extLst>
          </p:cNvPr>
          <p:cNvSpPr/>
          <p:nvPr/>
        </p:nvSpPr>
        <p:spPr>
          <a:xfrm>
            <a:off x="7635240" y="898373"/>
            <a:ext cx="1417320" cy="640080"/>
          </a:xfrm>
          <a:prstGeom prst="rect">
            <a:avLst/>
          </a:prstGeom>
          <a:solidFill>
            <a:srgbClr val="00B0F0"/>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EC98BE1F-439D-A2BA-258D-8361BC30899D}"/>
              </a:ext>
            </a:extLst>
          </p:cNvPr>
          <p:cNvSpPr/>
          <p:nvPr/>
        </p:nvSpPr>
        <p:spPr>
          <a:xfrm>
            <a:off x="7635240" y="916661"/>
            <a:ext cx="256032"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6</a:t>
            </a:r>
            <a:endParaRPr kumimoji="0" lang="en-US" sz="10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32" name="Text 30">
            <a:extLst>
              <a:ext uri="{FF2B5EF4-FFF2-40B4-BE49-F238E27FC236}">
                <a16:creationId xmlns:a16="http://schemas.microsoft.com/office/drawing/2014/main" id="{8FE68FAD-BCEF-99F0-C6AE-775AE3C47DFD}"/>
              </a:ext>
            </a:extLst>
          </p:cNvPr>
          <p:cNvSpPr/>
          <p:nvPr/>
        </p:nvSpPr>
        <p:spPr>
          <a:xfrm>
            <a:off x="7708392" y="962381"/>
            <a:ext cx="1298448"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StandardScaler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PCA</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a:extLst>
              <a:ext uri="{FF2B5EF4-FFF2-40B4-BE49-F238E27FC236}">
                <a16:creationId xmlns:a16="http://schemas.microsoft.com/office/drawing/2014/main" id="{C8E298E2-710A-BBEF-4547-2B819A94EAA3}"/>
              </a:ext>
            </a:extLst>
          </p:cNvPr>
          <p:cNvSpPr/>
          <p:nvPr/>
        </p:nvSpPr>
        <p:spPr>
          <a:xfrm>
            <a:off x="320040" y="1693901"/>
            <a:ext cx="8229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PCA DIMENSIONALITY REDUCTION (95% variance retained)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5B0B8981-412C-0E54-94EE-386808392FB5}"/>
              </a:ext>
            </a:extLst>
          </p:cNvPr>
          <p:cNvSpPr/>
          <p:nvPr/>
        </p:nvSpPr>
        <p:spPr>
          <a:xfrm>
            <a:off x="320040" y="1968221"/>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a:extLst>
              <a:ext uri="{FF2B5EF4-FFF2-40B4-BE49-F238E27FC236}">
                <a16:creationId xmlns:a16="http://schemas.microsoft.com/office/drawing/2014/main" id="{CDA9F516-1582-369A-281A-59052E7C1D0D}"/>
              </a:ext>
            </a:extLst>
          </p:cNvPr>
          <p:cNvSpPr/>
          <p:nvPr/>
        </p:nvSpPr>
        <p:spPr>
          <a:xfrm>
            <a:off x="320040" y="2013941"/>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8,106</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a:extLst>
              <a:ext uri="{FF2B5EF4-FFF2-40B4-BE49-F238E27FC236}">
                <a16:creationId xmlns:a16="http://schemas.microsoft.com/office/drawing/2014/main" id="{6191D186-2E86-7A3C-D84B-0A08891FBD51}"/>
              </a:ext>
            </a:extLst>
          </p:cNvPr>
          <p:cNvSpPr/>
          <p:nvPr/>
        </p:nvSpPr>
        <p:spPr>
          <a:xfrm>
            <a:off x="320040" y="2471141"/>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Original Dimensions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F5799543-AF62-A5DD-13B7-699BCEF129DE}"/>
              </a:ext>
            </a:extLst>
          </p:cNvPr>
          <p:cNvSpPr/>
          <p:nvPr/>
        </p:nvSpPr>
        <p:spPr>
          <a:xfrm>
            <a:off x="2514600" y="1968221"/>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a:extLst>
              <a:ext uri="{FF2B5EF4-FFF2-40B4-BE49-F238E27FC236}">
                <a16:creationId xmlns:a16="http://schemas.microsoft.com/office/drawing/2014/main" id="{DBEB631C-3F3B-4BCF-5FDA-582CEB0C1DF6}"/>
              </a:ext>
            </a:extLst>
          </p:cNvPr>
          <p:cNvSpPr/>
          <p:nvPr/>
        </p:nvSpPr>
        <p:spPr>
          <a:xfrm>
            <a:off x="2514600" y="2013941"/>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1,622</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a:extLst>
              <a:ext uri="{FF2B5EF4-FFF2-40B4-BE49-F238E27FC236}">
                <a16:creationId xmlns:a16="http://schemas.microsoft.com/office/drawing/2014/main" id="{B3C37B74-9348-103A-63AD-DD1EDC51DE50}"/>
              </a:ext>
            </a:extLst>
          </p:cNvPr>
          <p:cNvSpPr/>
          <p:nvPr/>
        </p:nvSpPr>
        <p:spPr>
          <a:xfrm>
            <a:off x="2514600" y="2471141"/>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Reduced Dimensions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A79265D2-C0F9-1346-0211-D201E6600454}"/>
              </a:ext>
            </a:extLst>
          </p:cNvPr>
          <p:cNvSpPr/>
          <p:nvPr/>
        </p:nvSpPr>
        <p:spPr>
          <a:xfrm>
            <a:off x="4709160" y="1968221"/>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a:extLst>
              <a:ext uri="{FF2B5EF4-FFF2-40B4-BE49-F238E27FC236}">
                <a16:creationId xmlns:a16="http://schemas.microsoft.com/office/drawing/2014/main" id="{A302BA92-2CE1-6251-72FA-A7A963E23D19}"/>
              </a:ext>
            </a:extLst>
          </p:cNvPr>
          <p:cNvSpPr/>
          <p:nvPr/>
        </p:nvSpPr>
        <p:spPr>
          <a:xfrm>
            <a:off x="4709160" y="2013941"/>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95%</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a:extLst>
              <a:ext uri="{FF2B5EF4-FFF2-40B4-BE49-F238E27FC236}">
                <a16:creationId xmlns:a16="http://schemas.microsoft.com/office/drawing/2014/main" id="{E17A9831-7E06-E594-D7C8-5DA3A04F577E}"/>
              </a:ext>
            </a:extLst>
          </p:cNvPr>
          <p:cNvSpPr/>
          <p:nvPr/>
        </p:nvSpPr>
        <p:spPr>
          <a:xfrm>
            <a:off x="4709160" y="2471141"/>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Variance Retained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2E18DC1D-8774-0FED-EECB-197220EA5FAE}"/>
              </a:ext>
            </a:extLst>
          </p:cNvPr>
          <p:cNvSpPr/>
          <p:nvPr/>
        </p:nvSpPr>
        <p:spPr>
          <a:xfrm>
            <a:off x="6903720" y="1968221"/>
            <a:ext cx="2057400" cy="841248"/>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a:extLst>
              <a:ext uri="{FF2B5EF4-FFF2-40B4-BE49-F238E27FC236}">
                <a16:creationId xmlns:a16="http://schemas.microsoft.com/office/drawing/2014/main" id="{4C14C418-F5E4-77CA-37F2-26868207453A}"/>
              </a:ext>
            </a:extLst>
          </p:cNvPr>
          <p:cNvSpPr/>
          <p:nvPr/>
        </p:nvSpPr>
        <p:spPr>
          <a:xfrm>
            <a:off x="6903720" y="2013941"/>
            <a:ext cx="205740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C6BE"/>
                </a:solidFill>
                <a:effectLst/>
                <a:uLnTx/>
                <a:uFillTx/>
                <a:latin typeface="Trebuchet MS" pitchFamily="34" charset="0"/>
                <a:ea typeface="Trebuchet MS" pitchFamily="34" charset="-122"/>
                <a:cs typeface="Trebuchet MS" pitchFamily="34" charset="-120"/>
              </a:rPr>
              <a:t>5×</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a:extLst>
              <a:ext uri="{FF2B5EF4-FFF2-40B4-BE49-F238E27FC236}">
                <a16:creationId xmlns:a16="http://schemas.microsoft.com/office/drawing/2014/main" id="{F3585EF1-298E-7E56-7F88-A5E78F7D77B1}"/>
              </a:ext>
            </a:extLst>
          </p:cNvPr>
          <p:cNvSpPr/>
          <p:nvPr/>
        </p:nvSpPr>
        <p:spPr>
          <a:xfrm>
            <a:off x="6903720" y="2471141"/>
            <a:ext cx="2057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Reduction Ratio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9" name="Picture 48" descr="The diagram illustrates a Principal Component Analysis (PCA) showing the proportion of total variance explained by each component, with the cumulative explained variance reaching 95% after the first few components.&#10;&#10;AI-generated content may be incorrect.">
            <a:extLst>
              <a:ext uri="{FF2B5EF4-FFF2-40B4-BE49-F238E27FC236}">
                <a16:creationId xmlns:a16="http://schemas.microsoft.com/office/drawing/2014/main" id="{525C755C-F8D2-DDA2-6344-49929A2E159D}"/>
              </a:ext>
            </a:extLst>
          </p:cNvPr>
          <p:cNvPicPr>
            <a:picLocks noChangeAspect="1"/>
          </p:cNvPicPr>
          <p:nvPr/>
        </p:nvPicPr>
        <p:blipFill>
          <a:blip r:embed="rId3"/>
          <a:stretch>
            <a:fillRect/>
          </a:stretch>
        </p:blipFill>
        <p:spPr>
          <a:xfrm>
            <a:off x="1119561" y="2935342"/>
            <a:ext cx="6469959" cy="1816619"/>
          </a:xfrm>
          <a:prstGeom prst="rect">
            <a:avLst/>
          </a:prstGeom>
        </p:spPr>
      </p:pic>
      <p:sp>
        <p:nvSpPr>
          <p:cNvPr id="50" name="Action Button: Return 49">
            <a:hlinkClick r:id="rId4" action="ppaction://hlinksldjump" highlightClick="1">
              <a:snd r:embed="rId5" name="whoosh.wav"/>
            </a:hlinkClick>
            <a:extLst>
              <a:ext uri="{FF2B5EF4-FFF2-40B4-BE49-F238E27FC236}">
                <a16:creationId xmlns:a16="http://schemas.microsoft.com/office/drawing/2014/main" id="{A9873CF7-17F7-37C9-314A-24C89EE09350}"/>
              </a:ext>
            </a:extLst>
          </p:cNvPr>
          <p:cNvSpPr/>
          <p:nvPr/>
        </p:nvSpPr>
        <p:spPr>
          <a:xfrm>
            <a:off x="8692560" y="4391961"/>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65931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42AF9973-0551-0868-0C35-DC1C6E0678B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6DDD258-B185-8BA9-25F1-3A54DCDFA015}"/>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A31C0EF6-B375-C9EC-F1C9-5182E90F6511}"/>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Part 1 · </a:t>
            </a:r>
            <a:r>
              <a:rPr lang="en-US" sz="2700" b="1" dirty="0">
                <a:solidFill>
                  <a:srgbClr val="FFFFFF"/>
                </a:solidFill>
                <a:latin typeface="Trebuchet MS" pitchFamily="34" charset="0"/>
                <a:ea typeface="Trebuchet MS" pitchFamily="34" charset="-122"/>
                <a:cs typeface="Trebuchet MS" pitchFamily="34" charset="-120"/>
              </a:rPr>
              <a:t>ML Model with Default Parameters</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 name="Picture 24" descr="The provided text describes a confusion matrix for a KNN (k=5) classifier, detailing the number of true positive, false positive, true negative, and false negative counts for different cancer types: glioma, meningioma, non-malignant, and pituitary.&#10;&#10;AI-generated content may be incorrect.">
            <a:extLst>
              <a:ext uri="{FF2B5EF4-FFF2-40B4-BE49-F238E27FC236}">
                <a16:creationId xmlns:a16="http://schemas.microsoft.com/office/drawing/2014/main" id="{F7AEB541-82FB-79C1-9B88-45F5BBC390AE}"/>
              </a:ext>
            </a:extLst>
          </p:cNvPr>
          <p:cNvPicPr>
            <a:picLocks noChangeAspect="1"/>
          </p:cNvPicPr>
          <p:nvPr/>
        </p:nvPicPr>
        <p:blipFill>
          <a:blip r:embed="rId3"/>
          <a:stretch>
            <a:fillRect/>
          </a:stretch>
        </p:blipFill>
        <p:spPr>
          <a:xfrm>
            <a:off x="218830" y="643283"/>
            <a:ext cx="2880000" cy="2103130"/>
          </a:xfrm>
          <a:prstGeom prst="rect">
            <a:avLst/>
          </a:prstGeom>
        </p:spPr>
      </p:pic>
      <p:pic>
        <p:nvPicPr>
          <p:cNvPr id="27" name="Picture 26" descr="The image is a confusion matrix for an SVM (RBF) classifier, showing true labels vs. predicted labels for various medical conditions, including meningioma, tumor, pituitary, and others, with some negative values indicating absent conditions.&#10;&#10;AI-generated content may be incorrect.">
            <a:extLst>
              <a:ext uri="{FF2B5EF4-FFF2-40B4-BE49-F238E27FC236}">
                <a16:creationId xmlns:a16="http://schemas.microsoft.com/office/drawing/2014/main" id="{C2D71E79-61C7-352E-1628-D144F85C150F}"/>
              </a:ext>
            </a:extLst>
          </p:cNvPr>
          <p:cNvPicPr>
            <a:picLocks noChangeAspect="1"/>
          </p:cNvPicPr>
          <p:nvPr/>
        </p:nvPicPr>
        <p:blipFill>
          <a:blip r:embed="rId4"/>
          <a:stretch>
            <a:fillRect/>
          </a:stretch>
        </p:blipFill>
        <p:spPr>
          <a:xfrm>
            <a:off x="3185040" y="1406954"/>
            <a:ext cx="2880000" cy="2103130"/>
          </a:xfrm>
          <a:prstGeom prst="rect">
            <a:avLst/>
          </a:prstGeom>
        </p:spPr>
      </p:pic>
      <p:pic>
        <p:nvPicPr>
          <p:cNvPr id="29" name="Picture 28" descr="The image depicts a confusion matrix for a Random Forest classifier with 100 trees, distinguishing between glioma, meningioma, tumor, and pituitary, with numerical values indicating true and predicted labels.&#10;&#10;AI-generated content may be incorrect.">
            <a:extLst>
              <a:ext uri="{FF2B5EF4-FFF2-40B4-BE49-F238E27FC236}">
                <a16:creationId xmlns:a16="http://schemas.microsoft.com/office/drawing/2014/main" id="{D235DF65-C8F6-8E62-1A3D-CF50810ED9D2}"/>
              </a:ext>
            </a:extLst>
          </p:cNvPr>
          <p:cNvPicPr>
            <a:picLocks noChangeAspect="1"/>
          </p:cNvPicPr>
          <p:nvPr/>
        </p:nvPicPr>
        <p:blipFill>
          <a:blip r:embed="rId5"/>
          <a:stretch>
            <a:fillRect/>
          </a:stretch>
        </p:blipFill>
        <p:spPr>
          <a:xfrm>
            <a:off x="6151250" y="2298211"/>
            <a:ext cx="2880000" cy="2103130"/>
          </a:xfrm>
          <a:prstGeom prst="rect">
            <a:avLst/>
          </a:prstGeom>
        </p:spPr>
      </p:pic>
      <p:sp>
        <p:nvSpPr>
          <p:cNvPr id="31" name="TextBox 30">
            <a:extLst>
              <a:ext uri="{FF2B5EF4-FFF2-40B4-BE49-F238E27FC236}">
                <a16:creationId xmlns:a16="http://schemas.microsoft.com/office/drawing/2014/main" id="{88427296-D176-6EC9-E6FD-6441EC1768A4}"/>
              </a:ext>
            </a:extLst>
          </p:cNvPr>
          <p:cNvSpPr txBox="1"/>
          <p:nvPr/>
        </p:nvSpPr>
        <p:spPr>
          <a:xfrm>
            <a:off x="457200" y="2813630"/>
            <a:ext cx="2352154" cy="369332"/>
          </a:xfrm>
          <a:prstGeom prst="rect">
            <a:avLst/>
          </a:prstGeom>
          <a:noFill/>
        </p:spPr>
        <p:txBody>
          <a:bodyPr wrap="square">
            <a:spAutoFit/>
          </a:bodyPr>
          <a:lstStyle/>
          <a:p>
            <a:r>
              <a:rPr lang="en-GB" dirty="0">
                <a:solidFill>
                  <a:schemeClr val="bg1"/>
                </a:solidFill>
              </a:rPr>
              <a:t>Test Accuracy: 84.25%</a:t>
            </a:r>
          </a:p>
        </p:txBody>
      </p:sp>
      <p:sp>
        <p:nvSpPr>
          <p:cNvPr id="33" name="TextBox 32">
            <a:extLst>
              <a:ext uri="{FF2B5EF4-FFF2-40B4-BE49-F238E27FC236}">
                <a16:creationId xmlns:a16="http://schemas.microsoft.com/office/drawing/2014/main" id="{88166CF9-411D-4617-3915-355C965B1950}"/>
              </a:ext>
            </a:extLst>
          </p:cNvPr>
          <p:cNvSpPr txBox="1"/>
          <p:nvPr/>
        </p:nvSpPr>
        <p:spPr>
          <a:xfrm>
            <a:off x="3216757" y="3521716"/>
            <a:ext cx="2816566" cy="369332"/>
          </a:xfrm>
          <a:prstGeom prst="rect">
            <a:avLst/>
          </a:prstGeom>
          <a:noFill/>
        </p:spPr>
        <p:txBody>
          <a:bodyPr wrap="square">
            <a:spAutoFit/>
          </a:bodyPr>
          <a:lstStyle/>
          <a:p>
            <a:r>
              <a:rPr lang="en-GB" b="0" i="0" dirty="0">
                <a:solidFill>
                  <a:schemeClr val="bg1"/>
                </a:solidFill>
                <a:effectLst/>
                <a:latin typeface="Consolas" panose="020B0609020204030204" pitchFamily="49" charset="0"/>
              </a:rPr>
              <a:t>Test Accuracy: 88.69%</a:t>
            </a:r>
            <a:endParaRPr lang="en-GB" dirty="0">
              <a:solidFill>
                <a:schemeClr val="bg1"/>
              </a:solidFill>
            </a:endParaRPr>
          </a:p>
        </p:txBody>
      </p:sp>
      <p:sp>
        <p:nvSpPr>
          <p:cNvPr id="35" name="TextBox 34">
            <a:extLst>
              <a:ext uri="{FF2B5EF4-FFF2-40B4-BE49-F238E27FC236}">
                <a16:creationId xmlns:a16="http://schemas.microsoft.com/office/drawing/2014/main" id="{9A8304DB-5F33-105D-A30E-4F7BEC0543F7}"/>
              </a:ext>
            </a:extLst>
          </p:cNvPr>
          <p:cNvSpPr txBox="1"/>
          <p:nvPr/>
        </p:nvSpPr>
        <p:spPr>
          <a:xfrm>
            <a:off x="6233312" y="4479495"/>
            <a:ext cx="2880000" cy="369332"/>
          </a:xfrm>
          <a:prstGeom prst="rect">
            <a:avLst/>
          </a:prstGeom>
          <a:noFill/>
        </p:spPr>
        <p:txBody>
          <a:bodyPr wrap="square">
            <a:spAutoFit/>
          </a:bodyPr>
          <a:lstStyle/>
          <a:p>
            <a:r>
              <a:rPr lang="en-GB" b="0" i="0" dirty="0">
                <a:solidFill>
                  <a:schemeClr val="bg1"/>
                </a:solidFill>
                <a:effectLst/>
                <a:latin typeface="Consolas" panose="020B0609020204030204" pitchFamily="49" charset="0"/>
              </a:rPr>
              <a:t>Test Accuracy: 84.88%</a:t>
            </a:r>
            <a:endParaRPr lang="en-GB" dirty="0">
              <a:solidFill>
                <a:schemeClr val="bg1"/>
              </a:solidFill>
            </a:endParaRPr>
          </a:p>
        </p:txBody>
      </p:sp>
    </p:spTree>
    <p:extLst>
      <p:ext uri="{BB962C8B-B14F-4D97-AF65-F5344CB8AC3E}">
        <p14:creationId xmlns:p14="http://schemas.microsoft.com/office/powerpoint/2010/main" val="1597379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ED794890-14C5-00D1-68D3-81CBAFAA427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40C1BA5-08B9-CB4E-7DEF-E92CCBECEBD9}"/>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FDE1DCD-1793-12C8-BBE7-764B0092D42E}"/>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Part 1 · ML Model with Hyper Parameters Tuning</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D88F12F3-1546-4C27-5288-478B7E5FF841}"/>
              </a:ext>
            </a:extLst>
          </p:cNvPr>
          <p:cNvSpPr txBox="1"/>
          <p:nvPr/>
        </p:nvSpPr>
        <p:spPr>
          <a:xfrm>
            <a:off x="385638" y="2813630"/>
            <a:ext cx="23521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Test Accuracy: 90.06%</a:t>
            </a:r>
          </a:p>
        </p:txBody>
      </p:sp>
      <p:sp>
        <p:nvSpPr>
          <p:cNvPr id="33" name="TextBox 32">
            <a:extLst>
              <a:ext uri="{FF2B5EF4-FFF2-40B4-BE49-F238E27FC236}">
                <a16:creationId xmlns:a16="http://schemas.microsoft.com/office/drawing/2014/main" id="{CF76F8CF-95FA-6FB8-F44B-6D464B2FA058}"/>
              </a:ext>
            </a:extLst>
          </p:cNvPr>
          <p:cNvSpPr txBox="1"/>
          <p:nvPr/>
        </p:nvSpPr>
        <p:spPr>
          <a:xfrm>
            <a:off x="3143144" y="3464288"/>
            <a:ext cx="281656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Test Accuracy: 90.56%</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296E2F23-5137-870C-60FC-A6082A0DE82E}"/>
              </a:ext>
            </a:extLst>
          </p:cNvPr>
          <p:cNvSpPr txBox="1"/>
          <p:nvPr/>
        </p:nvSpPr>
        <p:spPr>
          <a:xfrm>
            <a:off x="6139831" y="4235217"/>
            <a:ext cx="2880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Test Accuracy: 85.75%</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Picture 4" descr="The provided text seems to be a partial description of a confusion matrix for a KNN (k-nearest neighbors) model, comparing true labels with predicted labels for various conditions like tumors, gliomas, and meningiomas.&#10;&#10;AI-generated content may be incorrect.">
            <a:extLst>
              <a:ext uri="{FF2B5EF4-FFF2-40B4-BE49-F238E27FC236}">
                <a16:creationId xmlns:a16="http://schemas.microsoft.com/office/drawing/2014/main" id="{C0C1D890-4015-7C0C-932A-54D95CA34D92}"/>
              </a:ext>
            </a:extLst>
          </p:cNvPr>
          <p:cNvPicPr>
            <a:picLocks noChangeAspect="1"/>
          </p:cNvPicPr>
          <p:nvPr/>
        </p:nvPicPr>
        <p:blipFill>
          <a:blip r:embed="rId3"/>
          <a:stretch>
            <a:fillRect/>
          </a:stretch>
        </p:blipFill>
        <p:spPr>
          <a:xfrm>
            <a:off x="219555" y="694944"/>
            <a:ext cx="2880001" cy="2103130"/>
          </a:xfrm>
          <a:prstGeom prst="rect">
            <a:avLst/>
          </a:prstGeom>
        </p:spPr>
      </p:pic>
      <p:pic>
        <p:nvPicPr>
          <p:cNvPr id="7" name="Picture 6">
            <a:extLst>
              <a:ext uri="{FF2B5EF4-FFF2-40B4-BE49-F238E27FC236}">
                <a16:creationId xmlns:a16="http://schemas.microsoft.com/office/drawing/2014/main" id="{1F67A61E-1B16-76CC-C17B-D6F0A51FCE23}"/>
              </a:ext>
            </a:extLst>
          </p:cNvPr>
          <p:cNvPicPr>
            <a:picLocks noChangeAspect="1"/>
          </p:cNvPicPr>
          <p:nvPr/>
        </p:nvPicPr>
        <p:blipFill>
          <a:blip r:embed="rId4"/>
          <a:stretch>
            <a:fillRect/>
          </a:stretch>
        </p:blipFill>
        <p:spPr>
          <a:xfrm>
            <a:off x="3143144" y="1232730"/>
            <a:ext cx="2901302" cy="2118686"/>
          </a:xfrm>
          <a:prstGeom prst="rect">
            <a:avLst/>
          </a:prstGeom>
        </p:spPr>
      </p:pic>
      <p:pic>
        <p:nvPicPr>
          <p:cNvPr id="11" name="Picture 10">
            <a:extLst>
              <a:ext uri="{FF2B5EF4-FFF2-40B4-BE49-F238E27FC236}">
                <a16:creationId xmlns:a16="http://schemas.microsoft.com/office/drawing/2014/main" id="{8869E967-87AA-198A-2ED6-7D971940665B}"/>
              </a:ext>
            </a:extLst>
          </p:cNvPr>
          <p:cNvPicPr>
            <a:picLocks noChangeAspect="1"/>
          </p:cNvPicPr>
          <p:nvPr/>
        </p:nvPicPr>
        <p:blipFill>
          <a:blip r:embed="rId5"/>
          <a:stretch>
            <a:fillRect/>
          </a:stretch>
        </p:blipFill>
        <p:spPr>
          <a:xfrm>
            <a:off x="6129180" y="2034166"/>
            <a:ext cx="2901302" cy="2118685"/>
          </a:xfrm>
          <a:prstGeom prst="rect">
            <a:avLst/>
          </a:prstGeom>
        </p:spPr>
      </p:pic>
    </p:spTree>
    <p:extLst>
      <p:ext uri="{BB962C8B-B14F-4D97-AF65-F5344CB8AC3E}">
        <p14:creationId xmlns:p14="http://schemas.microsoft.com/office/powerpoint/2010/main" val="3285701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64468ECF-E52C-9AE1-8696-08B19AB365C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E356CC-C02A-E287-586C-3F91D267F409}"/>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885C3D5B-F627-61D5-A6F6-FEF263B190E8}"/>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Part 1 · ML Model Learning Curves</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descr="The diagram depicts a learning curve for a K-Nearest Neighbors (KNN) model, showing that as the number of training samples increases, the accuracy score improves, indicating that the model is better at generalizing from the data.&#10;&#10;AI-generated content may be incorrect.">
            <a:extLst>
              <a:ext uri="{FF2B5EF4-FFF2-40B4-BE49-F238E27FC236}">
                <a16:creationId xmlns:a16="http://schemas.microsoft.com/office/drawing/2014/main" id="{848D8CB6-32DE-A926-10BD-CE9CA9086E1A}"/>
              </a:ext>
            </a:extLst>
          </p:cNvPr>
          <p:cNvPicPr>
            <a:picLocks noChangeAspect="1"/>
          </p:cNvPicPr>
          <p:nvPr/>
        </p:nvPicPr>
        <p:blipFill>
          <a:blip r:embed="rId3"/>
          <a:stretch>
            <a:fillRect/>
          </a:stretch>
        </p:blipFill>
        <p:spPr>
          <a:xfrm>
            <a:off x="153137" y="955251"/>
            <a:ext cx="2880000" cy="1718099"/>
          </a:xfrm>
          <a:prstGeom prst="rect">
            <a:avLst/>
          </a:prstGeom>
        </p:spPr>
      </p:pic>
      <p:pic>
        <p:nvPicPr>
          <p:cNvPr id="9" name="Picture 8" descr="The diagram depicts an SVM (Support Vector Machine) learning curve, showing the relationship between training and cross-validation accuracy scores as the size of the training set increases from 1500 to 4500 instances.&#10;&#10;AI-generated content may be incorrect.">
            <a:extLst>
              <a:ext uri="{FF2B5EF4-FFF2-40B4-BE49-F238E27FC236}">
                <a16:creationId xmlns:a16="http://schemas.microsoft.com/office/drawing/2014/main" id="{80F35FA8-B4DB-D22C-1639-9923868BED9C}"/>
              </a:ext>
            </a:extLst>
          </p:cNvPr>
          <p:cNvPicPr>
            <a:picLocks noChangeAspect="1"/>
          </p:cNvPicPr>
          <p:nvPr/>
        </p:nvPicPr>
        <p:blipFill>
          <a:blip r:embed="rId4"/>
          <a:stretch>
            <a:fillRect/>
          </a:stretch>
        </p:blipFill>
        <p:spPr>
          <a:xfrm>
            <a:off x="3132000" y="1712700"/>
            <a:ext cx="2880000" cy="1718099"/>
          </a:xfrm>
          <a:prstGeom prst="rect">
            <a:avLst/>
          </a:prstGeom>
        </p:spPr>
      </p:pic>
      <p:pic>
        <p:nvPicPr>
          <p:cNvPr id="12" name="Picture 11" descr="The diagram depicts a learning curve for a random forest model, showing accuracy scores increasing as the training set size increases from 0 to 4500 instances.&#10;&#10;AI-generated content may be incorrect.">
            <a:extLst>
              <a:ext uri="{FF2B5EF4-FFF2-40B4-BE49-F238E27FC236}">
                <a16:creationId xmlns:a16="http://schemas.microsoft.com/office/drawing/2014/main" id="{695491A8-8286-4C39-989C-952822DCC679}"/>
              </a:ext>
            </a:extLst>
          </p:cNvPr>
          <p:cNvPicPr>
            <a:picLocks noChangeAspect="1"/>
          </p:cNvPicPr>
          <p:nvPr/>
        </p:nvPicPr>
        <p:blipFill>
          <a:blip r:embed="rId5"/>
          <a:stretch>
            <a:fillRect/>
          </a:stretch>
        </p:blipFill>
        <p:spPr>
          <a:xfrm>
            <a:off x="6110863" y="2673350"/>
            <a:ext cx="2880000" cy="1718099"/>
          </a:xfrm>
          <a:prstGeom prst="rect">
            <a:avLst/>
          </a:prstGeom>
        </p:spPr>
      </p:pic>
      <p:sp>
        <p:nvSpPr>
          <p:cNvPr id="13" name="Action Button: Return 12">
            <a:hlinkClick r:id="rId6" action="ppaction://hlinksldjump" highlightClick="1">
              <a:snd r:embed="rId7" name="whoosh.wav"/>
            </a:hlinkClick>
            <a:extLst>
              <a:ext uri="{FF2B5EF4-FFF2-40B4-BE49-F238E27FC236}">
                <a16:creationId xmlns:a16="http://schemas.microsoft.com/office/drawing/2014/main" id="{2A53FFFA-A3CD-FCEF-C9C9-FBC48C7B2625}"/>
              </a:ext>
            </a:extLst>
          </p:cNvPr>
          <p:cNvSpPr/>
          <p:nvPr/>
        </p:nvSpPr>
        <p:spPr>
          <a:xfrm>
            <a:off x="8686800" y="4447438"/>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2209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6866AA3D-49E6-479C-A46A-D39EAD0062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42B573-C275-42D1-0122-70147B33BEF3}"/>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E1AC1F3-26B0-386B-72CD-035D33AEB050}"/>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GRAD CAM</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The image displays three Grad-CAM heatmaps overlaid on brain MRI scans, showing the model's predictions and confidence levels for diagnosing meningioma, glioma, and pituitary tumors.&#10;&#10;AI-generated content may be incorrect.">
            <a:extLst>
              <a:ext uri="{FF2B5EF4-FFF2-40B4-BE49-F238E27FC236}">
                <a16:creationId xmlns:a16="http://schemas.microsoft.com/office/drawing/2014/main" id="{81D22564-1F2F-73A1-9602-B2E9A3B9CF00}"/>
              </a:ext>
            </a:extLst>
          </p:cNvPr>
          <p:cNvPicPr>
            <a:picLocks noChangeAspect="1"/>
          </p:cNvPicPr>
          <p:nvPr/>
        </p:nvPicPr>
        <p:blipFill>
          <a:blip r:embed="rId3"/>
          <a:srcRect t="26562"/>
          <a:stretch>
            <a:fillRect/>
          </a:stretch>
        </p:blipFill>
        <p:spPr>
          <a:xfrm>
            <a:off x="5038481" y="795528"/>
            <a:ext cx="3828319" cy="3777293"/>
          </a:xfrm>
          <a:prstGeom prst="rect">
            <a:avLst/>
          </a:prstGeom>
        </p:spPr>
      </p:pic>
      <p:sp>
        <p:nvSpPr>
          <p:cNvPr id="30" name="Shape 13">
            <a:extLst>
              <a:ext uri="{FF2B5EF4-FFF2-40B4-BE49-F238E27FC236}">
                <a16:creationId xmlns:a16="http://schemas.microsoft.com/office/drawing/2014/main" id="{623097E4-38C9-0295-1E9D-5ABA962AF024}"/>
              </a:ext>
            </a:extLst>
          </p:cNvPr>
          <p:cNvSpPr/>
          <p:nvPr/>
        </p:nvSpPr>
        <p:spPr>
          <a:xfrm>
            <a:off x="457200" y="1136670"/>
            <a:ext cx="4160520" cy="2587752"/>
          </a:xfrm>
          <a:prstGeom prst="rect">
            <a:avLst/>
          </a:prstGeom>
          <a:solidFill>
            <a:srgbClr val="1E3A5F"/>
          </a:solidFill>
          <a:ln w="12700">
            <a:solidFill>
              <a:srgbClr val="00C6BE"/>
            </a:solidFill>
            <a:prstDash val="solid"/>
          </a:ln>
        </p:spPr>
        <p:txBody>
          <a:bodyPr/>
          <a:lstStyle/>
          <a:p>
            <a:endParaRPr lang="en-GB"/>
          </a:p>
        </p:txBody>
      </p:sp>
      <p:sp>
        <p:nvSpPr>
          <p:cNvPr id="31" name="Shape 14">
            <a:extLst>
              <a:ext uri="{FF2B5EF4-FFF2-40B4-BE49-F238E27FC236}">
                <a16:creationId xmlns:a16="http://schemas.microsoft.com/office/drawing/2014/main" id="{F1DC3F89-BFD3-B24C-A26B-4921D9B48AF2}"/>
              </a:ext>
            </a:extLst>
          </p:cNvPr>
          <p:cNvSpPr/>
          <p:nvPr/>
        </p:nvSpPr>
        <p:spPr>
          <a:xfrm>
            <a:off x="457200" y="1136670"/>
            <a:ext cx="54864" cy="2587752"/>
          </a:xfrm>
          <a:prstGeom prst="rect">
            <a:avLst/>
          </a:prstGeom>
          <a:solidFill>
            <a:srgbClr val="00C6BE"/>
          </a:solidFill>
          <a:ln w="12700">
            <a:solidFill>
              <a:srgbClr val="00C6BE"/>
            </a:solidFill>
            <a:prstDash val="solid"/>
          </a:ln>
        </p:spPr>
        <p:txBody>
          <a:bodyPr/>
          <a:lstStyle/>
          <a:p>
            <a:endParaRPr lang="en-GB"/>
          </a:p>
        </p:txBody>
      </p:sp>
      <p:sp>
        <p:nvSpPr>
          <p:cNvPr id="32" name="Text 15">
            <a:extLst>
              <a:ext uri="{FF2B5EF4-FFF2-40B4-BE49-F238E27FC236}">
                <a16:creationId xmlns:a16="http://schemas.microsoft.com/office/drawing/2014/main" id="{2F9700D4-4C5F-8AC1-F1A6-D8F087D2F452}"/>
              </a:ext>
            </a:extLst>
          </p:cNvPr>
          <p:cNvSpPr/>
          <p:nvPr/>
        </p:nvSpPr>
        <p:spPr>
          <a:xfrm>
            <a:off x="640080" y="1182390"/>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GRAD-CAM EXPLAINABILITY</a:t>
            </a:r>
            <a:endParaRPr lang="en-US" sz="1000" dirty="0"/>
          </a:p>
        </p:txBody>
      </p:sp>
      <p:sp>
        <p:nvSpPr>
          <p:cNvPr id="33" name="Text 16">
            <a:extLst>
              <a:ext uri="{FF2B5EF4-FFF2-40B4-BE49-F238E27FC236}">
                <a16:creationId xmlns:a16="http://schemas.microsoft.com/office/drawing/2014/main" id="{0328144A-664F-4002-E59D-3094B0394C29}"/>
              </a:ext>
            </a:extLst>
          </p:cNvPr>
          <p:cNvSpPr/>
          <p:nvPr/>
        </p:nvSpPr>
        <p:spPr>
          <a:xfrm>
            <a:off x="640080" y="145671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Creates a heatmap over prediction-important regions</a:t>
            </a:r>
            <a:endParaRPr lang="en-US" sz="1150" dirty="0"/>
          </a:p>
        </p:txBody>
      </p:sp>
      <p:sp>
        <p:nvSpPr>
          <p:cNvPr id="34" name="Text 17">
            <a:extLst>
              <a:ext uri="{FF2B5EF4-FFF2-40B4-BE49-F238E27FC236}">
                <a16:creationId xmlns:a16="http://schemas.microsoft.com/office/drawing/2014/main" id="{26FDFE86-75B1-B248-65B9-2281A4531A23}"/>
              </a:ext>
            </a:extLst>
          </p:cNvPr>
          <p:cNvSpPr/>
          <p:nvPr/>
        </p:nvSpPr>
        <p:spPr>
          <a:xfrm>
            <a:off x="640080" y="182247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Uses gradients of last convolutional layer</a:t>
            </a:r>
            <a:endParaRPr lang="en-US" sz="1150" dirty="0"/>
          </a:p>
        </p:txBody>
      </p:sp>
      <p:sp>
        <p:nvSpPr>
          <p:cNvPr id="35" name="Text 18">
            <a:extLst>
              <a:ext uri="{FF2B5EF4-FFF2-40B4-BE49-F238E27FC236}">
                <a16:creationId xmlns:a16="http://schemas.microsoft.com/office/drawing/2014/main" id="{780C29B4-06EF-44DE-28AA-DF5EC083BAAF}"/>
              </a:ext>
            </a:extLst>
          </p:cNvPr>
          <p:cNvSpPr/>
          <p:nvPr/>
        </p:nvSpPr>
        <p:spPr>
          <a:xfrm>
            <a:off x="640080" y="218823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No model modification or retraining needed</a:t>
            </a:r>
            <a:endParaRPr lang="en-US" sz="1150" dirty="0"/>
          </a:p>
        </p:txBody>
      </p:sp>
      <p:sp>
        <p:nvSpPr>
          <p:cNvPr id="36" name="Text 19">
            <a:extLst>
              <a:ext uri="{FF2B5EF4-FFF2-40B4-BE49-F238E27FC236}">
                <a16:creationId xmlns:a16="http://schemas.microsoft.com/office/drawing/2014/main" id="{8261F6DC-B4B4-80DD-60C9-03A7AEE0FBE4}"/>
              </a:ext>
            </a:extLst>
          </p:cNvPr>
          <p:cNvSpPr/>
          <p:nvPr/>
        </p:nvSpPr>
        <p:spPr>
          <a:xfrm>
            <a:off x="640080" y="255399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Class-specific: different class → different heatmap</a:t>
            </a:r>
            <a:endParaRPr lang="en-US" sz="1150" dirty="0"/>
          </a:p>
        </p:txBody>
      </p:sp>
      <p:sp>
        <p:nvSpPr>
          <p:cNvPr id="37" name="Text 20">
            <a:extLst>
              <a:ext uri="{FF2B5EF4-FFF2-40B4-BE49-F238E27FC236}">
                <a16:creationId xmlns:a16="http://schemas.microsoft.com/office/drawing/2014/main" id="{F350BC79-055D-6589-4792-170B7BF54341}"/>
              </a:ext>
            </a:extLst>
          </p:cNvPr>
          <p:cNvSpPr/>
          <p:nvPr/>
        </p:nvSpPr>
        <p:spPr>
          <a:xfrm>
            <a:off x="640080" y="291975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 Red = important  ·  🔵 Blue = unimportant</a:t>
            </a:r>
            <a:endParaRPr lang="en-US" sz="1150" dirty="0"/>
          </a:p>
        </p:txBody>
      </p:sp>
      <p:sp>
        <p:nvSpPr>
          <p:cNvPr id="38" name="Text 21">
            <a:extLst>
              <a:ext uri="{FF2B5EF4-FFF2-40B4-BE49-F238E27FC236}">
                <a16:creationId xmlns:a16="http://schemas.microsoft.com/office/drawing/2014/main" id="{9F95F724-D371-6F5D-94EF-9E423F365749}"/>
              </a:ext>
            </a:extLst>
          </p:cNvPr>
          <p:cNvSpPr/>
          <p:nvPr/>
        </p:nvSpPr>
        <p:spPr>
          <a:xfrm>
            <a:off x="640080" y="3285510"/>
            <a:ext cx="3840480" cy="338328"/>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 Red regions often align with actual tumor location</a:t>
            </a:r>
            <a:endParaRPr lang="en-US" sz="1150" dirty="0"/>
          </a:p>
        </p:txBody>
      </p:sp>
      <p:sp>
        <p:nvSpPr>
          <p:cNvPr id="13" name="Action Button: Return 12">
            <a:hlinkClick r:id="rId4" action="ppaction://hlinksldjump" highlightClick="1">
              <a:snd r:embed="rId5" name="whoosh.wav"/>
            </a:hlinkClick>
            <a:extLst>
              <a:ext uri="{FF2B5EF4-FFF2-40B4-BE49-F238E27FC236}">
                <a16:creationId xmlns:a16="http://schemas.microsoft.com/office/drawing/2014/main" id="{8DAAD5F9-13BE-7BCA-E8E3-E6F9759616D7}"/>
              </a:ext>
            </a:extLst>
          </p:cNvPr>
          <p:cNvSpPr/>
          <p:nvPr/>
        </p:nvSpPr>
        <p:spPr>
          <a:xfrm>
            <a:off x="4212984" y="3334044"/>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5374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B2F3FD62-E4AD-FA80-44F8-80AA052E98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CF4EAA-4DB3-7F05-66F1-826E29B4361B}"/>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258745C-C8ED-2FE5-A8CE-31C19945EA5B}"/>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b="1" dirty="0">
                <a:solidFill>
                  <a:srgbClr val="FFFFFF"/>
                </a:solidFill>
                <a:latin typeface="Trebuchet MS" pitchFamily="34" charset="0"/>
              </a:rPr>
              <a:t>LIME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descr="Explaining a prediction with LIME">
            <a:extLst>
              <a:ext uri="{FF2B5EF4-FFF2-40B4-BE49-F238E27FC236}">
                <a16:creationId xmlns:a16="http://schemas.microsoft.com/office/drawing/2014/main" id="{304DD8D0-3A96-59D8-CFE2-E16722D6FA2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4832" y="1731899"/>
            <a:ext cx="3470275" cy="1751965"/>
          </a:xfrm>
          <a:prstGeom prst="rect">
            <a:avLst/>
          </a:prstGeom>
          <a:noFill/>
          <a:ln>
            <a:noFill/>
          </a:ln>
        </p:spPr>
      </p:pic>
      <p:sp>
        <p:nvSpPr>
          <p:cNvPr id="7" name="Shape 2">
            <a:extLst>
              <a:ext uri="{FF2B5EF4-FFF2-40B4-BE49-F238E27FC236}">
                <a16:creationId xmlns:a16="http://schemas.microsoft.com/office/drawing/2014/main" id="{27373E71-C032-D949-FD31-7AD79DA05CB4}"/>
              </a:ext>
            </a:extLst>
          </p:cNvPr>
          <p:cNvSpPr/>
          <p:nvPr/>
        </p:nvSpPr>
        <p:spPr>
          <a:xfrm>
            <a:off x="320040" y="841248"/>
            <a:ext cx="4114800" cy="3200400"/>
          </a:xfrm>
          <a:prstGeom prst="rect">
            <a:avLst/>
          </a:prstGeom>
          <a:solidFill>
            <a:srgbClr val="1E3A5F"/>
          </a:solidFill>
          <a:ln w="12700">
            <a:solidFill>
              <a:srgbClr val="00C6BE"/>
            </a:solidFill>
            <a:prstDash val="solid"/>
          </a:ln>
        </p:spPr>
        <p:txBody>
          <a:bodyPr/>
          <a:lstStyle/>
          <a:p>
            <a:endParaRPr lang="en-GB"/>
          </a:p>
        </p:txBody>
      </p:sp>
      <p:sp>
        <p:nvSpPr>
          <p:cNvPr id="8" name="Shape 3">
            <a:extLst>
              <a:ext uri="{FF2B5EF4-FFF2-40B4-BE49-F238E27FC236}">
                <a16:creationId xmlns:a16="http://schemas.microsoft.com/office/drawing/2014/main" id="{6D5222C1-86BA-2BFE-8037-EB2B0DAD503B}"/>
              </a:ext>
            </a:extLst>
          </p:cNvPr>
          <p:cNvSpPr/>
          <p:nvPr/>
        </p:nvSpPr>
        <p:spPr>
          <a:xfrm>
            <a:off x="320040" y="841248"/>
            <a:ext cx="54864" cy="3200400"/>
          </a:xfrm>
          <a:prstGeom prst="rect">
            <a:avLst/>
          </a:prstGeom>
          <a:solidFill>
            <a:srgbClr val="00C6BE"/>
          </a:solidFill>
          <a:ln w="12700">
            <a:solidFill>
              <a:srgbClr val="00C6BE"/>
            </a:solidFill>
            <a:prstDash val="solid"/>
          </a:ln>
        </p:spPr>
        <p:txBody>
          <a:bodyPr/>
          <a:lstStyle/>
          <a:p>
            <a:endParaRPr lang="en-GB"/>
          </a:p>
        </p:txBody>
      </p:sp>
      <p:sp>
        <p:nvSpPr>
          <p:cNvPr id="9" name="Text 4">
            <a:extLst>
              <a:ext uri="{FF2B5EF4-FFF2-40B4-BE49-F238E27FC236}">
                <a16:creationId xmlns:a16="http://schemas.microsoft.com/office/drawing/2014/main" id="{4F44C42C-5CA1-4C12-4B25-2532C25D703E}"/>
              </a:ext>
            </a:extLst>
          </p:cNvPr>
          <p:cNvSpPr/>
          <p:nvPr/>
        </p:nvSpPr>
        <p:spPr>
          <a:xfrm>
            <a:off x="502920" y="886968"/>
            <a:ext cx="3840480" cy="256032"/>
          </a:xfrm>
          <a:prstGeom prst="rect">
            <a:avLst/>
          </a:prstGeom>
          <a:noFill/>
          <a:ln/>
        </p:spPr>
        <p:txBody>
          <a:bodyPr wrap="square" lIns="0" tIns="0" rIns="0" bIns="0" rtlCol="0" anchor="ctr"/>
          <a:lstStyle/>
          <a:p>
            <a:pPr marL="0" indent="0">
              <a:buNone/>
            </a:pPr>
            <a:r>
              <a:rPr lang="en-US" sz="1000" b="1" dirty="0">
                <a:solidFill>
                  <a:srgbClr val="00C6BE"/>
                </a:solidFill>
                <a:latin typeface="Calibri" pitchFamily="34" charset="0"/>
                <a:ea typeface="Calibri" pitchFamily="34" charset="-122"/>
                <a:cs typeface="Calibri" pitchFamily="34" charset="-120"/>
              </a:rPr>
              <a:t>HOW LIME WORKS</a:t>
            </a:r>
            <a:endParaRPr lang="en-US" sz="1000" dirty="0"/>
          </a:p>
        </p:txBody>
      </p:sp>
      <p:sp>
        <p:nvSpPr>
          <p:cNvPr id="10" name="Shape 5">
            <a:extLst>
              <a:ext uri="{FF2B5EF4-FFF2-40B4-BE49-F238E27FC236}">
                <a16:creationId xmlns:a16="http://schemas.microsoft.com/office/drawing/2014/main" id="{34E2A920-DD25-3245-A54D-90404D4807E7}"/>
              </a:ext>
            </a:extLst>
          </p:cNvPr>
          <p:cNvSpPr/>
          <p:nvPr/>
        </p:nvSpPr>
        <p:spPr>
          <a:xfrm>
            <a:off x="502920" y="1170432"/>
            <a:ext cx="713232" cy="438912"/>
          </a:xfrm>
          <a:prstGeom prst="rect">
            <a:avLst/>
          </a:prstGeom>
          <a:solidFill>
            <a:srgbClr val="00C6BE"/>
          </a:solidFill>
          <a:ln w="12700">
            <a:solidFill>
              <a:srgbClr val="00C6BE"/>
            </a:solidFill>
            <a:prstDash val="solid"/>
          </a:ln>
        </p:spPr>
        <p:txBody>
          <a:bodyPr/>
          <a:lstStyle/>
          <a:p>
            <a:endParaRPr lang="en-GB"/>
          </a:p>
        </p:txBody>
      </p:sp>
      <p:sp>
        <p:nvSpPr>
          <p:cNvPr id="11" name="Text 6">
            <a:extLst>
              <a:ext uri="{FF2B5EF4-FFF2-40B4-BE49-F238E27FC236}">
                <a16:creationId xmlns:a16="http://schemas.microsoft.com/office/drawing/2014/main" id="{0850FE9F-B6A4-2F7E-F9DA-CD73EB5EF47F}"/>
              </a:ext>
            </a:extLst>
          </p:cNvPr>
          <p:cNvSpPr/>
          <p:nvPr/>
        </p:nvSpPr>
        <p:spPr>
          <a:xfrm>
            <a:off x="502920" y="1170432"/>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1  SELECT</a:t>
            </a:r>
            <a:endParaRPr lang="en-US" sz="1000" dirty="0"/>
          </a:p>
        </p:txBody>
      </p:sp>
      <p:sp>
        <p:nvSpPr>
          <p:cNvPr id="12" name="Text 7">
            <a:extLst>
              <a:ext uri="{FF2B5EF4-FFF2-40B4-BE49-F238E27FC236}">
                <a16:creationId xmlns:a16="http://schemas.microsoft.com/office/drawing/2014/main" id="{AADBD85A-CAAB-0601-A432-E9662ECE210C}"/>
              </a:ext>
            </a:extLst>
          </p:cNvPr>
          <p:cNvSpPr/>
          <p:nvPr/>
        </p:nvSpPr>
        <p:spPr>
          <a:xfrm>
            <a:off x="1325880" y="1216152"/>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Choose a prediction to explain</a:t>
            </a:r>
            <a:endParaRPr lang="en-US" sz="1200" dirty="0"/>
          </a:p>
        </p:txBody>
      </p:sp>
      <p:sp>
        <p:nvSpPr>
          <p:cNvPr id="14" name="Shape 8">
            <a:extLst>
              <a:ext uri="{FF2B5EF4-FFF2-40B4-BE49-F238E27FC236}">
                <a16:creationId xmlns:a16="http://schemas.microsoft.com/office/drawing/2014/main" id="{BC686A3E-D07B-8CE7-3DC0-673A8BE5C79B}"/>
              </a:ext>
            </a:extLst>
          </p:cNvPr>
          <p:cNvSpPr/>
          <p:nvPr/>
        </p:nvSpPr>
        <p:spPr>
          <a:xfrm>
            <a:off x="502920" y="1737360"/>
            <a:ext cx="713232" cy="438912"/>
          </a:xfrm>
          <a:prstGeom prst="rect">
            <a:avLst/>
          </a:prstGeom>
          <a:solidFill>
            <a:srgbClr val="00C6BE"/>
          </a:solidFill>
          <a:ln w="12700">
            <a:solidFill>
              <a:srgbClr val="00C6BE"/>
            </a:solidFill>
            <a:prstDash val="solid"/>
          </a:ln>
        </p:spPr>
        <p:txBody>
          <a:bodyPr/>
          <a:lstStyle/>
          <a:p>
            <a:endParaRPr lang="en-GB"/>
          </a:p>
        </p:txBody>
      </p:sp>
      <p:sp>
        <p:nvSpPr>
          <p:cNvPr id="15" name="Text 9">
            <a:extLst>
              <a:ext uri="{FF2B5EF4-FFF2-40B4-BE49-F238E27FC236}">
                <a16:creationId xmlns:a16="http://schemas.microsoft.com/office/drawing/2014/main" id="{4795FED1-7A30-DE24-6992-3F8076981CB7}"/>
              </a:ext>
            </a:extLst>
          </p:cNvPr>
          <p:cNvSpPr/>
          <p:nvPr/>
        </p:nvSpPr>
        <p:spPr>
          <a:xfrm>
            <a:off x="502920" y="1737360"/>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2  PERTURB</a:t>
            </a:r>
            <a:endParaRPr lang="en-US" sz="1000" dirty="0"/>
          </a:p>
        </p:txBody>
      </p:sp>
      <p:sp>
        <p:nvSpPr>
          <p:cNvPr id="16" name="Text 10">
            <a:extLst>
              <a:ext uri="{FF2B5EF4-FFF2-40B4-BE49-F238E27FC236}">
                <a16:creationId xmlns:a16="http://schemas.microsoft.com/office/drawing/2014/main" id="{94EFEB28-841C-BECC-2260-DC19757BC485}"/>
              </a:ext>
            </a:extLst>
          </p:cNvPr>
          <p:cNvSpPr/>
          <p:nvPr/>
        </p:nvSpPr>
        <p:spPr>
          <a:xfrm>
            <a:off x="1325880" y="1783080"/>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Create variations by masking image regions</a:t>
            </a:r>
            <a:endParaRPr lang="en-US" sz="1200" dirty="0"/>
          </a:p>
        </p:txBody>
      </p:sp>
      <p:sp>
        <p:nvSpPr>
          <p:cNvPr id="17" name="Shape 11">
            <a:extLst>
              <a:ext uri="{FF2B5EF4-FFF2-40B4-BE49-F238E27FC236}">
                <a16:creationId xmlns:a16="http://schemas.microsoft.com/office/drawing/2014/main" id="{DBE56731-6086-CD89-F678-925643E4BB9D}"/>
              </a:ext>
            </a:extLst>
          </p:cNvPr>
          <p:cNvSpPr/>
          <p:nvPr/>
        </p:nvSpPr>
        <p:spPr>
          <a:xfrm>
            <a:off x="502920" y="2304288"/>
            <a:ext cx="713232" cy="438912"/>
          </a:xfrm>
          <a:prstGeom prst="rect">
            <a:avLst/>
          </a:prstGeom>
          <a:solidFill>
            <a:srgbClr val="00C6BE"/>
          </a:solidFill>
          <a:ln w="12700">
            <a:solidFill>
              <a:srgbClr val="00C6BE"/>
            </a:solidFill>
            <a:prstDash val="solid"/>
          </a:ln>
        </p:spPr>
        <p:txBody>
          <a:bodyPr/>
          <a:lstStyle/>
          <a:p>
            <a:endParaRPr lang="en-GB"/>
          </a:p>
        </p:txBody>
      </p:sp>
      <p:sp>
        <p:nvSpPr>
          <p:cNvPr id="18" name="Text 12">
            <a:extLst>
              <a:ext uri="{FF2B5EF4-FFF2-40B4-BE49-F238E27FC236}">
                <a16:creationId xmlns:a16="http://schemas.microsoft.com/office/drawing/2014/main" id="{75C9940A-B14A-37FE-A0FC-4F7164804BA3}"/>
              </a:ext>
            </a:extLst>
          </p:cNvPr>
          <p:cNvSpPr/>
          <p:nvPr/>
        </p:nvSpPr>
        <p:spPr>
          <a:xfrm>
            <a:off x="502920" y="2304288"/>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3  PREDICT</a:t>
            </a:r>
            <a:endParaRPr lang="en-US" sz="1000" dirty="0"/>
          </a:p>
        </p:txBody>
      </p:sp>
      <p:sp>
        <p:nvSpPr>
          <p:cNvPr id="19" name="Text 13">
            <a:extLst>
              <a:ext uri="{FF2B5EF4-FFF2-40B4-BE49-F238E27FC236}">
                <a16:creationId xmlns:a16="http://schemas.microsoft.com/office/drawing/2014/main" id="{85F450D6-BB50-92CE-71BD-2A1632B70774}"/>
              </a:ext>
            </a:extLst>
          </p:cNvPr>
          <p:cNvSpPr/>
          <p:nvPr/>
        </p:nvSpPr>
        <p:spPr>
          <a:xfrm>
            <a:off x="1325880" y="2350008"/>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Run perturbed inputs through the model</a:t>
            </a:r>
            <a:endParaRPr lang="en-US" sz="1200" dirty="0"/>
          </a:p>
        </p:txBody>
      </p:sp>
      <p:sp>
        <p:nvSpPr>
          <p:cNvPr id="20" name="Shape 14">
            <a:extLst>
              <a:ext uri="{FF2B5EF4-FFF2-40B4-BE49-F238E27FC236}">
                <a16:creationId xmlns:a16="http://schemas.microsoft.com/office/drawing/2014/main" id="{B8B8DFE3-BE91-30BB-796D-D967BC49316B}"/>
              </a:ext>
            </a:extLst>
          </p:cNvPr>
          <p:cNvSpPr/>
          <p:nvPr/>
        </p:nvSpPr>
        <p:spPr>
          <a:xfrm>
            <a:off x="502920" y="2871216"/>
            <a:ext cx="713232" cy="438912"/>
          </a:xfrm>
          <a:prstGeom prst="rect">
            <a:avLst/>
          </a:prstGeom>
          <a:solidFill>
            <a:srgbClr val="00C6BE"/>
          </a:solidFill>
          <a:ln w="12700">
            <a:solidFill>
              <a:srgbClr val="00C6BE"/>
            </a:solidFill>
            <a:prstDash val="solid"/>
          </a:ln>
        </p:spPr>
        <p:txBody>
          <a:bodyPr/>
          <a:lstStyle/>
          <a:p>
            <a:endParaRPr lang="en-GB"/>
          </a:p>
        </p:txBody>
      </p:sp>
      <p:sp>
        <p:nvSpPr>
          <p:cNvPr id="21" name="Text 15">
            <a:extLst>
              <a:ext uri="{FF2B5EF4-FFF2-40B4-BE49-F238E27FC236}">
                <a16:creationId xmlns:a16="http://schemas.microsoft.com/office/drawing/2014/main" id="{36CD60B2-89FE-B0E2-0356-125F9069DF0F}"/>
              </a:ext>
            </a:extLst>
          </p:cNvPr>
          <p:cNvSpPr/>
          <p:nvPr/>
        </p:nvSpPr>
        <p:spPr>
          <a:xfrm>
            <a:off x="502920" y="2871216"/>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4  LEARN</a:t>
            </a:r>
            <a:endParaRPr lang="en-US" sz="1000" dirty="0"/>
          </a:p>
        </p:txBody>
      </p:sp>
      <p:sp>
        <p:nvSpPr>
          <p:cNvPr id="22" name="Text 16">
            <a:extLst>
              <a:ext uri="{FF2B5EF4-FFF2-40B4-BE49-F238E27FC236}">
                <a16:creationId xmlns:a16="http://schemas.microsoft.com/office/drawing/2014/main" id="{697CEE6C-EA90-7118-8931-5EA8CC6197A5}"/>
              </a:ext>
            </a:extLst>
          </p:cNvPr>
          <p:cNvSpPr/>
          <p:nvPr/>
        </p:nvSpPr>
        <p:spPr>
          <a:xfrm>
            <a:off x="1325880" y="2916936"/>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Fit a simple interpretable model locally</a:t>
            </a:r>
            <a:endParaRPr lang="en-US" sz="1200" dirty="0"/>
          </a:p>
        </p:txBody>
      </p:sp>
      <p:sp>
        <p:nvSpPr>
          <p:cNvPr id="23" name="Shape 17">
            <a:extLst>
              <a:ext uri="{FF2B5EF4-FFF2-40B4-BE49-F238E27FC236}">
                <a16:creationId xmlns:a16="http://schemas.microsoft.com/office/drawing/2014/main" id="{1D7211A1-6E30-C1A3-7580-7DD9E28C38E4}"/>
              </a:ext>
            </a:extLst>
          </p:cNvPr>
          <p:cNvSpPr/>
          <p:nvPr/>
        </p:nvSpPr>
        <p:spPr>
          <a:xfrm>
            <a:off x="502920" y="3438144"/>
            <a:ext cx="713232" cy="438912"/>
          </a:xfrm>
          <a:prstGeom prst="rect">
            <a:avLst/>
          </a:prstGeom>
          <a:solidFill>
            <a:srgbClr val="00C6BE"/>
          </a:solidFill>
          <a:ln w="12700">
            <a:solidFill>
              <a:srgbClr val="00C6BE"/>
            </a:solidFill>
            <a:prstDash val="solid"/>
          </a:ln>
        </p:spPr>
        <p:txBody>
          <a:bodyPr/>
          <a:lstStyle/>
          <a:p>
            <a:endParaRPr lang="en-GB"/>
          </a:p>
        </p:txBody>
      </p:sp>
      <p:sp>
        <p:nvSpPr>
          <p:cNvPr id="24" name="Text 18">
            <a:extLst>
              <a:ext uri="{FF2B5EF4-FFF2-40B4-BE49-F238E27FC236}">
                <a16:creationId xmlns:a16="http://schemas.microsoft.com/office/drawing/2014/main" id="{62DB2A42-BB66-1889-34C4-C185D8856F87}"/>
              </a:ext>
            </a:extLst>
          </p:cNvPr>
          <p:cNvSpPr/>
          <p:nvPr/>
        </p:nvSpPr>
        <p:spPr>
          <a:xfrm>
            <a:off x="502920" y="3438144"/>
            <a:ext cx="713232" cy="438912"/>
          </a:xfrm>
          <a:prstGeom prst="rect">
            <a:avLst/>
          </a:prstGeom>
          <a:noFill/>
          <a:ln/>
        </p:spPr>
        <p:txBody>
          <a:bodyPr wrap="square" rtlCol="0" anchor="ctr"/>
          <a:lstStyle/>
          <a:p>
            <a:pPr marL="0" indent="0" algn="ctr">
              <a:buNone/>
            </a:pPr>
            <a:r>
              <a:rPr lang="en-US" sz="1000" b="1" dirty="0">
                <a:solidFill>
                  <a:srgbClr val="0B1D35"/>
                </a:solidFill>
                <a:latin typeface="Calibri" pitchFamily="34" charset="0"/>
                <a:ea typeface="Calibri" pitchFamily="34" charset="-122"/>
                <a:cs typeface="Calibri" pitchFamily="34" charset="-120"/>
              </a:rPr>
              <a:t>5  VISUALISE</a:t>
            </a:r>
            <a:endParaRPr lang="en-US" sz="1000" dirty="0"/>
          </a:p>
        </p:txBody>
      </p:sp>
      <p:sp>
        <p:nvSpPr>
          <p:cNvPr id="25" name="Text 19">
            <a:extLst>
              <a:ext uri="{FF2B5EF4-FFF2-40B4-BE49-F238E27FC236}">
                <a16:creationId xmlns:a16="http://schemas.microsoft.com/office/drawing/2014/main" id="{F6A815F3-190D-EA06-B3E1-816F44862EF1}"/>
              </a:ext>
            </a:extLst>
          </p:cNvPr>
          <p:cNvSpPr/>
          <p:nvPr/>
        </p:nvSpPr>
        <p:spPr>
          <a:xfrm>
            <a:off x="1325880" y="3483864"/>
            <a:ext cx="292608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Show which superpixels drove the decision</a:t>
            </a:r>
            <a:endParaRPr lang="en-US" sz="1200" dirty="0"/>
          </a:p>
        </p:txBody>
      </p:sp>
    </p:spTree>
    <p:extLst>
      <p:ext uri="{BB962C8B-B14F-4D97-AF65-F5344CB8AC3E}">
        <p14:creationId xmlns:p14="http://schemas.microsoft.com/office/powerpoint/2010/main" val="229241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7CE583C0-2B47-9F5F-245F-77671578DC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EF1F391-BE99-F536-A988-B63F44F600E7}"/>
              </a:ext>
            </a:extLst>
          </p:cNvPr>
          <p:cNvSpPr/>
          <p:nvPr/>
        </p:nvSpPr>
        <p:spPr>
          <a:xfrm>
            <a:off x="0" y="0"/>
            <a:ext cx="9144000" cy="64008"/>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27D39057-4494-6772-0A32-F998D490E59E}"/>
              </a:ext>
            </a:extLst>
          </p:cNvPr>
          <p:cNvSpPr/>
          <p:nvPr/>
        </p:nvSpPr>
        <p:spPr>
          <a:xfrm>
            <a:off x="457200" y="164592"/>
            <a:ext cx="822960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Trebuchet MS" pitchFamily="34" charset="0"/>
                <a:ea typeface="+mn-ea"/>
                <a:cs typeface="+mn-cs"/>
              </a:rPr>
              <a:t>LIME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Action Button: Return 12">
            <a:hlinkClick r:id="rId3" action="ppaction://hlinksldjump" highlightClick="1">
              <a:snd r:embed="rId4" name="whoosh.wav"/>
            </a:hlinkClick>
            <a:extLst>
              <a:ext uri="{FF2B5EF4-FFF2-40B4-BE49-F238E27FC236}">
                <a16:creationId xmlns:a16="http://schemas.microsoft.com/office/drawing/2014/main" id="{F6A519FE-1FD1-EC16-4A6F-DCAF14722E05}"/>
              </a:ext>
            </a:extLst>
          </p:cNvPr>
          <p:cNvSpPr/>
          <p:nvPr/>
        </p:nvSpPr>
        <p:spPr>
          <a:xfrm>
            <a:off x="8686800" y="4412269"/>
            <a:ext cx="360000" cy="3600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Shape 2">
            <a:extLst>
              <a:ext uri="{FF2B5EF4-FFF2-40B4-BE49-F238E27FC236}">
                <a16:creationId xmlns:a16="http://schemas.microsoft.com/office/drawing/2014/main" id="{50040D4A-CC79-7F98-1CBF-6BFAD5CBACE5}"/>
              </a:ext>
            </a:extLst>
          </p:cNvPr>
          <p:cNvSpPr/>
          <p:nvPr/>
        </p:nvSpPr>
        <p:spPr>
          <a:xfrm>
            <a:off x="320040" y="841248"/>
            <a:ext cx="4114800" cy="3200400"/>
          </a:xfrm>
          <a:prstGeom prst="rect">
            <a:avLst/>
          </a:prstGeom>
          <a:solidFill>
            <a:srgbClr val="1E3A5F"/>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3">
            <a:extLst>
              <a:ext uri="{FF2B5EF4-FFF2-40B4-BE49-F238E27FC236}">
                <a16:creationId xmlns:a16="http://schemas.microsoft.com/office/drawing/2014/main" id="{13154CF2-ED6F-17D8-5854-E14CE2C7DB49}"/>
              </a:ext>
            </a:extLst>
          </p:cNvPr>
          <p:cNvSpPr/>
          <p:nvPr/>
        </p:nvSpPr>
        <p:spPr>
          <a:xfrm>
            <a:off x="320040" y="841248"/>
            <a:ext cx="54864" cy="3200400"/>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4">
            <a:extLst>
              <a:ext uri="{FF2B5EF4-FFF2-40B4-BE49-F238E27FC236}">
                <a16:creationId xmlns:a16="http://schemas.microsoft.com/office/drawing/2014/main" id="{24664D17-8F3A-D7B0-AB29-47E77AE2D1DA}"/>
              </a:ext>
            </a:extLst>
          </p:cNvPr>
          <p:cNvSpPr/>
          <p:nvPr/>
        </p:nvSpPr>
        <p:spPr>
          <a:xfrm>
            <a:off x="502920" y="886968"/>
            <a:ext cx="38404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C6BE"/>
                </a:solidFill>
                <a:effectLst/>
                <a:uLnTx/>
                <a:uFillTx/>
                <a:latin typeface="Calibri" pitchFamily="34" charset="0"/>
                <a:ea typeface="Calibri" pitchFamily="34" charset="-122"/>
                <a:cs typeface="Calibri" pitchFamily="34" charset="-120"/>
              </a:rPr>
              <a:t>HOW LIME WORKS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5">
            <a:extLst>
              <a:ext uri="{FF2B5EF4-FFF2-40B4-BE49-F238E27FC236}">
                <a16:creationId xmlns:a16="http://schemas.microsoft.com/office/drawing/2014/main" id="{6C77A277-11F0-0B33-272B-B82198F6246A}"/>
              </a:ext>
            </a:extLst>
          </p:cNvPr>
          <p:cNvSpPr/>
          <p:nvPr/>
        </p:nvSpPr>
        <p:spPr>
          <a:xfrm>
            <a:off x="502920" y="1170432"/>
            <a:ext cx="713232" cy="438912"/>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6">
            <a:extLst>
              <a:ext uri="{FF2B5EF4-FFF2-40B4-BE49-F238E27FC236}">
                <a16:creationId xmlns:a16="http://schemas.microsoft.com/office/drawing/2014/main" id="{915F9845-A972-9CAD-79E7-5ED55D97473A}"/>
              </a:ext>
            </a:extLst>
          </p:cNvPr>
          <p:cNvSpPr/>
          <p:nvPr/>
        </p:nvSpPr>
        <p:spPr>
          <a:xfrm>
            <a:off x="502920" y="1170432"/>
            <a:ext cx="71323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B1D35"/>
                </a:solidFill>
                <a:effectLst/>
                <a:uLnTx/>
                <a:uFillTx/>
                <a:latin typeface="Calibri" pitchFamily="34" charset="0"/>
                <a:ea typeface="Calibri" pitchFamily="34" charset="-122"/>
                <a:cs typeface="Calibri" pitchFamily="34" charset="-120"/>
              </a:rPr>
              <a:t>1  SELECT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7">
            <a:extLst>
              <a:ext uri="{FF2B5EF4-FFF2-40B4-BE49-F238E27FC236}">
                <a16:creationId xmlns:a16="http://schemas.microsoft.com/office/drawing/2014/main" id="{B4CBD819-D6E1-2FFA-EEE0-43D810B1BEA6}"/>
              </a:ext>
            </a:extLst>
          </p:cNvPr>
          <p:cNvSpPr/>
          <p:nvPr/>
        </p:nvSpPr>
        <p:spPr>
          <a:xfrm>
            <a:off x="1325880" y="1216152"/>
            <a:ext cx="29260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Choose a prediction to explain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8">
            <a:extLst>
              <a:ext uri="{FF2B5EF4-FFF2-40B4-BE49-F238E27FC236}">
                <a16:creationId xmlns:a16="http://schemas.microsoft.com/office/drawing/2014/main" id="{5289D0A3-FAED-5422-1B17-21B39B631B09}"/>
              </a:ext>
            </a:extLst>
          </p:cNvPr>
          <p:cNvSpPr/>
          <p:nvPr/>
        </p:nvSpPr>
        <p:spPr>
          <a:xfrm>
            <a:off x="502920" y="1737360"/>
            <a:ext cx="713232" cy="438912"/>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9">
            <a:extLst>
              <a:ext uri="{FF2B5EF4-FFF2-40B4-BE49-F238E27FC236}">
                <a16:creationId xmlns:a16="http://schemas.microsoft.com/office/drawing/2014/main" id="{858EB3AA-F679-78E6-2823-C7C89BDE8438}"/>
              </a:ext>
            </a:extLst>
          </p:cNvPr>
          <p:cNvSpPr/>
          <p:nvPr/>
        </p:nvSpPr>
        <p:spPr>
          <a:xfrm>
            <a:off x="502920" y="1737360"/>
            <a:ext cx="71323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B1D35"/>
                </a:solidFill>
                <a:effectLst/>
                <a:uLnTx/>
                <a:uFillTx/>
                <a:latin typeface="Calibri" pitchFamily="34" charset="0"/>
                <a:ea typeface="Calibri" pitchFamily="34" charset="-122"/>
                <a:cs typeface="Calibri" pitchFamily="34" charset="-120"/>
              </a:rPr>
              <a:t>2  PERTURB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0">
            <a:extLst>
              <a:ext uri="{FF2B5EF4-FFF2-40B4-BE49-F238E27FC236}">
                <a16:creationId xmlns:a16="http://schemas.microsoft.com/office/drawing/2014/main" id="{D78DCA9C-F525-9236-6C30-83BD86454B76}"/>
              </a:ext>
            </a:extLst>
          </p:cNvPr>
          <p:cNvSpPr/>
          <p:nvPr/>
        </p:nvSpPr>
        <p:spPr>
          <a:xfrm>
            <a:off x="1325880" y="1783080"/>
            <a:ext cx="29260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Create variations by masking image regions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1">
            <a:extLst>
              <a:ext uri="{FF2B5EF4-FFF2-40B4-BE49-F238E27FC236}">
                <a16:creationId xmlns:a16="http://schemas.microsoft.com/office/drawing/2014/main" id="{7F9A4505-F97A-9737-7763-07F0B40CF193}"/>
              </a:ext>
            </a:extLst>
          </p:cNvPr>
          <p:cNvSpPr/>
          <p:nvPr/>
        </p:nvSpPr>
        <p:spPr>
          <a:xfrm>
            <a:off x="502920" y="2304288"/>
            <a:ext cx="713232" cy="438912"/>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2">
            <a:extLst>
              <a:ext uri="{FF2B5EF4-FFF2-40B4-BE49-F238E27FC236}">
                <a16:creationId xmlns:a16="http://schemas.microsoft.com/office/drawing/2014/main" id="{052149C7-C24B-5449-177C-F9419BBB2FCE}"/>
              </a:ext>
            </a:extLst>
          </p:cNvPr>
          <p:cNvSpPr/>
          <p:nvPr/>
        </p:nvSpPr>
        <p:spPr>
          <a:xfrm>
            <a:off x="502920" y="2304288"/>
            <a:ext cx="71323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B1D35"/>
                </a:solidFill>
                <a:effectLst/>
                <a:uLnTx/>
                <a:uFillTx/>
                <a:latin typeface="Calibri" pitchFamily="34" charset="0"/>
                <a:ea typeface="Calibri" pitchFamily="34" charset="-122"/>
                <a:cs typeface="Calibri" pitchFamily="34" charset="-120"/>
              </a:rPr>
              <a:t>3  PREDICT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3">
            <a:extLst>
              <a:ext uri="{FF2B5EF4-FFF2-40B4-BE49-F238E27FC236}">
                <a16:creationId xmlns:a16="http://schemas.microsoft.com/office/drawing/2014/main" id="{6D3A103C-AE89-C060-7B40-D33A4F362BE3}"/>
              </a:ext>
            </a:extLst>
          </p:cNvPr>
          <p:cNvSpPr/>
          <p:nvPr/>
        </p:nvSpPr>
        <p:spPr>
          <a:xfrm>
            <a:off x="1325880" y="2350008"/>
            <a:ext cx="29260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Run perturbed inputs through the model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4">
            <a:extLst>
              <a:ext uri="{FF2B5EF4-FFF2-40B4-BE49-F238E27FC236}">
                <a16:creationId xmlns:a16="http://schemas.microsoft.com/office/drawing/2014/main" id="{AE894B5E-6D4A-96D8-23F6-C59D9CF13D8D}"/>
              </a:ext>
            </a:extLst>
          </p:cNvPr>
          <p:cNvSpPr/>
          <p:nvPr/>
        </p:nvSpPr>
        <p:spPr>
          <a:xfrm>
            <a:off x="502920" y="2871216"/>
            <a:ext cx="713232" cy="438912"/>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5">
            <a:extLst>
              <a:ext uri="{FF2B5EF4-FFF2-40B4-BE49-F238E27FC236}">
                <a16:creationId xmlns:a16="http://schemas.microsoft.com/office/drawing/2014/main" id="{146E3D17-618F-0235-A3B1-8CCA0B593F06}"/>
              </a:ext>
            </a:extLst>
          </p:cNvPr>
          <p:cNvSpPr/>
          <p:nvPr/>
        </p:nvSpPr>
        <p:spPr>
          <a:xfrm>
            <a:off x="502920" y="2871216"/>
            <a:ext cx="71323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B1D35"/>
                </a:solidFill>
                <a:effectLst/>
                <a:uLnTx/>
                <a:uFillTx/>
                <a:latin typeface="Calibri" pitchFamily="34" charset="0"/>
                <a:ea typeface="Calibri" pitchFamily="34" charset="-122"/>
                <a:cs typeface="Calibri" pitchFamily="34" charset="-120"/>
              </a:rPr>
              <a:t>4  LEARN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6">
            <a:extLst>
              <a:ext uri="{FF2B5EF4-FFF2-40B4-BE49-F238E27FC236}">
                <a16:creationId xmlns:a16="http://schemas.microsoft.com/office/drawing/2014/main" id="{C7AC55E1-62BE-3BBB-60F6-9E0C8EACEA8B}"/>
              </a:ext>
            </a:extLst>
          </p:cNvPr>
          <p:cNvSpPr/>
          <p:nvPr/>
        </p:nvSpPr>
        <p:spPr>
          <a:xfrm>
            <a:off x="1325880" y="2916936"/>
            <a:ext cx="29260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Fit a simple interpretable model locally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17">
            <a:extLst>
              <a:ext uri="{FF2B5EF4-FFF2-40B4-BE49-F238E27FC236}">
                <a16:creationId xmlns:a16="http://schemas.microsoft.com/office/drawing/2014/main" id="{F986D621-5D22-2F8E-07FB-C93AA38BAD33}"/>
              </a:ext>
            </a:extLst>
          </p:cNvPr>
          <p:cNvSpPr/>
          <p:nvPr/>
        </p:nvSpPr>
        <p:spPr>
          <a:xfrm>
            <a:off x="502920" y="3438144"/>
            <a:ext cx="713232" cy="438912"/>
          </a:xfrm>
          <a:prstGeom prst="rect">
            <a:avLst/>
          </a:prstGeom>
          <a:solidFill>
            <a:srgbClr val="00C6BE"/>
          </a:solidFill>
          <a:ln w="12700">
            <a:solidFill>
              <a:srgbClr val="00C6B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18">
            <a:extLst>
              <a:ext uri="{FF2B5EF4-FFF2-40B4-BE49-F238E27FC236}">
                <a16:creationId xmlns:a16="http://schemas.microsoft.com/office/drawing/2014/main" id="{4882E3E9-8C81-093A-FE3A-1FC259BA4DD3}"/>
              </a:ext>
            </a:extLst>
          </p:cNvPr>
          <p:cNvSpPr/>
          <p:nvPr/>
        </p:nvSpPr>
        <p:spPr>
          <a:xfrm>
            <a:off x="502920" y="3438144"/>
            <a:ext cx="713232" cy="4389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B1D35"/>
                </a:solidFill>
                <a:effectLst/>
                <a:uLnTx/>
                <a:uFillTx/>
                <a:latin typeface="Calibri" pitchFamily="34" charset="0"/>
                <a:ea typeface="Calibri" pitchFamily="34" charset="-122"/>
                <a:cs typeface="Calibri" pitchFamily="34" charset="-120"/>
              </a:rPr>
              <a:t>5  VISUALISE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9">
            <a:extLst>
              <a:ext uri="{FF2B5EF4-FFF2-40B4-BE49-F238E27FC236}">
                <a16:creationId xmlns:a16="http://schemas.microsoft.com/office/drawing/2014/main" id="{D39C2BEF-0871-31A6-4A3B-BC409194869D}"/>
              </a:ext>
            </a:extLst>
          </p:cNvPr>
          <p:cNvSpPr/>
          <p:nvPr/>
        </p:nvSpPr>
        <p:spPr>
          <a:xfrm>
            <a:off x="1325880" y="3483864"/>
            <a:ext cx="29260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Show which superpixels drove the decision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Picture 26" descr="The image displays a brain MRI scan with a lime explanation overlay, highlighting important regions for meningioma diagnosis, including a marked boundary.&#10;&#10;AI-generated content may be incorrect.">
            <a:extLst>
              <a:ext uri="{FF2B5EF4-FFF2-40B4-BE49-F238E27FC236}">
                <a16:creationId xmlns:a16="http://schemas.microsoft.com/office/drawing/2014/main" id="{0503A284-E950-F62E-1131-24112DDC8CEB}"/>
              </a:ext>
            </a:extLst>
          </p:cNvPr>
          <p:cNvPicPr>
            <a:picLocks noChangeAspect="1"/>
          </p:cNvPicPr>
          <p:nvPr/>
        </p:nvPicPr>
        <p:blipFill>
          <a:blip r:embed="rId5"/>
          <a:stretch>
            <a:fillRect/>
          </a:stretch>
        </p:blipFill>
        <p:spPr>
          <a:xfrm>
            <a:off x="5316804" y="637623"/>
            <a:ext cx="3144766" cy="1943442"/>
          </a:xfrm>
          <a:prstGeom prst="rect">
            <a:avLst/>
          </a:prstGeom>
        </p:spPr>
      </p:pic>
      <p:pic>
        <p:nvPicPr>
          <p:cNvPr id="5" name="Picture 4" descr="The image shows a high confidence level (99.69%) for a diagnosis of meningioma, with a low probability (0.2%) for pituitary and glioma, and negligible probabilities for other conditions.&#10;&#10;AI-generated content may be incorrect.">
            <a:extLst>
              <a:ext uri="{FF2B5EF4-FFF2-40B4-BE49-F238E27FC236}">
                <a16:creationId xmlns:a16="http://schemas.microsoft.com/office/drawing/2014/main" id="{6C9BC111-ED65-23C9-8C7E-A35B464ED955}"/>
              </a:ext>
            </a:extLst>
          </p:cNvPr>
          <p:cNvPicPr>
            <a:picLocks noChangeAspect="1"/>
          </p:cNvPicPr>
          <p:nvPr/>
        </p:nvPicPr>
        <p:blipFill>
          <a:blip r:embed="rId6"/>
          <a:stretch>
            <a:fillRect/>
          </a:stretch>
        </p:blipFill>
        <p:spPr>
          <a:xfrm>
            <a:off x="5316804" y="2743200"/>
            <a:ext cx="3144766" cy="1556356"/>
          </a:xfrm>
          <a:prstGeom prst="rect">
            <a:avLst/>
          </a:prstGeom>
        </p:spPr>
      </p:pic>
    </p:spTree>
    <p:extLst>
      <p:ext uri="{BB962C8B-B14F-4D97-AF65-F5344CB8AC3E}">
        <p14:creationId xmlns:p14="http://schemas.microsoft.com/office/powerpoint/2010/main" val="3380808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11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6BE"/>
          </a:solidFill>
          <a:ln w="12700">
            <a:solidFill>
              <a:srgbClr val="00C6BE"/>
            </a:solidFill>
            <a:prstDash val="solid"/>
          </a:ln>
        </p:spPr>
        <p:txBody>
          <a:bodyPr/>
          <a:lstStyle/>
          <a:p>
            <a:endParaRPr lang="en-GB"/>
          </a:p>
        </p:txBody>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700" b="1" dirty="0">
                <a:solidFill>
                  <a:srgbClr val="FFFFFF"/>
                </a:solidFill>
                <a:latin typeface="Trebuchet MS" pitchFamily="34" charset="0"/>
                <a:ea typeface="Trebuchet MS" pitchFamily="34" charset="-122"/>
                <a:cs typeface="Trebuchet MS" pitchFamily="34" charset="-120"/>
              </a:rPr>
              <a:t>Conclusions &amp; Future Directions</a:t>
            </a:r>
            <a:endParaRPr lang="en-US" sz="2700" dirty="0"/>
          </a:p>
        </p:txBody>
      </p:sp>
      <p:sp>
        <p:nvSpPr>
          <p:cNvPr id="4" name="Shape 2"/>
          <p:cNvSpPr/>
          <p:nvPr/>
        </p:nvSpPr>
        <p:spPr>
          <a:xfrm>
            <a:off x="274320" y="1173401"/>
            <a:ext cx="2834640" cy="2971800"/>
          </a:xfrm>
          <a:prstGeom prst="rect">
            <a:avLst/>
          </a:prstGeom>
          <a:solidFill>
            <a:srgbClr val="1E3A5F"/>
          </a:solidFill>
          <a:ln w="12700">
            <a:solidFill>
              <a:srgbClr val="00C6BE"/>
            </a:solidFill>
            <a:prstDash val="solid"/>
          </a:ln>
        </p:spPr>
        <p:txBody>
          <a:bodyPr/>
          <a:lstStyle/>
          <a:p>
            <a:endParaRPr lang="en-GB"/>
          </a:p>
        </p:txBody>
      </p:sp>
      <p:sp>
        <p:nvSpPr>
          <p:cNvPr id="5" name="Shape 3"/>
          <p:cNvSpPr/>
          <p:nvPr/>
        </p:nvSpPr>
        <p:spPr>
          <a:xfrm>
            <a:off x="274320" y="1173401"/>
            <a:ext cx="2834640" cy="347472"/>
          </a:xfrm>
          <a:prstGeom prst="rect">
            <a:avLst/>
          </a:prstGeom>
          <a:solidFill>
            <a:srgbClr val="00C6BE"/>
          </a:solidFill>
          <a:ln w="12700">
            <a:solidFill>
              <a:srgbClr val="00C6BE"/>
            </a:solidFill>
            <a:prstDash val="solid"/>
          </a:ln>
        </p:spPr>
        <p:txBody>
          <a:bodyPr/>
          <a:lstStyle/>
          <a:p>
            <a:endParaRPr lang="en-GB"/>
          </a:p>
        </p:txBody>
      </p:sp>
      <p:sp>
        <p:nvSpPr>
          <p:cNvPr id="6" name="Text 4"/>
          <p:cNvSpPr/>
          <p:nvPr/>
        </p:nvSpPr>
        <p:spPr>
          <a:xfrm>
            <a:off x="365760" y="1173401"/>
            <a:ext cx="2651760" cy="347472"/>
          </a:xfrm>
          <a:prstGeom prst="rect">
            <a:avLst/>
          </a:prstGeom>
          <a:noFill/>
          <a:ln/>
        </p:spPr>
        <p:txBody>
          <a:bodyPr wrap="square" rtlCol="0" anchor="ctr"/>
          <a:lstStyle/>
          <a:p>
            <a:pPr marL="0" indent="0">
              <a:buNone/>
            </a:pPr>
            <a:r>
              <a:rPr lang="en-US" sz="1200" b="1" dirty="0">
                <a:solidFill>
                  <a:srgbClr val="0B1D35"/>
                </a:solidFill>
                <a:latin typeface="Calibri" pitchFamily="34" charset="0"/>
                <a:ea typeface="Calibri" pitchFamily="34" charset="-122"/>
                <a:cs typeface="Calibri" pitchFamily="34" charset="-120"/>
              </a:rPr>
              <a:t>PART 1 · Classical ML</a:t>
            </a:r>
            <a:endParaRPr lang="en-US" sz="1200" dirty="0"/>
          </a:p>
        </p:txBody>
      </p:sp>
      <p:sp>
        <p:nvSpPr>
          <p:cNvPr id="7" name="Text 5"/>
          <p:cNvSpPr/>
          <p:nvPr/>
        </p:nvSpPr>
        <p:spPr>
          <a:xfrm>
            <a:off x="274320" y="1594025"/>
            <a:ext cx="2834640" cy="475488"/>
          </a:xfrm>
          <a:prstGeom prst="rect">
            <a:avLst/>
          </a:prstGeom>
          <a:noFill/>
          <a:ln/>
        </p:spPr>
        <p:txBody>
          <a:bodyPr wrap="square" rtlCol="0" anchor="ctr"/>
          <a:lstStyle/>
          <a:p>
            <a:pPr marL="0" indent="0" algn="ctr">
              <a:buNone/>
            </a:pPr>
            <a:r>
              <a:rPr lang="en-US" sz="2800" b="1" dirty="0">
                <a:solidFill>
                  <a:srgbClr val="00C6BE"/>
                </a:solidFill>
                <a:latin typeface="Trebuchet MS" pitchFamily="34" charset="0"/>
                <a:ea typeface="Trebuchet MS" pitchFamily="34" charset="-122"/>
                <a:cs typeface="Trebuchet MS" pitchFamily="34" charset="-120"/>
              </a:rPr>
              <a:t>90.56%</a:t>
            </a:r>
            <a:endParaRPr lang="en-US" sz="2800" dirty="0"/>
          </a:p>
        </p:txBody>
      </p:sp>
      <p:sp>
        <p:nvSpPr>
          <p:cNvPr id="8" name="Text 6"/>
          <p:cNvSpPr/>
          <p:nvPr/>
        </p:nvSpPr>
        <p:spPr>
          <a:xfrm>
            <a:off x="384048" y="2142665"/>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HOG + GLCM = strong feature set</a:t>
            </a:r>
            <a:endParaRPr lang="en-US" sz="1100" dirty="0"/>
          </a:p>
        </p:txBody>
      </p:sp>
      <p:sp>
        <p:nvSpPr>
          <p:cNvPr id="9" name="Text 7"/>
          <p:cNvSpPr/>
          <p:nvPr/>
        </p:nvSpPr>
        <p:spPr>
          <a:xfrm>
            <a:off x="384048" y="2572433"/>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SVM excels in high-dimensional space</a:t>
            </a:r>
            <a:endParaRPr lang="en-US" sz="1100" dirty="0"/>
          </a:p>
        </p:txBody>
      </p:sp>
      <p:sp>
        <p:nvSpPr>
          <p:cNvPr id="10" name="Text 8"/>
          <p:cNvSpPr/>
          <p:nvPr/>
        </p:nvSpPr>
        <p:spPr>
          <a:xfrm>
            <a:off x="384048" y="3002201"/>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Highly interpretable, fast baseline</a:t>
            </a:r>
            <a:endParaRPr lang="en-US" sz="1100" dirty="0"/>
          </a:p>
        </p:txBody>
      </p:sp>
      <p:sp>
        <p:nvSpPr>
          <p:cNvPr id="11" name="Text 9"/>
          <p:cNvSpPr/>
          <p:nvPr/>
        </p:nvSpPr>
        <p:spPr>
          <a:xfrm>
            <a:off x="384048" y="3431969"/>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Bottleneck: manual feature engineering</a:t>
            </a:r>
            <a:endParaRPr lang="en-US" sz="1100" dirty="0"/>
          </a:p>
        </p:txBody>
      </p:sp>
      <p:sp>
        <p:nvSpPr>
          <p:cNvPr id="12" name="Shape 10"/>
          <p:cNvSpPr/>
          <p:nvPr/>
        </p:nvSpPr>
        <p:spPr>
          <a:xfrm>
            <a:off x="3246120" y="1173401"/>
            <a:ext cx="2834640" cy="2971800"/>
          </a:xfrm>
          <a:prstGeom prst="rect">
            <a:avLst/>
          </a:prstGeom>
          <a:solidFill>
            <a:srgbClr val="1E3A5F"/>
          </a:solidFill>
          <a:ln w="12700">
            <a:solidFill>
              <a:srgbClr val="00C6BE"/>
            </a:solidFill>
            <a:prstDash val="solid"/>
          </a:ln>
        </p:spPr>
        <p:txBody>
          <a:bodyPr/>
          <a:lstStyle/>
          <a:p>
            <a:endParaRPr lang="en-GB"/>
          </a:p>
        </p:txBody>
      </p:sp>
      <p:sp>
        <p:nvSpPr>
          <p:cNvPr id="13" name="Shape 11"/>
          <p:cNvSpPr/>
          <p:nvPr/>
        </p:nvSpPr>
        <p:spPr>
          <a:xfrm>
            <a:off x="3246120" y="1173401"/>
            <a:ext cx="2834640" cy="347472"/>
          </a:xfrm>
          <a:prstGeom prst="rect">
            <a:avLst/>
          </a:prstGeom>
          <a:solidFill>
            <a:srgbClr val="FACC15"/>
          </a:solidFill>
          <a:ln w="12700">
            <a:solidFill>
              <a:srgbClr val="FACC15"/>
            </a:solidFill>
            <a:prstDash val="solid"/>
          </a:ln>
        </p:spPr>
        <p:txBody>
          <a:bodyPr/>
          <a:lstStyle/>
          <a:p>
            <a:endParaRPr lang="en-GB"/>
          </a:p>
        </p:txBody>
      </p:sp>
      <p:sp>
        <p:nvSpPr>
          <p:cNvPr id="14" name="Text 12"/>
          <p:cNvSpPr/>
          <p:nvPr/>
        </p:nvSpPr>
        <p:spPr>
          <a:xfrm>
            <a:off x="3337560" y="1173401"/>
            <a:ext cx="2651760" cy="347472"/>
          </a:xfrm>
          <a:prstGeom prst="rect">
            <a:avLst/>
          </a:prstGeom>
          <a:noFill/>
          <a:ln/>
        </p:spPr>
        <p:txBody>
          <a:bodyPr wrap="square" rtlCol="0" anchor="ctr"/>
          <a:lstStyle/>
          <a:p>
            <a:pPr marL="0" indent="0">
              <a:buNone/>
            </a:pPr>
            <a:r>
              <a:rPr lang="en-US" sz="1200" b="1" dirty="0">
                <a:solidFill>
                  <a:srgbClr val="0B1D35"/>
                </a:solidFill>
                <a:latin typeface="Calibri" pitchFamily="34" charset="0"/>
                <a:ea typeface="Calibri" pitchFamily="34" charset="-122"/>
                <a:cs typeface="Calibri" pitchFamily="34" charset="-120"/>
              </a:rPr>
              <a:t>PART 2 · CNN + Grad-CAM</a:t>
            </a:r>
            <a:endParaRPr lang="en-US" sz="1200" dirty="0"/>
          </a:p>
        </p:txBody>
      </p:sp>
      <p:sp>
        <p:nvSpPr>
          <p:cNvPr id="15" name="Text 13"/>
          <p:cNvSpPr/>
          <p:nvPr/>
        </p:nvSpPr>
        <p:spPr>
          <a:xfrm>
            <a:off x="3246120" y="1594025"/>
            <a:ext cx="2834640" cy="475488"/>
          </a:xfrm>
          <a:prstGeom prst="rect">
            <a:avLst/>
          </a:prstGeom>
          <a:noFill/>
          <a:ln/>
        </p:spPr>
        <p:txBody>
          <a:bodyPr wrap="square" rtlCol="0" anchor="ctr"/>
          <a:lstStyle/>
          <a:p>
            <a:pPr marL="0" indent="0" algn="ctr">
              <a:buNone/>
            </a:pPr>
            <a:r>
              <a:rPr lang="en-US" sz="2800" b="1" dirty="0">
                <a:solidFill>
                  <a:srgbClr val="FACC15"/>
                </a:solidFill>
                <a:latin typeface="Trebuchet MS" pitchFamily="34" charset="0"/>
                <a:ea typeface="Trebuchet MS" pitchFamily="34" charset="-122"/>
                <a:cs typeface="Trebuchet MS" pitchFamily="34" charset="-120"/>
              </a:rPr>
              <a:t>81.87%</a:t>
            </a:r>
            <a:endParaRPr lang="en-US" sz="2800" dirty="0"/>
          </a:p>
        </p:txBody>
      </p:sp>
      <p:sp>
        <p:nvSpPr>
          <p:cNvPr id="16" name="Text 14"/>
          <p:cNvSpPr/>
          <p:nvPr/>
        </p:nvSpPr>
        <p:spPr>
          <a:xfrm>
            <a:off x="3355848" y="2142665"/>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Automatic feature discovery</a:t>
            </a:r>
            <a:endParaRPr lang="en-US" sz="1100" dirty="0"/>
          </a:p>
        </p:txBody>
      </p:sp>
      <p:sp>
        <p:nvSpPr>
          <p:cNvPr id="17" name="Text 15"/>
          <p:cNvSpPr/>
          <p:nvPr/>
        </p:nvSpPr>
        <p:spPr>
          <a:xfrm>
            <a:off x="3355848" y="2572433"/>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Grad-CAM reveals decision regions</a:t>
            </a:r>
            <a:endParaRPr lang="en-US" sz="1100" dirty="0"/>
          </a:p>
        </p:txBody>
      </p:sp>
      <p:sp>
        <p:nvSpPr>
          <p:cNvPr id="18" name="Text 16"/>
          <p:cNvSpPr/>
          <p:nvPr/>
        </p:nvSpPr>
        <p:spPr>
          <a:xfrm>
            <a:off x="3355848" y="3002201"/>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Needs more data to compete</a:t>
            </a:r>
            <a:endParaRPr lang="en-US" sz="1100" dirty="0"/>
          </a:p>
        </p:txBody>
      </p:sp>
      <p:sp>
        <p:nvSpPr>
          <p:cNvPr id="19" name="Text 17"/>
          <p:cNvSpPr/>
          <p:nvPr/>
        </p:nvSpPr>
        <p:spPr>
          <a:xfrm>
            <a:off x="3355848" y="3431969"/>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Strong foundation for transfer learning</a:t>
            </a:r>
            <a:endParaRPr lang="en-US" sz="1100" dirty="0"/>
          </a:p>
        </p:txBody>
      </p:sp>
      <p:sp>
        <p:nvSpPr>
          <p:cNvPr id="20" name="Shape 18"/>
          <p:cNvSpPr/>
          <p:nvPr/>
        </p:nvSpPr>
        <p:spPr>
          <a:xfrm>
            <a:off x="6217920" y="1173401"/>
            <a:ext cx="2834640" cy="2971800"/>
          </a:xfrm>
          <a:prstGeom prst="rect">
            <a:avLst/>
          </a:prstGeom>
          <a:solidFill>
            <a:srgbClr val="1E3A5F"/>
          </a:solidFill>
          <a:ln w="12700">
            <a:solidFill>
              <a:srgbClr val="00C6BE"/>
            </a:solidFill>
            <a:prstDash val="solid"/>
          </a:ln>
        </p:spPr>
        <p:txBody>
          <a:bodyPr/>
          <a:lstStyle/>
          <a:p>
            <a:endParaRPr lang="en-GB"/>
          </a:p>
        </p:txBody>
      </p:sp>
      <p:sp>
        <p:nvSpPr>
          <p:cNvPr id="21" name="Shape 19"/>
          <p:cNvSpPr/>
          <p:nvPr/>
        </p:nvSpPr>
        <p:spPr>
          <a:xfrm>
            <a:off x="6217920" y="1173401"/>
            <a:ext cx="2834640" cy="347472"/>
          </a:xfrm>
          <a:prstGeom prst="rect">
            <a:avLst/>
          </a:prstGeom>
          <a:solidFill>
            <a:srgbClr val="22C55E"/>
          </a:solidFill>
          <a:ln w="12700">
            <a:solidFill>
              <a:srgbClr val="22C55E"/>
            </a:solidFill>
            <a:prstDash val="solid"/>
          </a:ln>
        </p:spPr>
        <p:txBody>
          <a:bodyPr/>
          <a:lstStyle/>
          <a:p>
            <a:endParaRPr lang="en-GB"/>
          </a:p>
        </p:txBody>
      </p:sp>
      <p:sp>
        <p:nvSpPr>
          <p:cNvPr id="22" name="Text 20"/>
          <p:cNvSpPr/>
          <p:nvPr/>
        </p:nvSpPr>
        <p:spPr>
          <a:xfrm>
            <a:off x="6309360" y="1173401"/>
            <a:ext cx="2651760" cy="347472"/>
          </a:xfrm>
          <a:prstGeom prst="rect">
            <a:avLst/>
          </a:prstGeom>
          <a:noFill/>
          <a:ln/>
        </p:spPr>
        <p:txBody>
          <a:bodyPr wrap="square" rtlCol="0" anchor="ctr"/>
          <a:lstStyle/>
          <a:p>
            <a:pPr marL="0" indent="0">
              <a:buNone/>
            </a:pPr>
            <a:r>
              <a:rPr lang="en-US" sz="1200" b="1" dirty="0">
                <a:solidFill>
                  <a:srgbClr val="0B1D35"/>
                </a:solidFill>
                <a:latin typeface="Calibri" pitchFamily="34" charset="0"/>
                <a:ea typeface="Calibri" pitchFamily="34" charset="-122"/>
                <a:cs typeface="Calibri" pitchFamily="34" charset="-120"/>
              </a:rPr>
              <a:t>PART 3 · ResNet50 + LIME</a:t>
            </a:r>
            <a:endParaRPr lang="en-US" sz="1200" dirty="0"/>
          </a:p>
        </p:txBody>
      </p:sp>
      <p:sp>
        <p:nvSpPr>
          <p:cNvPr id="23" name="Text 21"/>
          <p:cNvSpPr/>
          <p:nvPr/>
        </p:nvSpPr>
        <p:spPr>
          <a:xfrm>
            <a:off x="6217920" y="1594025"/>
            <a:ext cx="2834640" cy="475488"/>
          </a:xfrm>
          <a:prstGeom prst="rect">
            <a:avLst/>
          </a:prstGeom>
          <a:noFill/>
          <a:ln/>
        </p:spPr>
        <p:txBody>
          <a:bodyPr wrap="square" rtlCol="0" anchor="ctr"/>
          <a:lstStyle/>
          <a:p>
            <a:pPr marL="0" indent="0" algn="ctr">
              <a:buNone/>
            </a:pPr>
            <a:r>
              <a:rPr lang="en-US" sz="2800" b="1" dirty="0">
                <a:solidFill>
                  <a:srgbClr val="22C55E"/>
                </a:solidFill>
                <a:latin typeface="Trebuchet MS" pitchFamily="34" charset="0"/>
                <a:ea typeface="Trebuchet MS" pitchFamily="34" charset="-122"/>
                <a:cs typeface="Trebuchet MS" pitchFamily="34" charset="-120"/>
              </a:rPr>
              <a:t>89.81%</a:t>
            </a:r>
            <a:endParaRPr lang="en-US" sz="2800" dirty="0"/>
          </a:p>
        </p:txBody>
      </p:sp>
      <p:sp>
        <p:nvSpPr>
          <p:cNvPr id="24" name="Text 22"/>
          <p:cNvSpPr/>
          <p:nvPr/>
        </p:nvSpPr>
        <p:spPr>
          <a:xfrm>
            <a:off x="6327648" y="2142665"/>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Best overall approach</a:t>
            </a:r>
            <a:endParaRPr lang="en-US" sz="1100" dirty="0"/>
          </a:p>
        </p:txBody>
      </p:sp>
      <p:sp>
        <p:nvSpPr>
          <p:cNvPr id="25" name="Text 23"/>
          <p:cNvSpPr/>
          <p:nvPr/>
        </p:nvSpPr>
        <p:spPr>
          <a:xfrm>
            <a:off x="6327648" y="2572433"/>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ImageNet knowledge transfers to MRI</a:t>
            </a:r>
            <a:endParaRPr lang="en-US" sz="1100" dirty="0"/>
          </a:p>
        </p:txBody>
      </p:sp>
      <p:sp>
        <p:nvSpPr>
          <p:cNvPr id="26" name="Text 24"/>
          <p:cNvSpPr/>
          <p:nvPr/>
        </p:nvSpPr>
        <p:spPr>
          <a:xfrm>
            <a:off x="6327648" y="3002201"/>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LIME provides model-agnostic explanations</a:t>
            </a:r>
            <a:endParaRPr lang="en-US" sz="1100" dirty="0"/>
          </a:p>
        </p:txBody>
      </p:sp>
      <p:sp>
        <p:nvSpPr>
          <p:cNvPr id="27" name="Text 25"/>
          <p:cNvSpPr/>
          <p:nvPr/>
        </p:nvSpPr>
        <p:spPr>
          <a:xfrm>
            <a:off x="6327648" y="3431969"/>
            <a:ext cx="2606040" cy="402336"/>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Ready for clinical deployment pathway</a:t>
            </a:r>
            <a:endParaRPr lang="en-US" sz="1100" dirty="0"/>
          </a:p>
        </p:txBody>
      </p:sp>
      <p:graphicFrame>
        <p:nvGraphicFramePr>
          <p:cNvPr id="28" name="Object 27">
            <a:extLst>
              <a:ext uri="{FF2B5EF4-FFF2-40B4-BE49-F238E27FC236}">
                <a16:creationId xmlns:a16="http://schemas.microsoft.com/office/drawing/2014/main" id="{6C393078-4EEF-8C63-1FFA-1BDB26E1EC0E}"/>
              </a:ext>
            </a:extLst>
          </p:cNvPr>
          <p:cNvGraphicFramePr>
            <a:graphicFrameLocks noChangeAspect="1"/>
          </p:cNvGraphicFramePr>
          <p:nvPr>
            <p:extLst>
              <p:ext uri="{D42A27DB-BD31-4B8C-83A1-F6EECF244321}">
                <p14:modId xmlns:p14="http://schemas.microsoft.com/office/powerpoint/2010/main" val="2983286867"/>
              </p:ext>
            </p:extLst>
          </p:nvPr>
        </p:nvGraphicFramePr>
        <p:xfrm>
          <a:off x="1990253" y="1168476"/>
          <a:ext cx="620901" cy="530352"/>
        </p:xfrm>
        <a:graphic>
          <a:graphicData uri="http://schemas.openxmlformats.org/presentationml/2006/ole">
            <mc:AlternateContent xmlns:mc="http://schemas.openxmlformats.org/markup-compatibility/2006">
              <mc:Choice xmlns:v="urn:schemas-microsoft-com:vml" Requires="v">
                <p:oleObj name="Document" showAsIcon="1" r:id="rId3" imgW="914249" imgH="781050" progId="Word.Document.12">
                  <p:embed/>
                </p:oleObj>
              </mc:Choice>
              <mc:Fallback>
                <p:oleObj name="Document" showAsIcon="1" r:id="rId3" imgW="914249" imgH="781050" progId="Word.Document.12">
                  <p:embed/>
                  <p:pic>
                    <p:nvPicPr>
                      <p:cNvPr id="16" name="Object 15">
                        <a:extLst>
                          <a:ext uri="{FF2B5EF4-FFF2-40B4-BE49-F238E27FC236}">
                            <a16:creationId xmlns:a16="http://schemas.microsoft.com/office/drawing/2014/main" id="{6C393078-4EEF-8C63-1FFA-1BDB26E1EC0E}"/>
                          </a:ext>
                        </a:extLst>
                      </p:cNvPr>
                      <p:cNvPicPr/>
                      <p:nvPr/>
                    </p:nvPicPr>
                    <p:blipFill>
                      <a:blip r:embed="rId4"/>
                      <a:stretch>
                        <a:fillRect/>
                      </a:stretch>
                    </p:blipFill>
                    <p:spPr>
                      <a:xfrm>
                        <a:off x="1990253" y="1168476"/>
                        <a:ext cx="620901" cy="530352"/>
                      </a:xfrm>
                      <a:prstGeom prst="rect">
                        <a:avLst/>
                      </a:prstGeom>
                      <a:noFill/>
                    </p:spPr>
                  </p:pic>
                </p:oleObj>
              </mc:Fallback>
            </mc:AlternateContent>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3781</Words>
  <Application>Microsoft Office PowerPoint</Application>
  <PresentationFormat>On-screen Show (16:9)</PresentationFormat>
  <Paragraphs>432</Paragraphs>
  <Slides>24</Slides>
  <Notes>24</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24</vt:i4>
      </vt:variant>
    </vt:vector>
  </HeadingPairs>
  <TitlesOfParts>
    <vt:vector size="33" baseType="lpstr">
      <vt:lpstr>Aptos</vt:lpstr>
      <vt:lpstr>Arial</vt:lpstr>
      <vt:lpstr>Calibri</vt:lpstr>
      <vt:lpstr>Consolas</vt:lpstr>
      <vt:lpstr>Georgia</vt:lpstr>
      <vt:lpstr>Trebuchet MS</vt:lpstr>
      <vt:lpstr>Office Theme</vt:lpstr>
      <vt:lpstr>1_Office Theme</vt:lpstr>
      <vt:lpstr>Microsoft Word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 Tumor MRI Classification</dc:title>
  <dc:subject>PptxGenJS Presentation</dc:subject>
  <dc:creator>Kodanda Challa</dc:creator>
  <cp:lastModifiedBy>Kodanda Challa</cp:lastModifiedBy>
  <cp:revision>35</cp:revision>
  <dcterms:created xsi:type="dcterms:W3CDTF">2026-05-31T10:42:12Z</dcterms:created>
  <dcterms:modified xsi:type="dcterms:W3CDTF">2026-06-02T18:51:16Z</dcterms:modified>
</cp:coreProperties>
</file>